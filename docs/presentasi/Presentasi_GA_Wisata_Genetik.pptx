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media/image10.svg" ContentType="image/svg+xml"/>
  <Override PartName="/ppt/media/image15.svg" ContentType="image/svg+xml"/>
  <Override PartName="/ppt/media/image2.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1" r:id="rId15"/>
    <p:sldId id="262" r:id="rId16"/>
    <p:sldId id="263" r:id="rId17"/>
    <p:sldId id="264" r:id="rId18"/>
    <p:sldId id="265" r:id="rId19"/>
    <p:sldId id="266" r:id="rId20"/>
    <p:sldId id="267" r:id="rId21"/>
    <p:sldId id="268" r:id="rId22"/>
    <p:sldId id="269" r:id="rId23"/>
    <p:sldId id="260" r:id="rId10"/>
  </p:sldIdLst>
  <p:sldSz cx="18288000" cy="10287000"/>
  <p:notesSz cx="6858000" cy="9144000"/>
  <p:embeddedFontLst>
    <p:embeddedFont>
      <p:font typeface="Arimo" charset="1" panose="020B0604020202020204"/>
      <p:regular r:id="rId11"/>
    </p:embeddedFont>
    <p:embeddedFont>
      <p:font typeface="Arimo Bold" charset="1" panose="020B0704020202020204"/>
      <p:regular r:id="rId12"/>
    </p:embeddedFont>
    <p:embeddedFont>
      <p:font typeface="Proxima Nova Bold" charset="1" panose="02000506030000020004"/>
      <p:regular r:id="rId13"/>
    </p:embeddedFont>
    <p:embeddedFont>
      <p:font typeface="Arimo Italics" charset="1" panose="020B0604020202090204"/>
      <p:regular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14.xml"/><Relationship Id="rId11" Type="http://schemas.openxmlformats.org/officeDocument/2006/relationships/font" Target="fonts/font11.fntdata"/><Relationship Id="rId12" Type="http://schemas.openxmlformats.org/officeDocument/2006/relationships/font" Target="fonts/font12.fntdata"/><Relationship Id="rId13" Type="http://schemas.openxmlformats.org/officeDocument/2006/relationships/font" Target="fonts/font13.fntdata"/><Relationship Id="rId14" Type="http://schemas.openxmlformats.org/officeDocument/2006/relationships/font" Target="fonts/font14.fntdata"/><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800" b="1" i="0">
                <a:solidFill>
                  <a:srgbClr val="000000"/>
                </a:solidFill>
                <a:latin typeface="Arimo"/>
              </a:rPr>
              <a:t>Fitness rata-rata (20 seed per skenario)</a:t>
            </a:r>
          </a:p>
        </c:rich>
      </c:tx>
      <c:layout/>
      <c:overlay val="0"/>
    </c:title>
    <c:autoTitleDeleted val="0"/>
    <c:plotArea>
      <c:barChart>
        <c:barDir val="col"/>
        <c:grouping val="clustered"/>
        <c:ser>
          <c:idx val="0"/>
          <c:order val="0"/>
          <c:tx>
            <c:strRef>
              <c:f>Sheet1!$B$1</c:f>
              <c:strCache>
                <c:ptCount val="1"/>
                <c:pt idx="0">
                  <c:v>Algoritma Genetika</c:v>
                </c:pt>
              </c:strCache>
            </c:strRef>
          </c:tx>
          <c:spPr>
            <a:solidFill>
              <a:srgbClr val="01416B"/>
            </a:solidFill>
          </c:spPr>
          <c:dLbls>
            <c:dLbl>
              <c:idx val="0"/>
              <c:tx>
                <c:rich>
                  <a:bodyPr/>
                  <a:lstStyle/>
                  <a:p>
                    <a:r>
                      <a:rPr sz="1700" b="1" i="0">
                        <a:solidFill>
                          <a:srgbClr val="01416B"/>
                        </a:solidFill>
                        <a:latin typeface="Arimo"/>
                      </a:rPr>
                      <a:t>22,6</a:t>
                    </a:r>
                  </a:p>
                </c:rich>
              </c:tx>
              <c:dLblPos val="outEnd"/>
              <c:showLegendKey val="0"/>
              <c:showVal val="1"/>
              <c:showCatName val="0"/>
              <c:showSerName val="0"/>
              <c:showPercent val="0"/>
              <c:showBubbleSize val="0"/>
            </c:dLbl>
            <c:dLbl>
              <c:idx val="1"/>
              <c:tx>
                <c:rich>
                  <a:bodyPr/>
                  <a:lstStyle/>
                  <a:p>
                    <a:r>
                      <a:rPr sz="1700" b="1" i="0">
                        <a:solidFill>
                          <a:srgbClr val="01416B"/>
                        </a:solidFill>
                        <a:latin typeface="Arimo"/>
                      </a:rPr>
                      <a:t>82,6</a:t>
                    </a:r>
                  </a:p>
                </c:rich>
              </c:tx>
              <c:dLblPos val="outEnd"/>
              <c:showLegendKey val="0"/>
              <c:showVal val="1"/>
              <c:showCatName val="0"/>
              <c:showSerName val="0"/>
              <c:showPercent val="0"/>
              <c:showBubbleSize val="0"/>
            </c:dLbl>
            <c:dLbl>
              <c:idx val="2"/>
              <c:tx>
                <c:rich>
                  <a:bodyPr/>
                  <a:lstStyle/>
                  <a:p>
                    <a:r>
                      <a:rPr sz="1700" b="1" i="0">
                        <a:solidFill>
                          <a:srgbClr val="01416B"/>
                        </a:solidFill>
                        <a:latin typeface="Arimo"/>
                      </a:rPr>
                      <a:t>76,3</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Skenario 1
Rp1 jt · 5×7 jam</c:v>
                </c:pt>
                <c:pt idx="1">
                  <c:v>Skenario 2
Rp3 jt · 3×10 jam</c:v>
                </c:pt>
                <c:pt idx="2">
                  <c:v>Skenario 3
Rp500 rb · 2×7 jam</c:v>
                </c:pt>
              </c:strCache>
            </c:strRef>
          </c:cat>
          <c:val>
            <c:numRef>
              <c:f>Sheet1!$B$2:$B$4</c:f>
              <c:numCache>
                <c:formatCode>General</c:formatCode>
                <c:ptCount val="3"/>
                <c:pt idx="0">
                  <c:v>22.62</c:v>
                </c:pt>
                <c:pt idx="1">
                  <c:v>82.62</c:v>
                </c:pt>
                <c:pt idx="2">
                  <c:v>76.25</c:v>
                </c:pt>
              </c:numCache>
            </c:numRef>
          </c:val>
        </c:ser>
        <c:ser>
          <c:idx val="1"/>
          <c:order val="1"/>
          <c:tx>
            <c:strRef>
              <c:f>Sheet1!$C$1</c:f>
              <c:strCache>
                <c:ptCount val="1"/>
                <c:pt idx="0">
                  <c:v>Greedy termurah</c:v>
                </c:pt>
              </c:strCache>
            </c:strRef>
          </c:tx>
          <c:spPr>
            <a:solidFill>
              <a:srgbClr val="FDD402"/>
            </a:solidFill>
          </c:spPr>
          <c:cat>
            <c:strRef>
              <c:f>Sheet1!$A$2:$A$4</c:f>
              <c:strCache>
                <c:ptCount val="3"/>
                <c:pt idx="0">
                  <c:v>Skenario 1
Rp1 jt · 5×7 jam</c:v>
                </c:pt>
                <c:pt idx="1">
                  <c:v>Skenario 2
Rp3 jt · 3×10 jam</c:v>
                </c:pt>
                <c:pt idx="2">
                  <c:v>Skenario 3
Rp500 rb · 2×7 jam</c:v>
                </c:pt>
              </c:strCache>
            </c:strRef>
          </c:cat>
          <c:val>
            <c:numRef>
              <c:f>Sheet1!$C$2:$C$4</c:f>
              <c:numCache>
                <c:formatCode>General</c:formatCode>
                <c:ptCount val="3"/>
                <c:pt idx="0">
                  <c:v>1.09</c:v>
                </c:pt>
                <c:pt idx="1">
                  <c:v>1.5</c:v>
                </c:pt>
                <c:pt idx="2">
                  <c:v>1.8</c:v>
                </c:pt>
              </c:numCache>
            </c:numRef>
          </c:val>
        </c:ser>
        <c:ser>
          <c:idx val="2"/>
          <c:order val="2"/>
          <c:tx>
            <c:strRef>
              <c:f>Sheet1!$D$1</c:f>
              <c:strCache>
                <c:ptCount val="1"/>
                <c:pt idx="0">
                  <c:v>Greedy terdekat</c:v>
                </c:pt>
              </c:strCache>
            </c:strRef>
          </c:tx>
          <c:spPr>
            <a:solidFill>
              <a:srgbClr val="8C9BB0"/>
            </a:solidFill>
          </c:spPr>
          <c:cat>
            <c:strRef>
              <c:f>Sheet1!$A$2:$A$4</c:f>
              <c:strCache>
                <c:ptCount val="3"/>
                <c:pt idx="0">
                  <c:v>Skenario 1
Rp1 jt · 5×7 jam</c:v>
                </c:pt>
                <c:pt idx="1">
                  <c:v>Skenario 2
Rp3 jt · 3×10 jam</c:v>
                </c:pt>
                <c:pt idx="2">
                  <c:v>Skenario 3
Rp500 rb · 2×7 jam</c:v>
                </c:pt>
              </c:strCache>
            </c:strRef>
          </c:cat>
          <c:val>
            <c:numRef>
              <c:f>Sheet1!$D$2:$D$4</c:f>
              <c:numCache>
                <c:formatCode>General</c:formatCode>
                <c:ptCount val="3"/>
                <c:pt idx="0">
                  <c:v>3.77</c:v>
                </c:pt>
                <c:pt idx="1">
                  <c:v>2.62</c:v>
                </c:pt>
                <c:pt idx="2">
                  <c:v>4.41</c:v>
                </c:pt>
              </c:numCache>
            </c:numRef>
          </c:val>
        </c:ser>
        <c:ser>
          <c:idx val="3"/>
          <c:order val="3"/>
          <c:tx>
            <c:strRef>
              <c:f>Sheet1!$E$1</c:f>
              <c:strCache>
                <c:ptCount val="1"/>
                <c:pt idx="0">
                  <c:v>Pencarian acak</c:v>
                </c:pt>
              </c:strCache>
            </c:strRef>
          </c:tx>
          <c:spPr>
            <a:solidFill>
              <a:srgbClr val="D0D5DD"/>
            </a:solidFill>
          </c:spPr>
          <c:dLbls>
            <c:dLbl>
              <c:idx val="0"/>
              <c:tx>
                <c:rich>
                  <a:bodyPr/>
                  <a:lstStyle/>
                  <a:p>
                    <a:r>
                      <a:rPr sz="1500" b="0" i="0">
                        <a:solidFill>
                          <a:srgbClr val="7F7F7F"/>
                        </a:solidFill>
                        <a:latin typeface="Arimo"/>
                      </a:rPr>
                      <a:t>3,8</a:t>
                    </a:r>
                  </a:p>
                </c:rich>
              </c:tx>
              <c:dLblPos val="outEnd"/>
              <c:showLegendKey val="0"/>
              <c:showVal val="1"/>
              <c:showCatName val="0"/>
              <c:showSerName val="0"/>
              <c:showPercent val="0"/>
              <c:showBubbleSize val="0"/>
            </c:dLbl>
            <c:dLbl>
              <c:idx val="1"/>
              <c:tx>
                <c:rich>
                  <a:bodyPr/>
                  <a:lstStyle/>
                  <a:p>
                    <a:r>
                      <a:rPr sz="1500" b="0" i="0">
                        <a:solidFill>
                          <a:srgbClr val="7F7F7F"/>
                        </a:solidFill>
                        <a:latin typeface="Arimo"/>
                      </a:rPr>
                      <a:t>21,6</a:t>
                    </a:r>
                  </a:p>
                </c:rich>
              </c:tx>
              <c:dLblPos val="outEnd"/>
              <c:showLegendKey val="0"/>
              <c:showVal val="1"/>
              <c:showCatName val="0"/>
              <c:showSerName val="0"/>
              <c:showPercent val="0"/>
              <c:showBubbleSize val="0"/>
            </c:dLbl>
            <c:dLbl>
              <c:idx val="2"/>
              <c:tx>
                <c:rich>
                  <a:bodyPr/>
                  <a:lstStyle/>
                  <a:p>
                    <a:r>
                      <a:rPr sz="1500" b="0" i="0">
                        <a:solidFill>
                          <a:srgbClr val="7F7F7F"/>
                        </a:solidFill>
                        <a:latin typeface="Arimo"/>
                      </a:rPr>
                      <a:t>17,0</a:t>
                    </a:r>
                  </a:p>
                </c:rich>
              </c:tx>
              <c:dLblPos val="outEnd"/>
              <c:showLegendKey val="0"/>
              <c:showVal val="1"/>
              <c:showCatName val="0"/>
              <c:showSerName val="0"/>
              <c:showPercent val="0"/>
              <c:showBubbleSize val="0"/>
            </c:dLbl>
            <c:showLegendKey val="0"/>
            <c:showVal val="0"/>
            <c:showCatName val="0"/>
            <c:showSerName val="0"/>
            <c:showPercent val="0"/>
            <c:showBubbleSize val="0"/>
            <c:showLeaderLines val="1"/>
          </c:dLbls>
          <c:cat>
            <c:strRef>
              <c:f>Sheet1!$A$2:$A$4</c:f>
              <c:strCache>
                <c:ptCount val="3"/>
                <c:pt idx="0">
                  <c:v>Skenario 1
Rp1 jt · 5×7 jam</c:v>
                </c:pt>
                <c:pt idx="1">
                  <c:v>Skenario 2
Rp3 jt · 3×10 jam</c:v>
                </c:pt>
                <c:pt idx="2">
                  <c:v>Skenario 3
Rp500 rb · 2×7 jam</c:v>
                </c:pt>
              </c:strCache>
            </c:strRef>
          </c:cat>
          <c:val>
            <c:numRef>
              <c:f>Sheet1!$E$2:$E$4</c:f>
              <c:numCache>
                <c:formatCode>General</c:formatCode>
                <c:ptCount val="3"/>
                <c:pt idx="0">
                  <c:v>3.82</c:v>
                </c:pt>
                <c:pt idx="1">
                  <c:v>21.64</c:v>
                </c:pt>
                <c:pt idx="2">
                  <c:v>16.95</c:v>
                </c:pt>
              </c:numCache>
            </c:numRef>
          </c:val>
        </c:ser>
        <c:gapWidth val="70"/>
        <c:overlap val="-5"/>
        <c:axId val="-2068027336"/>
        <c:axId val="-2113994440"/>
      </c:barChart>
      <c:catAx>
        <c:axId val="-2068027336"/>
        <c:scaling>
          <c:orientation val="minMax"/>
        </c:scaling>
        <c:delete val="0"/>
        <c:axPos val="b"/>
        <c:majorTickMark val="out"/>
        <c:minorTickMark val="none"/>
        <c:tickLblPos val="nextTo"/>
        <c:spPr>
          <a:ln>
            <a:solidFill>
              <a:srgbClr val="BFBFBF"/>
            </a:solidFill>
          </a:ln>
        </c:spPr>
        <c:txPr>
          <a:bodyPr/>
          <a:lstStyle/>
          <a:p>
            <a:pPr>
              <a:defRPr sz="1500">
                <a:solidFill>
                  <a:srgbClr val="000000"/>
                </a:solidFill>
              </a:defRPr>
            </a:pPr>
          </a:p>
        </c:txPr>
        <c:crossAx val="-2113994440"/>
        <c:crosses val="autoZero"/>
        <c:auto val="1"/>
        <c:lblAlgn val="ctr"/>
        <c:lblOffset val="100"/>
        <c:noMultiLvlLbl val="0"/>
      </c:catAx>
      <c:valAx>
        <c:axId val="-2113994440"/>
        <c:scaling/>
        <c:delete val="0"/>
        <c:axPos val="l"/>
        <c:majorGridlines>
          <c:spPr>
            <a:ln>
              <a:solidFill>
                <a:srgbClr val="E4E8EE"/>
              </a:solidFill>
            </a:ln>
          </c:spPr>
        </c:majorGridlines>
        <c:majorTickMark val="out"/>
        <c:minorTickMark val="none"/>
        <c:tickLblPos val="nextTo"/>
        <c:spPr>
          <a:ln>
            <a:noFill/>
          </a:ln>
        </c:spPr>
        <c:txPr>
          <a:bodyPr/>
          <a:lstStyle/>
          <a:p>
            <a:pPr>
              <a:defRPr sz="1400">
                <a:solidFill>
                  <a:srgbClr val="7F7F7F"/>
                </a:solidFill>
              </a:defRPr>
            </a:pPr>
          </a:p>
        </c:txPr>
        <c:crossAx val="-2068027336"/>
        <c:crosses val="autoZero"/>
      </c:valAx>
    </c:plotArea>
    <c:legend>
      <c:legendPos val="b"/>
      <c:overlay val="0"/>
      <c:txPr>
        <a:bodyPr/>
        <a:lstStyle/>
        <a:p>
          <a:pPr>
            <a:defRPr sz="1600"/>
          </a:pPr>
        </a:p>
      </c:txPr>
    </c:legend>
    <c:dispBlanksAs val="gap"/>
  </c:chart>
  <c:txPr>
    <a:bodyPr/>
    <a:lstStyle/>
    <a:p>
      <a:pPr>
        <a:defRPr sz="1600">
          <a:latin typeface="Arimo"/>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plotArea>
      <c:scatterChart>
        <c:scatterStyle val="lineMarker"/>
        <c:varyColors val="0"/>
        <c:ser>
          <c:idx val="0"/>
          <c:order val="0"/>
          <c:tx>
            <c:strRef>
              <c:f>Sheet1!$B$1</c:f>
              <c:strCache>
                <c:ptCount val="1"/>
                <c:pt idx="0">
                  <c:v>Fitness terbaik</c:v>
                </c:pt>
              </c:strCache>
            </c:strRef>
          </c:tx>
          <c:spPr>
            <a:ln w="44450">
              <a:solidFill>
                <a:srgbClr val="01416B"/>
              </a:solidFill>
            </a:ln>
          </c:spPr>
          <c:marker>
            <c:symbol val="none"/>
          </c:marker>
          <c:xVal>
            <c:numRef>
              <c:f>Sheet1!$A$2:$A$202</c:f>
              <c:numCache>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Cache>
            </c:numRef>
          </c:xVal>
          <c:yVal>
            <c:numRef>
              <c:f>Sheet1!$B$2:$B$202</c:f>
              <c:numCache>
                <c:formatCode>General</c:formatCode>
                <c:ptCount val="201"/>
                <c:pt idx="0">
                  <c:v>11.769</c:v>
                </c:pt>
                <c:pt idx="1">
                  <c:v>11.769</c:v>
                </c:pt>
                <c:pt idx="2">
                  <c:v>11.769</c:v>
                </c:pt>
                <c:pt idx="3">
                  <c:v>11.769</c:v>
                </c:pt>
                <c:pt idx="4">
                  <c:v>11.769</c:v>
                </c:pt>
                <c:pt idx="5">
                  <c:v>11.769</c:v>
                </c:pt>
                <c:pt idx="6">
                  <c:v>11.769</c:v>
                </c:pt>
                <c:pt idx="7">
                  <c:v>11.769</c:v>
                </c:pt>
                <c:pt idx="8">
                  <c:v>11.769</c:v>
                </c:pt>
                <c:pt idx="9">
                  <c:v>11.769</c:v>
                </c:pt>
                <c:pt idx="10">
                  <c:v>11.769</c:v>
                </c:pt>
                <c:pt idx="11">
                  <c:v>11.769</c:v>
                </c:pt>
                <c:pt idx="12">
                  <c:v>11.769</c:v>
                </c:pt>
                <c:pt idx="13">
                  <c:v>13.583</c:v>
                </c:pt>
                <c:pt idx="14">
                  <c:v>13.583</c:v>
                </c:pt>
                <c:pt idx="15">
                  <c:v>13.583</c:v>
                </c:pt>
                <c:pt idx="16">
                  <c:v>13.583</c:v>
                </c:pt>
                <c:pt idx="17">
                  <c:v>14.736</c:v>
                </c:pt>
                <c:pt idx="18">
                  <c:v>14.736</c:v>
                </c:pt>
                <c:pt idx="19">
                  <c:v>14.736</c:v>
                </c:pt>
                <c:pt idx="20">
                  <c:v>14.896</c:v>
                </c:pt>
                <c:pt idx="21">
                  <c:v>14.896</c:v>
                </c:pt>
                <c:pt idx="22">
                  <c:v>14.896</c:v>
                </c:pt>
                <c:pt idx="23">
                  <c:v>14.896</c:v>
                </c:pt>
                <c:pt idx="24">
                  <c:v>14.896</c:v>
                </c:pt>
                <c:pt idx="25">
                  <c:v>14.896</c:v>
                </c:pt>
                <c:pt idx="26">
                  <c:v>14.896</c:v>
                </c:pt>
                <c:pt idx="27">
                  <c:v>14.896</c:v>
                </c:pt>
                <c:pt idx="28">
                  <c:v>14.896</c:v>
                </c:pt>
                <c:pt idx="29">
                  <c:v>14.896</c:v>
                </c:pt>
                <c:pt idx="30">
                  <c:v>14.896</c:v>
                </c:pt>
                <c:pt idx="31">
                  <c:v>14.896</c:v>
                </c:pt>
                <c:pt idx="32">
                  <c:v>14.896</c:v>
                </c:pt>
                <c:pt idx="33">
                  <c:v>14.896</c:v>
                </c:pt>
                <c:pt idx="34">
                  <c:v>14.896</c:v>
                </c:pt>
                <c:pt idx="35">
                  <c:v>14.896</c:v>
                </c:pt>
                <c:pt idx="36">
                  <c:v>14.896</c:v>
                </c:pt>
                <c:pt idx="37">
                  <c:v>14.896</c:v>
                </c:pt>
                <c:pt idx="38">
                  <c:v>14.896</c:v>
                </c:pt>
                <c:pt idx="39">
                  <c:v>14.896</c:v>
                </c:pt>
                <c:pt idx="40">
                  <c:v>14.896</c:v>
                </c:pt>
                <c:pt idx="41">
                  <c:v>14.896</c:v>
                </c:pt>
                <c:pt idx="42">
                  <c:v>14.896</c:v>
                </c:pt>
                <c:pt idx="43">
                  <c:v>14.896</c:v>
                </c:pt>
                <c:pt idx="44">
                  <c:v>17.403</c:v>
                </c:pt>
                <c:pt idx="45">
                  <c:v>17.403</c:v>
                </c:pt>
                <c:pt idx="46">
                  <c:v>17.403</c:v>
                </c:pt>
                <c:pt idx="47">
                  <c:v>17.403</c:v>
                </c:pt>
                <c:pt idx="48">
                  <c:v>17.403</c:v>
                </c:pt>
                <c:pt idx="49">
                  <c:v>17.403</c:v>
                </c:pt>
                <c:pt idx="50">
                  <c:v>17.403</c:v>
                </c:pt>
                <c:pt idx="51">
                  <c:v>17.403</c:v>
                </c:pt>
                <c:pt idx="52">
                  <c:v>22.018</c:v>
                </c:pt>
                <c:pt idx="53">
                  <c:v>22.018</c:v>
                </c:pt>
                <c:pt idx="54">
                  <c:v>22.018</c:v>
                </c:pt>
                <c:pt idx="55">
                  <c:v>22.018</c:v>
                </c:pt>
                <c:pt idx="56">
                  <c:v>22.018</c:v>
                </c:pt>
                <c:pt idx="57">
                  <c:v>22.018</c:v>
                </c:pt>
                <c:pt idx="58">
                  <c:v>22.018</c:v>
                </c:pt>
                <c:pt idx="59">
                  <c:v>22.018</c:v>
                </c:pt>
                <c:pt idx="60">
                  <c:v>22.018</c:v>
                </c:pt>
                <c:pt idx="61">
                  <c:v>22.018</c:v>
                </c:pt>
                <c:pt idx="62">
                  <c:v>22.018</c:v>
                </c:pt>
                <c:pt idx="63">
                  <c:v>22.018</c:v>
                </c:pt>
                <c:pt idx="64">
                  <c:v>22.018</c:v>
                </c:pt>
                <c:pt idx="65">
                  <c:v>22.018</c:v>
                </c:pt>
                <c:pt idx="66">
                  <c:v>22.018</c:v>
                </c:pt>
                <c:pt idx="67">
                  <c:v>22.018</c:v>
                </c:pt>
                <c:pt idx="68">
                  <c:v>22.018</c:v>
                </c:pt>
                <c:pt idx="69">
                  <c:v>22.018</c:v>
                </c:pt>
                <c:pt idx="70">
                  <c:v>22.018</c:v>
                </c:pt>
                <c:pt idx="71">
                  <c:v>22.018</c:v>
                </c:pt>
                <c:pt idx="72">
                  <c:v>22.018</c:v>
                </c:pt>
                <c:pt idx="73">
                  <c:v>25.439</c:v>
                </c:pt>
                <c:pt idx="74">
                  <c:v>25.439</c:v>
                </c:pt>
                <c:pt idx="75">
                  <c:v>25.439</c:v>
                </c:pt>
                <c:pt idx="76">
                  <c:v>25.439</c:v>
                </c:pt>
                <c:pt idx="77">
                  <c:v>25.439</c:v>
                </c:pt>
                <c:pt idx="78">
                  <c:v>25.439</c:v>
                </c:pt>
                <c:pt idx="79">
                  <c:v>25.439</c:v>
                </c:pt>
                <c:pt idx="80">
                  <c:v>25.439</c:v>
                </c:pt>
                <c:pt idx="81">
                  <c:v>25.439</c:v>
                </c:pt>
                <c:pt idx="82">
                  <c:v>25.439</c:v>
                </c:pt>
                <c:pt idx="83">
                  <c:v>27.309</c:v>
                </c:pt>
                <c:pt idx="84">
                  <c:v>27.309</c:v>
                </c:pt>
                <c:pt idx="85">
                  <c:v>27.309</c:v>
                </c:pt>
                <c:pt idx="86">
                  <c:v>27.309</c:v>
                </c:pt>
                <c:pt idx="87">
                  <c:v>30.119</c:v>
                </c:pt>
                <c:pt idx="88">
                  <c:v>30.119</c:v>
                </c:pt>
                <c:pt idx="89">
                  <c:v>30.119</c:v>
                </c:pt>
                <c:pt idx="90">
                  <c:v>30.119</c:v>
                </c:pt>
                <c:pt idx="91">
                  <c:v>30.119</c:v>
                </c:pt>
                <c:pt idx="92">
                  <c:v>30.119</c:v>
                </c:pt>
                <c:pt idx="93">
                  <c:v>30.119</c:v>
                </c:pt>
                <c:pt idx="94">
                  <c:v>30.119</c:v>
                </c:pt>
                <c:pt idx="95">
                  <c:v>30.119</c:v>
                </c:pt>
                <c:pt idx="96">
                  <c:v>30.119</c:v>
                </c:pt>
                <c:pt idx="97">
                  <c:v>30.119</c:v>
                </c:pt>
                <c:pt idx="98">
                  <c:v>30.119</c:v>
                </c:pt>
                <c:pt idx="99">
                  <c:v>30.119</c:v>
                </c:pt>
                <c:pt idx="100">
                  <c:v>30.119</c:v>
                </c:pt>
                <c:pt idx="101">
                  <c:v>30.119</c:v>
                </c:pt>
                <c:pt idx="102">
                  <c:v>30.119</c:v>
                </c:pt>
                <c:pt idx="103">
                  <c:v>30.119</c:v>
                </c:pt>
                <c:pt idx="104">
                  <c:v>30.119</c:v>
                </c:pt>
                <c:pt idx="105">
                  <c:v>30.119</c:v>
                </c:pt>
                <c:pt idx="106">
                  <c:v>30.119</c:v>
                </c:pt>
                <c:pt idx="107">
                  <c:v>30.119</c:v>
                </c:pt>
                <c:pt idx="108">
                  <c:v>30.119</c:v>
                </c:pt>
                <c:pt idx="109">
                  <c:v>30.119</c:v>
                </c:pt>
                <c:pt idx="110">
                  <c:v>30.119</c:v>
                </c:pt>
                <c:pt idx="111">
                  <c:v>30.119</c:v>
                </c:pt>
                <c:pt idx="112">
                  <c:v>30.119</c:v>
                </c:pt>
                <c:pt idx="113">
                  <c:v>30.119</c:v>
                </c:pt>
                <c:pt idx="114">
                  <c:v>30.119</c:v>
                </c:pt>
                <c:pt idx="115">
                  <c:v>30.119</c:v>
                </c:pt>
                <c:pt idx="116">
                  <c:v>30.119</c:v>
                </c:pt>
                <c:pt idx="117">
                  <c:v>30.119</c:v>
                </c:pt>
                <c:pt idx="118">
                  <c:v>30.119</c:v>
                </c:pt>
                <c:pt idx="119">
                  <c:v>30.119</c:v>
                </c:pt>
                <c:pt idx="120">
                  <c:v>30.119</c:v>
                </c:pt>
                <c:pt idx="121">
                  <c:v>30.119</c:v>
                </c:pt>
                <c:pt idx="122">
                  <c:v>30.119</c:v>
                </c:pt>
                <c:pt idx="123">
                  <c:v>30.119</c:v>
                </c:pt>
                <c:pt idx="124">
                  <c:v>30.119</c:v>
                </c:pt>
                <c:pt idx="125">
                  <c:v>30.119</c:v>
                </c:pt>
                <c:pt idx="126">
                  <c:v>30.119</c:v>
                </c:pt>
                <c:pt idx="127">
                  <c:v>30.119</c:v>
                </c:pt>
                <c:pt idx="128">
                  <c:v>30.119</c:v>
                </c:pt>
                <c:pt idx="129">
                  <c:v>30.119</c:v>
                </c:pt>
                <c:pt idx="130">
                  <c:v>30.119</c:v>
                </c:pt>
                <c:pt idx="131">
                  <c:v>30.119</c:v>
                </c:pt>
                <c:pt idx="132">
                  <c:v>30.119</c:v>
                </c:pt>
                <c:pt idx="133">
                  <c:v>30.119</c:v>
                </c:pt>
                <c:pt idx="134">
                  <c:v>30.119</c:v>
                </c:pt>
                <c:pt idx="135">
                  <c:v>30.119</c:v>
                </c:pt>
                <c:pt idx="136">
                  <c:v>30.119</c:v>
                </c:pt>
                <c:pt idx="137">
                  <c:v>30.119</c:v>
                </c:pt>
                <c:pt idx="138">
                  <c:v>30.119</c:v>
                </c:pt>
                <c:pt idx="139">
                  <c:v>30.119</c:v>
                </c:pt>
                <c:pt idx="140">
                  <c:v>30.119</c:v>
                </c:pt>
                <c:pt idx="141">
                  <c:v>30.119</c:v>
                </c:pt>
                <c:pt idx="142">
                  <c:v>30.119</c:v>
                </c:pt>
                <c:pt idx="143">
                  <c:v>30.119</c:v>
                </c:pt>
                <c:pt idx="144">
                  <c:v>30.119</c:v>
                </c:pt>
                <c:pt idx="145">
                  <c:v>30.119</c:v>
                </c:pt>
                <c:pt idx="146">
                  <c:v>30.119</c:v>
                </c:pt>
                <c:pt idx="147">
                  <c:v>30.119</c:v>
                </c:pt>
                <c:pt idx="148">
                  <c:v>30.119</c:v>
                </c:pt>
                <c:pt idx="149">
                  <c:v>30.119</c:v>
                </c:pt>
                <c:pt idx="150">
                  <c:v>30.119</c:v>
                </c:pt>
                <c:pt idx="151">
                  <c:v>30.119</c:v>
                </c:pt>
                <c:pt idx="152">
                  <c:v>30.119</c:v>
                </c:pt>
                <c:pt idx="153">
                  <c:v>30.119</c:v>
                </c:pt>
                <c:pt idx="154">
                  <c:v>30.119</c:v>
                </c:pt>
                <c:pt idx="155">
                  <c:v>30.119</c:v>
                </c:pt>
                <c:pt idx="156">
                  <c:v>30.119</c:v>
                </c:pt>
                <c:pt idx="157">
                  <c:v>30.119</c:v>
                </c:pt>
                <c:pt idx="158">
                  <c:v>30.119</c:v>
                </c:pt>
                <c:pt idx="159">
                  <c:v>30.119</c:v>
                </c:pt>
                <c:pt idx="160">
                  <c:v>30.119</c:v>
                </c:pt>
                <c:pt idx="161">
                  <c:v>30.119</c:v>
                </c:pt>
                <c:pt idx="162">
                  <c:v>30.119</c:v>
                </c:pt>
                <c:pt idx="163">
                  <c:v>30.119</c:v>
                </c:pt>
                <c:pt idx="164">
                  <c:v>30.119</c:v>
                </c:pt>
                <c:pt idx="165">
                  <c:v>30.119</c:v>
                </c:pt>
                <c:pt idx="166">
                  <c:v>31.371</c:v>
                </c:pt>
                <c:pt idx="167">
                  <c:v>31.371</c:v>
                </c:pt>
                <c:pt idx="168">
                  <c:v>31.371</c:v>
                </c:pt>
                <c:pt idx="169">
                  <c:v>31.371</c:v>
                </c:pt>
                <c:pt idx="170">
                  <c:v>31.371</c:v>
                </c:pt>
                <c:pt idx="171">
                  <c:v>31.371</c:v>
                </c:pt>
                <c:pt idx="172">
                  <c:v>31.371</c:v>
                </c:pt>
                <c:pt idx="173">
                  <c:v>31.371</c:v>
                </c:pt>
                <c:pt idx="174">
                  <c:v>31.371</c:v>
                </c:pt>
                <c:pt idx="175">
                  <c:v>31.371</c:v>
                </c:pt>
                <c:pt idx="176">
                  <c:v>31.371</c:v>
                </c:pt>
                <c:pt idx="177">
                  <c:v>31.371</c:v>
                </c:pt>
                <c:pt idx="178">
                  <c:v>31.371</c:v>
                </c:pt>
                <c:pt idx="179">
                  <c:v>31.371</c:v>
                </c:pt>
                <c:pt idx="180">
                  <c:v>31.371</c:v>
                </c:pt>
                <c:pt idx="181">
                  <c:v>31.371</c:v>
                </c:pt>
                <c:pt idx="182">
                  <c:v>31.371</c:v>
                </c:pt>
                <c:pt idx="183">
                  <c:v>50.726</c:v>
                </c:pt>
                <c:pt idx="184">
                  <c:v>50.726</c:v>
                </c:pt>
                <c:pt idx="185">
                  <c:v>50.726</c:v>
                </c:pt>
                <c:pt idx="186">
                  <c:v>50.726</c:v>
                </c:pt>
                <c:pt idx="187">
                  <c:v>50.726</c:v>
                </c:pt>
                <c:pt idx="188">
                  <c:v>50.726</c:v>
                </c:pt>
                <c:pt idx="189">
                  <c:v>50.726</c:v>
                </c:pt>
                <c:pt idx="190">
                  <c:v>50.726</c:v>
                </c:pt>
                <c:pt idx="191">
                  <c:v>50.726</c:v>
                </c:pt>
                <c:pt idx="192">
                  <c:v>50.726</c:v>
                </c:pt>
                <c:pt idx="193">
                  <c:v>50.726</c:v>
                </c:pt>
                <c:pt idx="194">
                  <c:v>50.726</c:v>
                </c:pt>
                <c:pt idx="195">
                  <c:v>50.726</c:v>
                </c:pt>
                <c:pt idx="196">
                  <c:v>50.726</c:v>
                </c:pt>
                <c:pt idx="197">
                  <c:v>50.726</c:v>
                </c:pt>
                <c:pt idx="198">
                  <c:v>50.726</c:v>
                </c:pt>
                <c:pt idx="199">
                  <c:v>50.726</c:v>
                </c:pt>
                <c:pt idx="200">
                  <c:v>50.726</c:v>
                </c:pt>
              </c:numCache>
            </c:numRef>
          </c:yVal>
          <c:smooth val="0"/>
        </c:ser>
        <c:ser>
          <c:idx val="1"/>
          <c:order val="1"/>
          <c:tx>
            <c:strRef>
              <c:f>Sheet1!$B$204</c:f>
              <c:strCache>
                <c:ptCount val="1"/>
                <c:pt idx="0">
                  <c:v>Fitness rata-rata</c:v>
                </c:pt>
              </c:strCache>
            </c:strRef>
          </c:tx>
          <c:spPr>
            <a:ln w="28575">
              <a:solidFill>
                <a:srgbClr val="FDD402"/>
              </a:solidFill>
            </a:ln>
          </c:spPr>
          <c:marker>
            <c:symbol val="none"/>
          </c:marker>
          <c:xVal>
            <c:numRef>
              <c:f>Sheet1!$A$205:$A$405</c:f>
              <c:numCache>
                <c:formatCode>General</c:formatCode>
                <c:ptCount val="20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pt idx="25">
                  <c:v>25</c:v>
                </c:pt>
                <c:pt idx="26">
                  <c:v>26</c:v>
                </c:pt>
                <c:pt idx="27">
                  <c:v>27</c:v>
                </c:pt>
                <c:pt idx="28">
                  <c:v>28</c:v>
                </c:pt>
                <c:pt idx="29">
                  <c:v>29</c:v>
                </c:pt>
                <c:pt idx="30">
                  <c:v>30</c:v>
                </c:pt>
                <c:pt idx="31">
                  <c:v>31</c:v>
                </c:pt>
                <c:pt idx="32">
                  <c:v>32</c:v>
                </c:pt>
                <c:pt idx="33">
                  <c:v>33</c:v>
                </c:pt>
                <c:pt idx="34">
                  <c:v>34</c:v>
                </c:pt>
                <c:pt idx="35">
                  <c:v>35</c:v>
                </c:pt>
                <c:pt idx="36">
                  <c:v>36</c:v>
                </c:pt>
                <c:pt idx="37">
                  <c:v>37</c:v>
                </c:pt>
                <c:pt idx="38">
                  <c:v>38</c:v>
                </c:pt>
                <c:pt idx="39">
                  <c:v>39</c:v>
                </c:pt>
                <c:pt idx="40">
                  <c:v>40</c:v>
                </c:pt>
                <c:pt idx="41">
                  <c:v>41</c:v>
                </c:pt>
                <c:pt idx="42">
                  <c:v>42</c:v>
                </c:pt>
                <c:pt idx="43">
                  <c:v>43</c:v>
                </c:pt>
                <c:pt idx="44">
                  <c:v>44</c:v>
                </c:pt>
                <c:pt idx="45">
                  <c:v>45</c:v>
                </c:pt>
                <c:pt idx="46">
                  <c:v>46</c:v>
                </c:pt>
                <c:pt idx="47">
                  <c:v>47</c:v>
                </c:pt>
                <c:pt idx="48">
                  <c:v>48</c:v>
                </c:pt>
                <c:pt idx="49">
                  <c:v>49</c:v>
                </c:pt>
                <c:pt idx="50">
                  <c:v>50</c:v>
                </c:pt>
                <c:pt idx="51">
                  <c:v>51</c:v>
                </c:pt>
                <c:pt idx="52">
                  <c:v>52</c:v>
                </c:pt>
                <c:pt idx="53">
                  <c:v>53</c:v>
                </c:pt>
                <c:pt idx="54">
                  <c:v>54</c:v>
                </c:pt>
                <c:pt idx="55">
                  <c:v>55</c:v>
                </c:pt>
                <c:pt idx="56">
                  <c:v>56</c:v>
                </c:pt>
                <c:pt idx="57">
                  <c:v>57</c:v>
                </c:pt>
                <c:pt idx="58">
                  <c:v>58</c:v>
                </c:pt>
                <c:pt idx="59">
                  <c:v>59</c:v>
                </c:pt>
                <c:pt idx="60">
                  <c:v>60</c:v>
                </c:pt>
                <c:pt idx="61">
                  <c:v>61</c:v>
                </c:pt>
                <c:pt idx="62">
                  <c:v>62</c:v>
                </c:pt>
                <c:pt idx="63">
                  <c:v>63</c:v>
                </c:pt>
                <c:pt idx="64">
                  <c:v>64</c:v>
                </c:pt>
                <c:pt idx="65">
                  <c:v>65</c:v>
                </c:pt>
                <c:pt idx="66">
                  <c:v>66</c:v>
                </c:pt>
                <c:pt idx="67">
                  <c:v>67</c:v>
                </c:pt>
                <c:pt idx="68">
                  <c:v>68</c:v>
                </c:pt>
                <c:pt idx="69">
                  <c:v>69</c:v>
                </c:pt>
                <c:pt idx="70">
                  <c:v>70</c:v>
                </c:pt>
                <c:pt idx="71">
                  <c:v>71</c:v>
                </c:pt>
                <c:pt idx="72">
                  <c:v>72</c:v>
                </c:pt>
                <c:pt idx="73">
                  <c:v>73</c:v>
                </c:pt>
                <c:pt idx="74">
                  <c:v>74</c:v>
                </c:pt>
                <c:pt idx="75">
                  <c:v>75</c:v>
                </c:pt>
                <c:pt idx="76">
                  <c:v>76</c:v>
                </c:pt>
                <c:pt idx="77">
                  <c:v>77</c:v>
                </c:pt>
                <c:pt idx="78">
                  <c:v>78</c:v>
                </c:pt>
                <c:pt idx="79">
                  <c:v>79</c:v>
                </c:pt>
                <c:pt idx="80">
                  <c:v>80</c:v>
                </c:pt>
                <c:pt idx="81">
                  <c:v>81</c:v>
                </c:pt>
                <c:pt idx="82">
                  <c:v>82</c:v>
                </c:pt>
                <c:pt idx="83">
                  <c:v>83</c:v>
                </c:pt>
                <c:pt idx="84">
                  <c:v>84</c:v>
                </c:pt>
                <c:pt idx="85">
                  <c:v>85</c:v>
                </c:pt>
                <c:pt idx="86">
                  <c:v>86</c:v>
                </c:pt>
                <c:pt idx="87">
                  <c:v>87</c:v>
                </c:pt>
                <c:pt idx="88">
                  <c:v>88</c:v>
                </c:pt>
                <c:pt idx="89">
                  <c:v>89</c:v>
                </c:pt>
                <c:pt idx="90">
                  <c:v>90</c:v>
                </c:pt>
                <c:pt idx="91">
                  <c:v>91</c:v>
                </c:pt>
                <c:pt idx="92">
                  <c:v>92</c:v>
                </c:pt>
                <c:pt idx="93">
                  <c:v>93</c:v>
                </c:pt>
                <c:pt idx="94">
                  <c:v>94</c:v>
                </c:pt>
                <c:pt idx="95">
                  <c:v>95</c:v>
                </c:pt>
                <c:pt idx="96">
                  <c:v>96</c:v>
                </c:pt>
                <c:pt idx="97">
                  <c:v>97</c:v>
                </c:pt>
                <c:pt idx="98">
                  <c:v>98</c:v>
                </c:pt>
                <c:pt idx="99">
                  <c:v>99</c:v>
                </c:pt>
                <c:pt idx="100">
                  <c:v>100</c:v>
                </c:pt>
                <c:pt idx="101">
                  <c:v>101</c:v>
                </c:pt>
                <c:pt idx="102">
                  <c:v>102</c:v>
                </c:pt>
                <c:pt idx="103">
                  <c:v>103</c:v>
                </c:pt>
                <c:pt idx="104">
                  <c:v>104</c:v>
                </c:pt>
                <c:pt idx="105">
                  <c:v>105</c:v>
                </c:pt>
                <c:pt idx="106">
                  <c:v>106</c:v>
                </c:pt>
                <c:pt idx="107">
                  <c:v>107</c:v>
                </c:pt>
                <c:pt idx="108">
                  <c:v>108</c:v>
                </c:pt>
                <c:pt idx="109">
                  <c:v>109</c:v>
                </c:pt>
                <c:pt idx="110">
                  <c:v>110</c:v>
                </c:pt>
                <c:pt idx="111">
                  <c:v>111</c:v>
                </c:pt>
                <c:pt idx="112">
                  <c:v>112</c:v>
                </c:pt>
                <c:pt idx="113">
                  <c:v>113</c:v>
                </c:pt>
                <c:pt idx="114">
                  <c:v>114</c:v>
                </c:pt>
                <c:pt idx="115">
                  <c:v>115</c:v>
                </c:pt>
                <c:pt idx="116">
                  <c:v>116</c:v>
                </c:pt>
                <c:pt idx="117">
                  <c:v>117</c:v>
                </c:pt>
                <c:pt idx="118">
                  <c:v>118</c:v>
                </c:pt>
                <c:pt idx="119">
                  <c:v>119</c:v>
                </c:pt>
                <c:pt idx="120">
                  <c:v>120</c:v>
                </c:pt>
                <c:pt idx="121">
                  <c:v>121</c:v>
                </c:pt>
                <c:pt idx="122">
                  <c:v>122</c:v>
                </c:pt>
                <c:pt idx="123">
                  <c:v>123</c:v>
                </c:pt>
                <c:pt idx="124">
                  <c:v>124</c:v>
                </c:pt>
                <c:pt idx="125">
                  <c:v>125</c:v>
                </c:pt>
                <c:pt idx="126">
                  <c:v>126</c:v>
                </c:pt>
                <c:pt idx="127">
                  <c:v>127</c:v>
                </c:pt>
                <c:pt idx="128">
                  <c:v>128</c:v>
                </c:pt>
                <c:pt idx="129">
                  <c:v>129</c:v>
                </c:pt>
                <c:pt idx="130">
                  <c:v>130</c:v>
                </c:pt>
                <c:pt idx="131">
                  <c:v>131</c:v>
                </c:pt>
                <c:pt idx="132">
                  <c:v>132</c:v>
                </c:pt>
                <c:pt idx="133">
                  <c:v>133</c:v>
                </c:pt>
                <c:pt idx="134">
                  <c:v>134</c:v>
                </c:pt>
                <c:pt idx="135">
                  <c:v>135</c:v>
                </c:pt>
                <c:pt idx="136">
                  <c:v>136</c:v>
                </c:pt>
                <c:pt idx="137">
                  <c:v>137</c:v>
                </c:pt>
                <c:pt idx="138">
                  <c:v>138</c:v>
                </c:pt>
                <c:pt idx="139">
                  <c:v>139</c:v>
                </c:pt>
                <c:pt idx="140">
                  <c:v>140</c:v>
                </c:pt>
                <c:pt idx="141">
                  <c:v>141</c:v>
                </c:pt>
                <c:pt idx="142">
                  <c:v>142</c:v>
                </c:pt>
                <c:pt idx="143">
                  <c:v>143</c:v>
                </c:pt>
                <c:pt idx="144">
                  <c:v>144</c:v>
                </c:pt>
                <c:pt idx="145">
                  <c:v>145</c:v>
                </c:pt>
                <c:pt idx="146">
                  <c:v>146</c:v>
                </c:pt>
                <c:pt idx="147">
                  <c:v>147</c:v>
                </c:pt>
                <c:pt idx="148">
                  <c:v>148</c:v>
                </c:pt>
                <c:pt idx="149">
                  <c:v>149</c:v>
                </c:pt>
                <c:pt idx="150">
                  <c:v>150</c:v>
                </c:pt>
                <c:pt idx="151">
                  <c:v>151</c:v>
                </c:pt>
                <c:pt idx="152">
                  <c:v>152</c:v>
                </c:pt>
                <c:pt idx="153">
                  <c:v>153</c:v>
                </c:pt>
                <c:pt idx="154">
                  <c:v>154</c:v>
                </c:pt>
                <c:pt idx="155">
                  <c:v>155</c:v>
                </c:pt>
                <c:pt idx="156">
                  <c:v>156</c:v>
                </c:pt>
                <c:pt idx="157">
                  <c:v>157</c:v>
                </c:pt>
                <c:pt idx="158">
                  <c:v>158</c:v>
                </c:pt>
                <c:pt idx="159">
                  <c:v>159</c:v>
                </c:pt>
                <c:pt idx="160">
                  <c:v>160</c:v>
                </c:pt>
                <c:pt idx="161">
                  <c:v>161</c:v>
                </c:pt>
                <c:pt idx="162">
                  <c:v>162</c:v>
                </c:pt>
                <c:pt idx="163">
                  <c:v>163</c:v>
                </c:pt>
                <c:pt idx="164">
                  <c:v>164</c:v>
                </c:pt>
                <c:pt idx="165">
                  <c:v>165</c:v>
                </c:pt>
                <c:pt idx="166">
                  <c:v>166</c:v>
                </c:pt>
                <c:pt idx="167">
                  <c:v>167</c:v>
                </c:pt>
                <c:pt idx="168">
                  <c:v>168</c:v>
                </c:pt>
                <c:pt idx="169">
                  <c:v>169</c:v>
                </c:pt>
                <c:pt idx="170">
                  <c:v>170</c:v>
                </c:pt>
                <c:pt idx="171">
                  <c:v>171</c:v>
                </c:pt>
                <c:pt idx="172">
                  <c:v>172</c:v>
                </c:pt>
                <c:pt idx="173">
                  <c:v>173</c:v>
                </c:pt>
                <c:pt idx="174">
                  <c:v>174</c:v>
                </c:pt>
                <c:pt idx="175">
                  <c:v>175</c:v>
                </c:pt>
                <c:pt idx="176">
                  <c:v>176</c:v>
                </c:pt>
                <c:pt idx="177">
                  <c:v>177</c:v>
                </c:pt>
                <c:pt idx="178">
                  <c:v>178</c:v>
                </c:pt>
                <c:pt idx="179">
                  <c:v>179</c:v>
                </c:pt>
                <c:pt idx="180">
                  <c:v>180</c:v>
                </c:pt>
                <c:pt idx="181">
                  <c:v>181</c:v>
                </c:pt>
                <c:pt idx="182">
                  <c:v>182</c:v>
                </c:pt>
                <c:pt idx="183">
                  <c:v>183</c:v>
                </c:pt>
                <c:pt idx="184">
                  <c:v>184</c:v>
                </c:pt>
                <c:pt idx="185">
                  <c:v>185</c:v>
                </c:pt>
                <c:pt idx="186">
                  <c:v>186</c:v>
                </c:pt>
                <c:pt idx="187">
                  <c:v>187</c:v>
                </c:pt>
                <c:pt idx="188">
                  <c:v>188</c:v>
                </c:pt>
                <c:pt idx="189">
                  <c:v>189</c:v>
                </c:pt>
                <c:pt idx="190">
                  <c:v>190</c:v>
                </c:pt>
                <c:pt idx="191">
                  <c:v>191</c:v>
                </c:pt>
                <c:pt idx="192">
                  <c:v>192</c:v>
                </c:pt>
                <c:pt idx="193">
                  <c:v>193</c:v>
                </c:pt>
                <c:pt idx="194">
                  <c:v>194</c:v>
                </c:pt>
                <c:pt idx="195">
                  <c:v>195</c:v>
                </c:pt>
                <c:pt idx="196">
                  <c:v>196</c:v>
                </c:pt>
                <c:pt idx="197">
                  <c:v>197</c:v>
                </c:pt>
                <c:pt idx="198">
                  <c:v>198</c:v>
                </c:pt>
                <c:pt idx="199">
                  <c:v>199</c:v>
                </c:pt>
                <c:pt idx="200">
                  <c:v>200</c:v>
                </c:pt>
              </c:numCache>
            </c:numRef>
          </c:xVal>
          <c:yVal>
            <c:numRef>
              <c:f>Sheet1!$B$205:$B$405</c:f>
              <c:numCache>
                <c:formatCode>General</c:formatCode>
                <c:ptCount val="201"/>
                <c:pt idx="0">
                  <c:v>1.422</c:v>
                </c:pt>
                <c:pt idx="1">
                  <c:v>1.255</c:v>
                </c:pt>
                <c:pt idx="2">
                  <c:v>1.833</c:v>
                </c:pt>
                <c:pt idx="3">
                  <c:v>1.847</c:v>
                </c:pt>
                <c:pt idx="4">
                  <c:v>2.202</c:v>
                </c:pt>
                <c:pt idx="5">
                  <c:v>2.275</c:v>
                </c:pt>
                <c:pt idx="6">
                  <c:v>2.152</c:v>
                </c:pt>
                <c:pt idx="7">
                  <c:v>2.303</c:v>
                </c:pt>
                <c:pt idx="8">
                  <c:v>2.568</c:v>
                </c:pt>
                <c:pt idx="9">
                  <c:v>3.165</c:v>
                </c:pt>
                <c:pt idx="10">
                  <c:v>3.33</c:v>
                </c:pt>
                <c:pt idx="11">
                  <c:v>2.603</c:v>
                </c:pt>
                <c:pt idx="12">
                  <c:v>3.322</c:v>
                </c:pt>
                <c:pt idx="13">
                  <c:v>2.796</c:v>
                </c:pt>
                <c:pt idx="14">
                  <c:v>2.511</c:v>
                </c:pt>
                <c:pt idx="15">
                  <c:v>2.736</c:v>
                </c:pt>
                <c:pt idx="16">
                  <c:v>2.986</c:v>
                </c:pt>
                <c:pt idx="17">
                  <c:v>3.587</c:v>
                </c:pt>
                <c:pt idx="18">
                  <c:v>3.099</c:v>
                </c:pt>
                <c:pt idx="19">
                  <c:v>3.304</c:v>
                </c:pt>
                <c:pt idx="20">
                  <c:v>3.586</c:v>
                </c:pt>
                <c:pt idx="21">
                  <c:v>3.948</c:v>
                </c:pt>
                <c:pt idx="22">
                  <c:v>3.648</c:v>
                </c:pt>
                <c:pt idx="23">
                  <c:v>3.765</c:v>
                </c:pt>
                <c:pt idx="24">
                  <c:v>3.541</c:v>
                </c:pt>
                <c:pt idx="25">
                  <c:v>3.806</c:v>
                </c:pt>
                <c:pt idx="26">
                  <c:v>3.57</c:v>
                </c:pt>
                <c:pt idx="27">
                  <c:v>3.207</c:v>
                </c:pt>
                <c:pt idx="28">
                  <c:v>3.737</c:v>
                </c:pt>
                <c:pt idx="29">
                  <c:v>3.62</c:v>
                </c:pt>
                <c:pt idx="30">
                  <c:v>3.661</c:v>
                </c:pt>
                <c:pt idx="31">
                  <c:v>3.563</c:v>
                </c:pt>
                <c:pt idx="32">
                  <c:v>3.601</c:v>
                </c:pt>
                <c:pt idx="33">
                  <c:v>3.393</c:v>
                </c:pt>
                <c:pt idx="34">
                  <c:v>3.774</c:v>
                </c:pt>
                <c:pt idx="35">
                  <c:v>3.913</c:v>
                </c:pt>
                <c:pt idx="36">
                  <c:v>3.73</c:v>
                </c:pt>
                <c:pt idx="37">
                  <c:v>3.755</c:v>
                </c:pt>
                <c:pt idx="38">
                  <c:v>3.954</c:v>
                </c:pt>
                <c:pt idx="39">
                  <c:v>4.174</c:v>
                </c:pt>
                <c:pt idx="40">
                  <c:v>4.313</c:v>
                </c:pt>
                <c:pt idx="41">
                  <c:v>3.911</c:v>
                </c:pt>
                <c:pt idx="42">
                  <c:v>3.874</c:v>
                </c:pt>
                <c:pt idx="43">
                  <c:v>4.123</c:v>
                </c:pt>
                <c:pt idx="44">
                  <c:v>4.363</c:v>
                </c:pt>
                <c:pt idx="45">
                  <c:v>3.983</c:v>
                </c:pt>
                <c:pt idx="46">
                  <c:v>3.916</c:v>
                </c:pt>
                <c:pt idx="47">
                  <c:v>4.251</c:v>
                </c:pt>
                <c:pt idx="48">
                  <c:v>4.126</c:v>
                </c:pt>
                <c:pt idx="49">
                  <c:v>4.5</c:v>
                </c:pt>
                <c:pt idx="50">
                  <c:v>5.12</c:v>
                </c:pt>
                <c:pt idx="51">
                  <c:v>4.872</c:v>
                </c:pt>
                <c:pt idx="52">
                  <c:v>4.93</c:v>
                </c:pt>
                <c:pt idx="53">
                  <c:v>5.347</c:v>
                </c:pt>
                <c:pt idx="54">
                  <c:v>5.532</c:v>
                </c:pt>
                <c:pt idx="55">
                  <c:v>6.05</c:v>
                </c:pt>
                <c:pt idx="56">
                  <c:v>5.979</c:v>
                </c:pt>
                <c:pt idx="57">
                  <c:v>5.642</c:v>
                </c:pt>
                <c:pt idx="58">
                  <c:v>5.817</c:v>
                </c:pt>
                <c:pt idx="59">
                  <c:v>6.178</c:v>
                </c:pt>
                <c:pt idx="60">
                  <c:v>5.862</c:v>
                </c:pt>
                <c:pt idx="61">
                  <c:v>6.032</c:v>
                </c:pt>
                <c:pt idx="62">
                  <c:v>5.842</c:v>
                </c:pt>
                <c:pt idx="63">
                  <c:v>5.8</c:v>
                </c:pt>
                <c:pt idx="64">
                  <c:v>5.731</c:v>
                </c:pt>
                <c:pt idx="65">
                  <c:v>5.505</c:v>
                </c:pt>
                <c:pt idx="66">
                  <c:v>4.809</c:v>
                </c:pt>
                <c:pt idx="67">
                  <c:v>5.269</c:v>
                </c:pt>
                <c:pt idx="68">
                  <c:v>4.955</c:v>
                </c:pt>
                <c:pt idx="69">
                  <c:v>4.985</c:v>
                </c:pt>
                <c:pt idx="70">
                  <c:v>5.5</c:v>
                </c:pt>
                <c:pt idx="71">
                  <c:v>5.557</c:v>
                </c:pt>
                <c:pt idx="72">
                  <c:v>4.914</c:v>
                </c:pt>
                <c:pt idx="73">
                  <c:v>5.434</c:v>
                </c:pt>
                <c:pt idx="74">
                  <c:v>5.632</c:v>
                </c:pt>
                <c:pt idx="75">
                  <c:v>5.459</c:v>
                </c:pt>
                <c:pt idx="76">
                  <c:v>6.026</c:v>
                </c:pt>
                <c:pt idx="77">
                  <c:v>5.779</c:v>
                </c:pt>
                <c:pt idx="78">
                  <c:v>5.844</c:v>
                </c:pt>
                <c:pt idx="79">
                  <c:v>5.472</c:v>
                </c:pt>
                <c:pt idx="80">
                  <c:v>5.508</c:v>
                </c:pt>
                <c:pt idx="81">
                  <c:v>5.974</c:v>
                </c:pt>
                <c:pt idx="82">
                  <c:v>5.537</c:v>
                </c:pt>
                <c:pt idx="83">
                  <c:v>5.346</c:v>
                </c:pt>
                <c:pt idx="84">
                  <c:v>5.293</c:v>
                </c:pt>
                <c:pt idx="85">
                  <c:v>5.292</c:v>
                </c:pt>
                <c:pt idx="86">
                  <c:v>5.713</c:v>
                </c:pt>
                <c:pt idx="87">
                  <c:v>5.276</c:v>
                </c:pt>
                <c:pt idx="88">
                  <c:v>5.606</c:v>
                </c:pt>
                <c:pt idx="89">
                  <c:v>5.701</c:v>
                </c:pt>
                <c:pt idx="90">
                  <c:v>5.951</c:v>
                </c:pt>
                <c:pt idx="91">
                  <c:v>5.638</c:v>
                </c:pt>
                <c:pt idx="92">
                  <c:v>5.172</c:v>
                </c:pt>
                <c:pt idx="93">
                  <c:v>5.619</c:v>
                </c:pt>
                <c:pt idx="94">
                  <c:v>6.627</c:v>
                </c:pt>
                <c:pt idx="95">
                  <c:v>5.889</c:v>
                </c:pt>
                <c:pt idx="96">
                  <c:v>6.083</c:v>
                </c:pt>
                <c:pt idx="97">
                  <c:v>6.474</c:v>
                </c:pt>
                <c:pt idx="98">
                  <c:v>6.655</c:v>
                </c:pt>
                <c:pt idx="99">
                  <c:v>5.947</c:v>
                </c:pt>
                <c:pt idx="100">
                  <c:v>5.811</c:v>
                </c:pt>
                <c:pt idx="101">
                  <c:v>6.542</c:v>
                </c:pt>
                <c:pt idx="102">
                  <c:v>5.568</c:v>
                </c:pt>
                <c:pt idx="103">
                  <c:v>5.901</c:v>
                </c:pt>
                <c:pt idx="104">
                  <c:v>6.704</c:v>
                </c:pt>
                <c:pt idx="105">
                  <c:v>5.49</c:v>
                </c:pt>
                <c:pt idx="106">
                  <c:v>5.662</c:v>
                </c:pt>
                <c:pt idx="107">
                  <c:v>6.086</c:v>
                </c:pt>
                <c:pt idx="108">
                  <c:v>5.421</c:v>
                </c:pt>
                <c:pt idx="109">
                  <c:v>5.348</c:v>
                </c:pt>
                <c:pt idx="110">
                  <c:v>6.073</c:v>
                </c:pt>
                <c:pt idx="111">
                  <c:v>5.983</c:v>
                </c:pt>
                <c:pt idx="112">
                  <c:v>5.805</c:v>
                </c:pt>
                <c:pt idx="113">
                  <c:v>5.625</c:v>
                </c:pt>
                <c:pt idx="114">
                  <c:v>5.105</c:v>
                </c:pt>
                <c:pt idx="115">
                  <c:v>5.116</c:v>
                </c:pt>
                <c:pt idx="116">
                  <c:v>5.215</c:v>
                </c:pt>
                <c:pt idx="117">
                  <c:v>5.206</c:v>
                </c:pt>
                <c:pt idx="118">
                  <c:v>5.33</c:v>
                </c:pt>
                <c:pt idx="119">
                  <c:v>5.671</c:v>
                </c:pt>
                <c:pt idx="120">
                  <c:v>5.356</c:v>
                </c:pt>
                <c:pt idx="121">
                  <c:v>4.938</c:v>
                </c:pt>
                <c:pt idx="122">
                  <c:v>5.034</c:v>
                </c:pt>
                <c:pt idx="123">
                  <c:v>4.941</c:v>
                </c:pt>
                <c:pt idx="124">
                  <c:v>5.197</c:v>
                </c:pt>
                <c:pt idx="125">
                  <c:v>6.074</c:v>
                </c:pt>
                <c:pt idx="126">
                  <c:v>5.214</c:v>
                </c:pt>
                <c:pt idx="127">
                  <c:v>5.536</c:v>
                </c:pt>
                <c:pt idx="128">
                  <c:v>6.331</c:v>
                </c:pt>
                <c:pt idx="129">
                  <c:v>5.374</c:v>
                </c:pt>
                <c:pt idx="130">
                  <c:v>5.752</c:v>
                </c:pt>
                <c:pt idx="131">
                  <c:v>5.746</c:v>
                </c:pt>
                <c:pt idx="132">
                  <c:v>5.557</c:v>
                </c:pt>
                <c:pt idx="133">
                  <c:v>5.438</c:v>
                </c:pt>
                <c:pt idx="134">
                  <c:v>5.972</c:v>
                </c:pt>
                <c:pt idx="135">
                  <c:v>5.719</c:v>
                </c:pt>
                <c:pt idx="136">
                  <c:v>5.85</c:v>
                </c:pt>
                <c:pt idx="137">
                  <c:v>5.582</c:v>
                </c:pt>
                <c:pt idx="138">
                  <c:v>6.537</c:v>
                </c:pt>
                <c:pt idx="139">
                  <c:v>5.855</c:v>
                </c:pt>
                <c:pt idx="140">
                  <c:v>6.274</c:v>
                </c:pt>
                <c:pt idx="141">
                  <c:v>6.122</c:v>
                </c:pt>
                <c:pt idx="142">
                  <c:v>6.282</c:v>
                </c:pt>
                <c:pt idx="143">
                  <c:v>5.815</c:v>
                </c:pt>
                <c:pt idx="144">
                  <c:v>6.671</c:v>
                </c:pt>
                <c:pt idx="145">
                  <c:v>5.992</c:v>
                </c:pt>
                <c:pt idx="146">
                  <c:v>6.084</c:v>
                </c:pt>
                <c:pt idx="147">
                  <c:v>5.664</c:v>
                </c:pt>
                <c:pt idx="148">
                  <c:v>6.179</c:v>
                </c:pt>
                <c:pt idx="149">
                  <c:v>5.842</c:v>
                </c:pt>
                <c:pt idx="150">
                  <c:v>6.447</c:v>
                </c:pt>
                <c:pt idx="151">
                  <c:v>5.421</c:v>
                </c:pt>
                <c:pt idx="152">
                  <c:v>6.013</c:v>
                </c:pt>
                <c:pt idx="153">
                  <c:v>5.949</c:v>
                </c:pt>
                <c:pt idx="154">
                  <c:v>5.835</c:v>
                </c:pt>
                <c:pt idx="155">
                  <c:v>5.663</c:v>
                </c:pt>
                <c:pt idx="156">
                  <c:v>6.223</c:v>
                </c:pt>
                <c:pt idx="157">
                  <c:v>6.069</c:v>
                </c:pt>
                <c:pt idx="158">
                  <c:v>6.517</c:v>
                </c:pt>
                <c:pt idx="159">
                  <c:v>7.059</c:v>
                </c:pt>
                <c:pt idx="160">
                  <c:v>6.117</c:v>
                </c:pt>
                <c:pt idx="161">
                  <c:v>7.128</c:v>
                </c:pt>
                <c:pt idx="162">
                  <c:v>6.814</c:v>
                </c:pt>
                <c:pt idx="163">
                  <c:v>6.242</c:v>
                </c:pt>
                <c:pt idx="164">
                  <c:v>6.033</c:v>
                </c:pt>
                <c:pt idx="165">
                  <c:v>6.674</c:v>
                </c:pt>
                <c:pt idx="166">
                  <c:v>7.691</c:v>
                </c:pt>
                <c:pt idx="167">
                  <c:v>7.044</c:v>
                </c:pt>
                <c:pt idx="168">
                  <c:v>6.715</c:v>
                </c:pt>
                <c:pt idx="169">
                  <c:v>5.956</c:v>
                </c:pt>
                <c:pt idx="170">
                  <c:v>5.629</c:v>
                </c:pt>
                <c:pt idx="171">
                  <c:v>6.192</c:v>
                </c:pt>
                <c:pt idx="172">
                  <c:v>5.664</c:v>
                </c:pt>
                <c:pt idx="173">
                  <c:v>6.253</c:v>
                </c:pt>
                <c:pt idx="174">
                  <c:v>5.713</c:v>
                </c:pt>
                <c:pt idx="175">
                  <c:v>5.981</c:v>
                </c:pt>
                <c:pt idx="176">
                  <c:v>5.306</c:v>
                </c:pt>
                <c:pt idx="177">
                  <c:v>6.276</c:v>
                </c:pt>
                <c:pt idx="178">
                  <c:v>5.241</c:v>
                </c:pt>
                <c:pt idx="179">
                  <c:v>6.178</c:v>
                </c:pt>
                <c:pt idx="180">
                  <c:v>5.974</c:v>
                </c:pt>
                <c:pt idx="181">
                  <c:v>5.917</c:v>
                </c:pt>
                <c:pt idx="182">
                  <c:v>5.653</c:v>
                </c:pt>
                <c:pt idx="183">
                  <c:v>5.913</c:v>
                </c:pt>
                <c:pt idx="184">
                  <c:v>5.531</c:v>
                </c:pt>
                <c:pt idx="185">
                  <c:v>6.75</c:v>
                </c:pt>
                <c:pt idx="186">
                  <c:v>8.108</c:v>
                </c:pt>
                <c:pt idx="187">
                  <c:v>7.334</c:v>
                </c:pt>
                <c:pt idx="188">
                  <c:v>6.038</c:v>
                </c:pt>
                <c:pt idx="189">
                  <c:v>5.712</c:v>
                </c:pt>
                <c:pt idx="190">
                  <c:v>6.003</c:v>
                </c:pt>
                <c:pt idx="191">
                  <c:v>6.189</c:v>
                </c:pt>
                <c:pt idx="192">
                  <c:v>6.242</c:v>
                </c:pt>
                <c:pt idx="193">
                  <c:v>6.29</c:v>
                </c:pt>
                <c:pt idx="194">
                  <c:v>6.189</c:v>
                </c:pt>
                <c:pt idx="195">
                  <c:v>7.503</c:v>
                </c:pt>
                <c:pt idx="196">
                  <c:v>7.329</c:v>
                </c:pt>
                <c:pt idx="197">
                  <c:v>6.81</c:v>
                </c:pt>
                <c:pt idx="198">
                  <c:v>6.553</c:v>
                </c:pt>
                <c:pt idx="199">
                  <c:v>5.837</c:v>
                </c:pt>
                <c:pt idx="200">
                  <c:v>6.104</c:v>
                </c:pt>
              </c:numCache>
            </c:numRef>
          </c:yVal>
          <c:smooth val="0"/>
        </c:ser>
        <c:axId val="-2128940872"/>
        <c:axId val="-2129643912"/>
      </c:scatterChart>
      <c:valAx>
        <c:axId val="-2128940872"/>
        <c:scaling>
          <c:orientation val="minMax"/>
          <c:max val="200.0"/>
          <c:min val="0.0"/>
        </c:scaling>
        <c:delete val="0"/>
        <c:axPos val="b"/>
        <c:title>
          <c:tx>
            <c:rich>
              <a:bodyPr/>
              <a:lstStyle/>
              <a:p>
                <a:r>
                  <a:rPr sz="1600" b="0" i="0">
                    <a:solidFill>
                      <a:srgbClr val="7F7F7F"/>
                    </a:solidFill>
                    <a:latin typeface="Arimo"/>
                  </a:rPr>
                  <a:t>Generasi</a:t>
                </a:r>
              </a:p>
            </c:rich>
          </c:tx>
          <c:layout/>
          <c:overlay val="0"/>
        </c:title>
        <c:numFmt formatCode="General" sourceLinked="1"/>
        <c:majorTickMark val="out"/>
        <c:minorTickMark val="none"/>
        <c:tickLblPos val="nextTo"/>
        <c:spPr>
          <a:ln>
            <a:solidFill>
              <a:srgbClr val="BFBFBF"/>
            </a:solidFill>
          </a:ln>
        </c:spPr>
        <c:txPr>
          <a:bodyPr/>
          <a:lstStyle/>
          <a:p>
            <a:pPr>
              <a:defRPr sz="1500">
                <a:solidFill>
                  <a:srgbClr val="000000"/>
                </a:solidFill>
              </a:defRPr>
            </a:pPr>
          </a:p>
        </c:txPr>
        <c:crossAx val="-2129643912"/>
        <c:crosses val="autoZero"/>
        <c:crossBetween val="midCat"/>
        <c:majorUnit val="20.0"/>
      </c:valAx>
      <c:valAx>
        <c:axId val="-2129643912"/>
        <c:scaling>
          <c:orientation val="minMax"/>
          <c:max val="60.0"/>
          <c:min val="0.0"/>
        </c:scaling>
        <c:delete val="0"/>
        <c:axPos val="l"/>
        <c:majorGridlines>
          <c:spPr>
            <a:ln>
              <a:solidFill>
                <a:srgbClr val="E4E8EE"/>
              </a:solidFill>
            </a:ln>
          </c:spPr>
        </c:majorGridlines>
        <c:numFmt formatCode="General" sourceLinked="1"/>
        <c:majorTickMark val="out"/>
        <c:minorTickMark val="none"/>
        <c:tickLblPos val="nextTo"/>
        <c:spPr>
          <a:ln>
            <a:noFill/>
          </a:ln>
        </c:spPr>
        <c:txPr>
          <a:bodyPr/>
          <a:lstStyle/>
          <a:p>
            <a:pPr>
              <a:defRPr sz="1400">
                <a:solidFill>
                  <a:srgbClr val="7F7F7F"/>
                </a:solidFill>
              </a:defRPr>
            </a:pPr>
          </a:p>
        </c:txPr>
        <c:crossAx val="-2128940872"/>
        <c:crosses val="autoZero"/>
        <c:crossBetween val="midCat"/>
      </c:valAx>
    </c:plotArea>
    <c:legend>
      <c:legendPos val="b"/>
      <c:layout/>
      <c:overlay val="0"/>
      <c:txPr>
        <a:bodyPr/>
        <a:lstStyle/>
        <a:p>
          <a:pPr>
            <a:defRPr sz="1600"/>
          </a:pPr>
        </a:p>
      </c:txPr>
    </c:legend>
    <c:plotVisOnly val="1"/>
    <c:dispBlanksAs val="gap"/>
    <c:showDLblsOverMax val="0"/>
  </c:chart>
  <c:txPr>
    <a:bodyPr/>
    <a:lstStyle/>
    <a:p>
      <a:pPr>
        <a:defRPr sz="1600">
          <a:latin typeface="Arimo"/>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Fitness rata-rata</c:v>
                </c:pt>
              </c:strCache>
            </c:strRef>
          </c:tx>
          <c:spPr>
            <a:ln w="38100">
              <a:solidFill>
                <a:srgbClr val="01416B"/>
              </a:solidFill>
            </a:ln>
          </c:spPr>
          <c:marker>
            <c:symbol val="circle"/>
            <c:size val="11"/>
            <c:spPr>
              <a:solidFill>
                <a:srgbClr val="01416B"/>
              </a:solidFill>
              <a:ln>
                <a:solidFill>
                  <a:srgbClr val="01416B"/>
                </a:solidFill>
              </a:ln>
            </c:spPr>
          </c:marker>
          <c:dPt>
            <c:idx val="2"/>
            <c:marker>
              <c:symbol val="circle"/>
              <c:size val="15"/>
              <c:spPr>
                <a:solidFill>
                  <a:srgbClr val="FDD402"/>
                </a:solidFill>
                <a:ln>
                  <a:solidFill>
                    <a:srgbClr val="01416B"/>
                  </a:solidFill>
                </a:ln>
              </c:spPr>
            </c:marker>
          </c:dPt>
          <c:dLbls>
            <c:dLbl>
              <c:idx val="0"/>
              <c:tx>
                <c:rich>
                  <a:bodyPr/>
                  <a:lstStyle/>
                  <a:p>
                    <a:r>
                      <a:rPr sz="1500" b="0" i="0">
                        <a:solidFill>
                          <a:srgbClr val="000000"/>
                        </a:solidFill>
                        <a:latin typeface="Arimo"/>
                      </a:rPr>
                      <a:t>18,0</a:t>
                    </a:r>
                  </a:p>
                </c:rich>
              </c:tx>
              <c:dLblPos val="t"/>
              <c:showLegendKey val="0"/>
              <c:showVal val="1"/>
              <c:showCatName val="0"/>
              <c:showSerName val="0"/>
              <c:showPercent val="0"/>
              <c:showBubbleSize val="0"/>
            </c:dLbl>
            <c:dLbl>
              <c:idx val="1"/>
              <c:tx>
                <c:rich>
                  <a:bodyPr/>
                  <a:lstStyle/>
                  <a:p>
                    <a:r>
                      <a:rPr sz="1500" b="0" i="0">
                        <a:solidFill>
                          <a:srgbClr val="000000"/>
                        </a:solidFill>
                        <a:latin typeface="Arimo"/>
                      </a:rPr>
                      <a:t>20,1</a:t>
                    </a:r>
                  </a:p>
                </c:rich>
              </c:tx>
              <c:dLblPos val="t"/>
              <c:showLegendKey val="0"/>
              <c:showVal val="1"/>
              <c:showCatName val="0"/>
              <c:showSerName val="0"/>
              <c:showPercent val="0"/>
              <c:showBubbleSize val="0"/>
            </c:dLbl>
            <c:dLbl>
              <c:idx val="2"/>
              <c:tx>
                <c:rich>
                  <a:bodyPr/>
                  <a:lstStyle/>
                  <a:p>
                    <a:r>
                      <a:rPr sz="1500" b="0" i="0">
                        <a:solidFill>
                          <a:srgbClr val="000000"/>
                        </a:solidFill>
                        <a:latin typeface="Arimo"/>
                      </a:rPr>
                      <a:t>21,5</a:t>
                    </a:r>
                  </a:p>
                </c:rich>
              </c:tx>
              <c:dLblPos val="t"/>
              <c:showLegendKey val="0"/>
              <c:showVal val="1"/>
              <c:showCatName val="0"/>
              <c:showSerName val="0"/>
              <c:showPercent val="0"/>
              <c:showBubbleSize val="0"/>
            </c:dLbl>
            <c:dLbl>
              <c:idx val="3"/>
              <c:tx>
                <c:rich>
                  <a:bodyPr/>
                  <a:lstStyle/>
                  <a:p>
                    <a:r>
                      <a:rPr sz="1500" b="0" i="0">
                        <a:solidFill>
                          <a:srgbClr val="000000"/>
                        </a:solidFill>
                        <a:latin typeface="Arimo"/>
                      </a:rPr>
                      <a:t>24,5</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25</c:v>
                </c:pt>
                <c:pt idx="1">
                  <c:v>50</c:v>
                </c:pt>
                <c:pt idx="2">
                  <c:v>100</c:v>
                </c:pt>
                <c:pt idx="3">
                  <c:v>200</c:v>
                </c:pt>
              </c:strCache>
            </c:strRef>
          </c:cat>
          <c:val>
            <c:numRef>
              <c:f>Sheet1!$B$2:$B$5</c:f>
              <c:numCache>
                <c:formatCode>General</c:formatCode>
                <c:ptCount val="4"/>
                <c:pt idx="0">
                  <c:v>18.04</c:v>
                </c:pt>
                <c:pt idx="1">
                  <c:v>20.08</c:v>
                </c:pt>
                <c:pt idx="2">
                  <c:v>21.54</c:v>
                </c:pt>
                <c:pt idx="3">
                  <c:v>24.53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FBFBF"/>
            </a:solidFill>
          </a:ln>
        </c:spPr>
        <c:txPr>
          <a:bodyPr/>
          <a:lstStyle/>
          <a:p>
            <a:pPr>
              <a:defRPr sz="1500">
                <a:solidFill>
                  <a:srgbClr val="000000"/>
                </a:solidFill>
              </a:defRPr>
            </a:pPr>
          </a:p>
        </c:txPr>
        <c:crossAx val="2140495176"/>
        <c:crosses val="autoZero"/>
        <c:auto val="1"/>
        <c:lblAlgn val="ctr"/>
        <c:lblOffset val="100"/>
        <c:noMultiLvlLbl val="0"/>
      </c:catAx>
      <c:valAx>
        <c:axId val="2140495176"/>
        <c:scaling>
          <c:max val="30.0"/>
          <c:min val="0.0"/>
        </c:scaling>
        <c:delete val="0"/>
        <c:axPos val="l"/>
        <c:majorGridlines>
          <c:spPr>
            <a:ln>
              <a:solidFill>
                <a:srgbClr val="E4E8EE"/>
              </a:solidFill>
            </a:ln>
          </c:spPr>
        </c:majorGridlines>
        <c:majorTickMark val="out"/>
        <c:minorTickMark val="none"/>
        <c:tickLblPos val="nextTo"/>
        <c:spPr>
          <a:ln>
            <a:noFill/>
          </a:ln>
        </c:spPr>
        <c:txPr>
          <a:bodyPr/>
          <a:lstStyle/>
          <a:p>
            <a:pPr>
              <a:defRPr sz="1400">
                <a:solidFill>
                  <a:srgbClr val="7F7F7F"/>
                </a:solidFill>
              </a:defRPr>
            </a:pPr>
          </a:p>
        </c:txPr>
        <c:crossAx val="2118791784"/>
        <c:crosses val="autoZero"/>
      </c:valAx>
    </c:plotArea>
    <c:plotVisOnly val="1"/>
    <c:dispBlanksAs val="gap"/>
    <c:showDLblsOverMax val="0"/>
  </c:chart>
  <c:txPr>
    <a:bodyPr/>
    <a:lstStyle/>
    <a:p>
      <a:pPr>
        <a:defRPr sz="1600">
          <a:latin typeface="Arimo"/>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Fitness rata-rata</c:v>
                </c:pt>
              </c:strCache>
            </c:strRef>
          </c:tx>
          <c:spPr>
            <a:ln w="38100">
              <a:solidFill>
                <a:srgbClr val="01416B"/>
              </a:solidFill>
            </a:ln>
          </c:spPr>
          <c:marker>
            <c:symbol val="circle"/>
            <c:size val="11"/>
            <c:spPr>
              <a:solidFill>
                <a:srgbClr val="01416B"/>
              </a:solidFill>
              <a:ln>
                <a:solidFill>
                  <a:srgbClr val="01416B"/>
                </a:solidFill>
              </a:ln>
            </c:spPr>
          </c:marker>
          <c:dPt>
            <c:idx val="1"/>
            <c:marker>
              <c:symbol val="circle"/>
              <c:size val="15"/>
              <c:spPr>
                <a:solidFill>
                  <a:srgbClr val="FDD402"/>
                </a:solidFill>
                <a:ln>
                  <a:solidFill>
                    <a:srgbClr val="01416B"/>
                  </a:solidFill>
                </a:ln>
              </c:spPr>
            </c:marker>
          </c:dPt>
          <c:dLbls>
            <c:dLbl>
              <c:idx val="0"/>
              <c:tx>
                <c:rich>
                  <a:bodyPr/>
                  <a:lstStyle/>
                  <a:p>
                    <a:r>
                      <a:rPr sz="1500" b="0" i="0">
                        <a:solidFill>
                          <a:srgbClr val="000000"/>
                        </a:solidFill>
                        <a:latin typeface="Arimo"/>
                      </a:rPr>
                      <a:t>20,8</a:t>
                    </a:r>
                  </a:p>
                </c:rich>
              </c:tx>
              <c:dLblPos val="t"/>
              <c:showLegendKey val="0"/>
              <c:showVal val="1"/>
              <c:showCatName val="0"/>
              <c:showSerName val="0"/>
              <c:showPercent val="0"/>
              <c:showBubbleSize val="0"/>
            </c:dLbl>
            <c:dLbl>
              <c:idx val="1"/>
              <c:tx>
                <c:rich>
                  <a:bodyPr/>
                  <a:lstStyle/>
                  <a:p>
                    <a:r>
                      <a:rPr sz="1500" b="0" i="0">
                        <a:solidFill>
                          <a:srgbClr val="000000"/>
                        </a:solidFill>
                        <a:latin typeface="Arimo"/>
                      </a:rPr>
                      <a:t>21,5</a:t>
                    </a:r>
                  </a:p>
                </c:rich>
              </c:tx>
              <c:dLblPos val="t"/>
              <c:showLegendKey val="0"/>
              <c:showVal val="1"/>
              <c:showCatName val="0"/>
              <c:showSerName val="0"/>
              <c:showPercent val="0"/>
              <c:showBubbleSize val="0"/>
            </c:dLbl>
            <c:dLbl>
              <c:idx val="2"/>
              <c:tx>
                <c:rich>
                  <a:bodyPr/>
                  <a:lstStyle/>
                  <a:p>
                    <a:r>
                      <a:rPr sz="1500" b="0" i="0">
                        <a:solidFill>
                          <a:srgbClr val="000000"/>
                        </a:solidFill>
                        <a:latin typeface="Arimo"/>
                      </a:rPr>
                      <a:t>22,6</a:t>
                    </a:r>
                  </a:p>
                </c:rich>
              </c:tx>
              <c:dLblPos val="t"/>
              <c:showLegendKey val="0"/>
              <c:showVal val="1"/>
              <c:showCatName val="0"/>
              <c:showSerName val="0"/>
              <c:showPercent val="0"/>
              <c:showBubbleSize val="0"/>
            </c:dLbl>
            <c:dLbl>
              <c:idx val="3"/>
              <c:tx>
                <c:rich>
                  <a:bodyPr/>
                  <a:lstStyle/>
                  <a:p>
                    <a:r>
                      <a:rPr sz="1500" b="0" i="0">
                        <a:solidFill>
                          <a:srgbClr val="000000"/>
                        </a:solidFill>
                        <a:latin typeface="Arimo"/>
                      </a:rPr>
                      <a:t>14,9</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0,01</c:v>
                </c:pt>
                <c:pt idx="1">
                  <c:v>0,05</c:v>
                </c:pt>
                <c:pt idx="2">
                  <c:v>0,1</c:v>
                </c:pt>
                <c:pt idx="3">
                  <c:v>0,2</c:v>
                </c:pt>
              </c:strCache>
            </c:strRef>
          </c:cat>
          <c:val>
            <c:numRef>
              <c:f>Sheet1!$B$2:$B$5</c:f>
              <c:numCache>
                <c:formatCode>General</c:formatCode>
                <c:ptCount val="4"/>
                <c:pt idx="0">
                  <c:v>20.77</c:v>
                </c:pt>
                <c:pt idx="1">
                  <c:v>21.54</c:v>
                </c:pt>
                <c:pt idx="2">
                  <c:v>22.58</c:v>
                </c:pt>
                <c:pt idx="3">
                  <c:v>14.86</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FBFBF"/>
            </a:solidFill>
          </a:ln>
        </c:spPr>
        <c:txPr>
          <a:bodyPr/>
          <a:lstStyle/>
          <a:p>
            <a:pPr>
              <a:defRPr sz="1500">
                <a:solidFill>
                  <a:srgbClr val="000000"/>
                </a:solidFill>
              </a:defRPr>
            </a:pPr>
          </a:p>
        </c:txPr>
        <c:crossAx val="2140495176"/>
        <c:crosses val="autoZero"/>
        <c:auto val="1"/>
        <c:lblAlgn val="ctr"/>
        <c:lblOffset val="100"/>
        <c:noMultiLvlLbl val="0"/>
      </c:catAx>
      <c:valAx>
        <c:axId val="2140495176"/>
        <c:scaling>
          <c:max val="30.0"/>
          <c:min val="0.0"/>
        </c:scaling>
        <c:delete val="0"/>
        <c:axPos val="l"/>
        <c:majorGridlines>
          <c:spPr>
            <a:ln>
              <a:solidFill>
                <a:srgbClr val="E4E8EE"/>
              </a:solidFill>
            </a:ln>
          </c:spPr>
        </c:majorGridlines>
        <c:majorTickMark val="out"/>
        <c:minorTickMark val="none"/>
        <c:tickLblPos val="nextTo"/>
        <c:spPr>
          <a:ln>
            <a:noFill/>
          </a:ln>
        </c:spPr>
        <c:txPr>
          <a:bodyPr/>
          <a:lstStyle/>
          <a:p>
            <a:pPr>
              <a:defRPr sz="1400">
                <a:solidFill>
                  <a:srgbClr val="7F7F7F"/>
                </a:solidFill>
              </a:defRPr>
            </a:pPr>
          </a:p>
        </c:txPr>
        <c:crossAx val="2118791784"/>
        <c:crosses val="autoZero"/>
      </c:valAx>
    </c:plotArea>
    <c:plotVisOnly val="1"/>
    <c:dispBlanksAs val="gap"/>
    <c:showDLblsOverMax val="0"/>
  </c:chart>
  <c:txPr>
    <a:bodyPr/>
    <a:lstStyle/>
    <a:p>
      <a:pPr>
        <a:defRPr sz="1600">
          <a:latin typeface="Arimo"/>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Fitness rata-rata</c:v>
                </c:pt>
              </c:strCache>
            </c:strRef>
          </c:tx>
          <c:spPr>
            <a:ln w="38100">
              <a:solidFill>
                <a:srgbClr val="01416B"/>
              </a:solidFill>
            </a:ln>
          </c:spPr>
          <c:marker>
            <c:symbol val="circle"/>
            <c:size val="11"/>
            <c:spPr>
              <a:solidFill>
                <a:srgbClr val="01416B"/>
              </a:solidFill>
              <a:ln>
                <a:solidFill>
                  <a:srgbClr val="01416B"/>
                </a:solidFill>
              </a:ln>
            </c:spPr>
          </c:marker>
          <c:dPt>
            <c:idx val="2"/>
            <c:marker>
              <c:symbol val="circle"/>
              <c:size val="15"/>
              <c:spPr>
                <a:solidFill>
                  <a:srgbClr val="FDD402"/>
                </a:solidFill>
                <a:ln>
                  <a:solidFill>
                    <a:srgbClr val="01416B"/>
                  </a:solidFill>
                </a:ln>
              </c:spPr>
            </c:marker>
          </c:dPt>
          <c:dLbls>
            <c:dLbl>
              <c:idx val="0"/>
              <c:tx>
                <c:rich>
                  <a:bodyPr/>
                  <a:lstStyle/>
                  <a:p>
                    <a:r>
                      <a:rPr sz="1500" b="0" i="0">
                        <a:solidFill>
                          <a:srgbClr val="000000"/>
                        </a:solidFill>
                        <a:latin typeface="Arimo"/>
                      </a:rPr>
                      <a:t>24,2</a:t>
                    </a:r>
                  </a:p>
                </c:rich>
              </c:tx>
              <c:dLblPos val="t"/>
              <c:showLegendKey val="0"/>
              <c:showVal val="1"/>
              <c:showCatName val="0"/>
              <c:showSerName val="0"/>
              <c:showPercent val="0"/>
              <c:showBubbleSize val="0"/>
            </c:dLbl>
            <c:dLbl>
              <c:idx val="1"/>
              <c:tx>
                <c:rich>
                  <a:bodyPr/>
                  <a:lstStyle/>
                  <a:p>
                    <a:r>
                      <a:rPr sz="1500" b="0" i="0">
                        <a:solidFill>
                          <a:srgbClr val="000000"/>
                        </a:solidFill>
                        <a:latin typeface="Arimo"/>
                      </a:rPr>
                      <a:t>26,6</a:t>
                    </a:r>
                  </a:p>
                </c:rich>
              </c:tx>
              <c:dLblPos val="t"/>
              <c:showLegendKey val="0"/>
              <c:showVal val="1"/>
              <c:showCatName val="0"/>
              <c:showSerName val="0"/>
              <c:showPercent val="0"/>
              <c:showBubbleSize val="0"/>
            </c:dLbl>
            <c:dLbl>
              <c:idx val="2"/>
              <c:tx>
                <c:rich>
                  <a:bodyPr/>
                  <a:lstStyle/>
                  <a:p>
                    <a:r>
                      <a:rPr sz="1500" b="0" i="0">
                        <a:solidFill>
                          <a:srgbClr val="000000"/>
                        </a:solidFill>
                        <a:latin typeface="Arimo"/>
                      </a:rPr>
                      <a:t>21,5</a:t>
                    </a:r>
                  </a:p>
                </c:rich>
              </c:tx>
              <c:dLblPos val="t"/>
              <c:showLegendKey val="0"/>
              <c:showVal val="1"/>
              <c:showCatName val="0"/>
              <c:showSerName val="0"/>
              <c:showPercent val="0"/>
              <c:showBubbleSize val="0"/>
            </c:dLbl>
            <c:dLbl>
              <c:idx val="3"/>
              <c:tx>
                <c:rich>
                  <a:bodyPr/>
                  <a:lstStyle/>
                  <a:p>
                    <a:r>
                      <a:rPr sz="1500" b="0" i="0">
                        <a:solidFill>
                          <a:srgbClr val="000000"/>
                        </a:solidFill>
                        <a:latin typeface="Arimo"/>
                      </a:rPr>
                      <a:t>23,6</a:t>
                    </a:r>
                  </a:p>
                </c:rich>
              </c:tx>
              <c:dLblPos val="t"/>
              <c:showLegendKey val="0"/>
              <c:showVal val="1"/>
              <c:showCatName val="0"/>
              <c:showSerName val="0"/>
              <c:showPercent val="0"/>
              <c:showBubbleSize val="0"/>
            </c:dLbl>
            <c:showLegendKey val="0"/>
            <c:showVal val="0"/>
            <c:showCatName val="0"/>
            <c:showSerName val="0"/>
            <c:showPercent val="0"/>
            <c:showBubbleSize val="0"/>
            <c:showLeaderLines val="1"/>
          </c:dLbls>
          <c:cat>
            <c:strRef>
              <c:f>Sheet1!$A$2:$A$5</c:f>
              <c:strCache>
                <c:ptCount val="4"/>
                <c:pt idx="0">
                  <c:v>0,4</c:v>
                </c:pt>
                <c:pt idx="1">
                  <c:v>0,6</c:v>
                </c:pt>
                <c:pt idx="2">
                  <c:v>0,8</c:v>
                </c:pt>
                <c:pt idx="3">
                  <c:v>0,95</c:v>
                </c:pt>
              </c:strCache>
            </c:strRef>
          </c:cat>
          <c:val>
            <c:numRef>
              <c:f>Sheet1!$B$2:$B$5</c:f>
              <c:numCache>
                <c:formatCode>General</c:formatCode>
                <c:ptCount val="4"/>
                <c:pt idx="0">
                  <c:v>24.23</c:v>
                </c:pt>
                <c:pt idx="1">
                  <c:v>26.55</c:v>
                </c:pt>
                <c:pt idx="2">
                  <c:v>21.54</c:v>
                </c:pt>
                <c:pt idx="3">
                  <c:v>23.57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BFBFBF"/>
            </a:solidFill>
          </a:ln>
        </c:spPr>
        <c:txPr>
          <a:bodyPr/>
          <a:lstStyle/>
          <a:p>
            <a:pPr>
              <a:defRPr sz="1500">
                <a:solidFill>
                  <a:srgbClr val="000000"/>
                </a:solidFill>
              </a:defRPr>
            </a:pPr>
          </a:p>
        </c:txPr>
        <c:crossAx val="2140495176"/>
        <c:crosses val="autoZero"/>
        <c:auto val="1"/>
        <c:lblAlgn val="ctr"/>
        <c:lblOffset val="100"/>
        <c:noMultiLvlLbl val="0"/>
      </c:catAx>
      <c:valAx>
        <c:axId val="2140495176"/>
        <c:scaling>
          <c:max val="30.0"/>
          <c:min val="0.0"/>
        </c:scaling>
        <c:delete val="0"/>
        <c:axPos val="l"/>
        <c:majorGridlines>
          <c:spPr>
            <a:ln>
              <a:solidFill>
                <a:srgbClr val="E4E8EE"/>
              </a:solidFill>
            </a:ln>
          </c:spPr>
        </c:majorGridlines>
        <c:majorTickMark val="out"/>
        <c:minorTickMark val="none"/>
        <c:tickLblPos val="nextTo"/>
        <c:spPr>
          <a:ln>
            <a:noFill/>
          </a:ln>
        </c:spPr>
        <c:txPr>
          <a:bodyPr/>
          <a:lstStyle/>
          <a:p>
            <a:pPr>
              <a:defRPr sz="1400">
                <a:solidFill>
                  <a:srgbClr val="7F7F7F"/>
                </a:solidFill>
              </a:defRPr>
            </a:pPr>
          </a:p>
        </c:txPr>
        <c:crossAx val="2118791784"/>
        <c:crosses val="autoZero"/>
      </c:valAx>
    </c:plotArea>
    <c:plotVisOnly val="1"/>
    <c:dispBlanksAs val="gap"/>
    <c:showDLblsOverMax val="0"/>
  </c:chart>
  <c:txPr>
    <a:bodyPr/>
    <a:lstStyle/>
    <a:p>
      <a:pPr>
        <a:defRPr sz="1600">
          <a:latin typeface="Arimo"/>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memakai data asli dari repositori paper acuan Qomariyah dan Kazakov 2021: 201 atraksi di Jabodetabek beserta matriks jarak dan waktu tempuh dari Google Maps. Saat diaudit, tujuh atraksi punya jarak yang tidak wajar karena salah geokode dan satu tidak punya rute, jadi kami keluarkan. GA bekerja dengan 193 kandidat. Aplikasinya juga bisa memakai dataset kota lain asalkan formatnya sama.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Masalahnya gabungan dua hal: memilih destinasi dan mengurutkannya. Karena itu kromosom kami punya dua bagian. Mask menandai destinasi yang dipilih, order menyimpan urutan semua kandidat. Rute dibaca dari order, hanya yang mask-nya satu. Pada contoh ini rutenya 4, 3, lalu 1. Keuntungannya, setiap kromosom selalu menghasilkan rute yang sah tanpa destinasi ganda, dan crossover bisa langsung dipakai di masing-masing bagian.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Fitness mengikuti paper acuan: satu dibagi jumlah error biaya dan error durasi. Error dihitung relatif terhadap anggaran dan batas jam supaya rupiah dan jam setara. Rencana valid jika biaya dan durasinya tidak melebihi batas. Kami menambahkan penalti sepuluh kali bila melanggar batas, dan bonus bila destinasinya cocok dengan minat pengguna. Jadi GA mencari titik paling seimbang: memakai anggaran dan waktu sebaik mungkin tanpa melanggarnya.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Ini alur GA kami. Populasi awal 100 individu, 20 persennya dibangun dengan greedy seeding supaya sejak awal sudah ada rencana yang valid. Setiap generasi: seleksi turnamen, crossover dengan peluang 0,8, mutasi 0,05 per destinasi, lalu dua individu terbaik disalin utuh. Proses berhenti setelah 200 generasi atau bila 100 generasi tidak membaik. Keluarannya lima rencana terbaik yang saling berbeda.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Semua ini kami bungkus dalam aplikasi web. Di kiri halaman input: anggaran, jumlah orang, hari, jam per hari, dan bobot minat. Di kanan halaman hasil: lima rencana, peta rute berwarna per hari, rincian biaya, dan jadwal harian. GA berjalan di Web Worker sehingga layar tidak membeku, dan seluruh proses selesai kurang dari satu detik.</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Untuk membuktikan efektivitasnya, GA kami bandingkan dengan greedy termurah dulu, greedy terdekat dulu, dan pencarian acak dengan jumlah evaluasi yang sama, masing-masing 20 kali di tiga skenario. Fitness GA 3,8 sampai 5,9 kali lebih tinggi dari pembanding terbaik. Greedy termurah hanya memakai sekitar 216 ribu dari anggaran satu juta, sedangkan GA memakai 996 ribu dan 33,9 jam dari 35 jam, tanpa melanggar batas.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Grafik ini satu run dengan anggaran satu juta, lima hari kali tujuh jam, dua orang, minat museum dan sejarah. Fitness terbaik naik dari 11,8 menjadi 50,7, atau 4,3 kali, dalam 200 generasi yang hanya butuh 0,36 detik. Garis biru tidak pernah turun karena elitisme menjaga individu terbaik di setiap generasi.</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Kami juga menguji sensitivitas tiga parameter dengan mengubah satu parameter dan menjaga yang lain tetap default. Populasi lebih besar memberi hasil lebih baik dan konsisten, tetapi waktunya naik hampir delapan kali. Mutasi 0,2 terlalu merusak, sedangkan 0,05 paling konsisten. Peluang crossover tidak berpengaruh nyata pada rentang yang diuji.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Kesimpulannya: representasi dua bagian dan fungsi fitness berhasil memodelkan masalah ini. GA terbukti 3,8 sampai 5,9 kali lebih baik dari pembanding terbaik dengan semua rencana valid dan waktu di bawah satu detik. Hasilnya sudah bisa dipakai lewat aplikasi web. Ke depan, kami ingin menambahkan titik awal hotel, jam buka, dan pendekatan multi-objektif.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image" Target="../media/image6.png"/><Relationship Id="rId6"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hyperlink" Target="https://www.bps.go.id/en/pressrelease/2024/10/01/2355/" TargetMode="External"/><Relationship Id="rId4" Type="http://schemas.openxmlformats.org/officeDocument/2006/relationships/hyperlink" Target="https://www.bain.com/insights/e-conomy-sea-2020" TargetMode="External"/><Relationship Id="rId5" Type="http://schemas.openxmlformats.org/officeDocument/2006/relationships/hyperlink" Target="https://services.google.com/fh/files/misc/e_conomy_sea_2024_report.pdf" TargetMode="External"/><Relationship Id="rId6" Type="http://schemas.openxmlformats.org/officeDocument/2006/relationships/hyperlink" Target="https://doi.org/10.1186/s40537-021-00470-6" TargetMode="External"/><Relationship Id="rId7"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hyperlink" Target="https://www.bps.go.id/en/pressrelease/2024/10/01/2355/" TargetMode="External"/><Relationship Id="rId4" Type="http://schemas.openxmlformats.org/officeDocument/2006/relationships/hyperlink" Target="https://www.bain.com/insights/e-conomy-sea-2020" TargetMode="External"/><Relationship Id="rId5" Type="http://schemas.openxmlformats.org/officeDocument/2006/relationships/hyperlink" Target="https://services.google.com/fh/files/misc/e_conomy_sea_2024_report.pdf" TargetMode="External"/><Relationship Id="rId6" Type="http://schemas.openxmlformats.org/officeDocument/2006/relationships/hyperlink" Target="https://doi.org/10.1186/s40537-021-00470-6" TargetMode="External"/><Relationship Id="rId7"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hyperlink" Target="https://www.bps.go.id/en/pressrelease/2024/10/01/2355/" TargetMode="External"/><Relationship Id="rId4" Type="http://schemas.openxmlformats.org/officeDocument/2006/relationships/hyperlink" Target="https://www.bain.com/insights/e-conomy-sea-2020" TargetMode="External"/><Relationship Id="rId5" Type="http://schemas.openxmlformats.org/officeDocument/2006/relationships/hyperlink" Target="https://services.google.com/fh/files/misc/e_conomy_sea_2024_report.pdf" TargetMode="External"/><Relationship Id="rId6" Type="http://schemas.openxmlformats.org/officeDocument/2006/relationships/hyperlink" Target="https://doi.org/10.1186/s40537-021-00470-6" TargetMode="External"/><Relationship Id="rId7"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hyperlink" Target="https://www.bps.go.id/en/pressrelease/2024/10/01/2355/" TargetMode="External"/><Relationship Id="rId4" Type="http://schemas.openxmlformats.org/officeDocument/2006/relationships/hyperlink" Target="https://www.bain.com/insights/e-conomy-sea-2020" TargetMode="External"/><Relationship Id="rId5" Type="http://schemas.openxmlformats.org/officeDocument/2006/relationships/hyperlink" Target="https://services.google.com/fh/files/misc/e_conomy_sea_2024_report.pdf" TargetMode="External"/><Relationship Id="rId6" Type="http://schemas.openxmlformats.org/officeDocument/2006/relationships/hyperlink" Target="https://doi.org/10.1186/s40537-021-00470-6" TargetMode="External"/><Relationship Id="rId7"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hyperlink" Target="https://www.bps.go.id/en/pressrelease/2024/10/01/2355/" TargetMode="External"/><Relationship Id="rId4" Type="http://schemas.openxmlformats.org/officeDocument/2006/relationships/hyperlink" Target="https://www.bain.com/insights/e-conomy-sea-2020" TargetMode="External"/><Relationship Id="rId5" Type="http://schemas.openxmlformats.org/officeDocument/2006/relationships/hyperlink" Target="https://services.google.com/fh/files/misc/e_conomy_sea_2024_report.pdf" TargetMode="External"/><Relationship Id="rId6" Type="http://schemas.openxmlformats.org/officeDocument/2006/relationships/hyperlink" Target="https://doi.org/10.1186/s40537-021-00470-6" TargetMode="External"/><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hyperlink" Target="https://www.bps.go.id/en/pressrelease/2024/10/01/2355/" TargetMode="External"/><Relationship Id="rId4" Type="http://schemas.openxmlformats.org/officeDocument/2006/relationships/hyperlink" Target="https://www.bain.com/insights/e-conomy-sea-2020" TargetMode="External"/><Relationship Id="rId5" Type="http://schemas.openxmlformats.org/officeDocument/2006/relationships/hyperlink" Target="https://services.google.com/fh/files/misc/e_conomy_sea_2024_report.pdf" TargetMode="External"/><Relationship Id="rId6" Type="http://schemas.openxmlformats.org/officeDocument/2006/relationships/hyperlink" Target="https://doi.org/10.1186/s40537-021-00470-6" TargetMode="External"/><Relationship Id="rId7" Type="http://schemas.openxmlformats.org/officeDocument/2006/relationships/chart" Target="../charts/chart1.xml"/><Relationship Id="rId8"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hyperlink" Target="https://www.bps.go.id/en/pressrelease/2024/10/01/2355/" TargetMode="External"/><Relationship Id="rId4" Type="http://schemas.openxmlformats.org/officeDocument/2006/relationships/hyperlink" Target="https://www.bain.com/insights/e-conomy-sea-2020" TargetMode="External"/><Relationship Id="rId5" Type="http://schemas.openxmlformats.org/officeDocument/2006/relationships/hyperlink" Target="https://services.google.com/fh/files/misc/e_conomy_sea_2024_report.pdf" TargetMode="External"/><Relationship Id="rId6" Type="http://schemas.openxmlformats.org/officeDocument/2006/relationships/hyperlink" Target="https://doi.org/10.1186/s40537-021-00470-6" TargetMode="External"/><Relationship Id="rId7" Type="http://schemas.openxmlformats.org/officeDocument/2006/relationships/chart" Target="../charts/chart2.xml"/><Relationship Id="rId8" Type="http://schemas.openxmlformats.org/officeDocument/2006/relationships/notesSlide" Target="../notesSlides/notesSlide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hyperlink" Target="https://www.bps.go.id/en/pressrelease/2024/10/01/2355/" TargetMode="External"/><Relationship Id="rId4" Type="http://schemas.openxmlformats.org/officeDocument/2006/relationships/hyperlink" Target="https://www.bain.com/insights/e-conomy-sea-2020" TargetMode="External"/><Relationship Id="rId5" Type="http://schemas.openxmlformats.org/officeDocument/2006/relationships/hyperlink" Target="https://services.google.com/fh/files/misc/e_conomy_sea_2024_report.pdf" TargetMode="External"/><Relationship Id="rId6" Type="http://schemas.openxmlformats.org/officeDocument/2006/relationships/hyperlink" Target="https://doi.org/10.1186/s40537-021-00470-6" TargetMode="External"/><Relationship Id="rId7" Type="http://schemas.openxmlformats.org/officeDocument/2006/relationships/chart" Target="../charts/chart3.xml"/><Relationship Id="rId8" Type="http://schemas.openxmlformats.org/officeDocument/2006/relationships/chart" Target="../charts/chart4.xml"/><Relationship Id="rId9" Type="http://schemas.openxmlformats.org/officeDocument/2006/relationships/chart" Target="../charts/chart5.xml"/><Relationship Id="rId10" Type="http://schemas.openxmlformats.org/officeDocument/2006/relationships/notesSlide" Target="../notesSlides/notesSlide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hyperlink" Target="https://www.bps.go.id/en/pressrelease/2024/10/01/2355/" TargetMode="External"/><Relationship Id="rId4" Type="http://schemas.openxmlformats.org/officeDocument/2006/relationships/hyperlink" Target="https://www.bain.com/insights/e-conomy-sea-2020" TargetMode="External"/><Relationship Id="rId5" Type="http://schemas.openxmlformats.org/officeDocument/2006/relationships/hyperlink" Target="https://services.google.com/fh/files/misc/e_conomy_sea_2024_report.pdf" TargetMode="External"/><Relationship Id="rId6" Type="http://schemas.openxmlformats.org/officeDocument/2006/relationships/hyperlink" Target="https://doi.org/10.1186/s40537-021-00470-6" TargetMode="External"/><Relationship Id="rId7" Type="http://schemas.openxmlformats.org/officeDocument/2006/relationships/notesSlide" Target="../notesSlides/notesSlide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hyperlink" Target="https://www.bps.go.id/en/pressrelease/2024/10/01/2355/" TargetMode="External"/><Relationship Id="rId4" Type="http://schemas.openxmlformats.org/officeDocument/2006/relationships/hyperlink" Target="https://www.bain.com/insights/e-conomy-sea-2020" TargetMode="External"/><Relationship Id="rId5" Type="http://schemas.openxmlformats.org/officeDocument/2006/relationships/hyperlink" Target="https://services.google.com/fh/files/misc/e_conomy_sea_2024_report.pdf" TargetMode="External"/><Relationship Id="rId6" Type="http://schemas.openxmlformats.org/officeDocument/2006/relationships/hyperlink" Target="https://doi.org/10.1186/s40537-021-00470-6" TargetMode="Externa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01416B"/>
        </a:solidFill>
      </p:bgPr>
    </p:bg>
    <p:spTree>
      <p:nvGrpSpPr>
        <p:cNvPr id="1" name=""/>
        <p:cNvGrpSpPr/>
        <p:nvPr/>
      </p:nvGrpSpPr>
      <p:grpSpPr>
        <a:xfrm>
          <a:off x="0" y="0"/>
          <a:ext cx="0" cy="0"/>
          <a:chOff x="0" y="0"/>
          <a:chExt cx="0" cy="0"/>
        </a:xfrm>
      </p:grpSpPr>
      <p:grpSp>
        <p:nvGrpSpPr>
          <p:cNvPr name="Group 2" id="2"/>
          <p:cNvGrpSpPr/>
          <p:nvPr/>
        </p:nvGrpSpPr>
        <p:grpSpPr>
          <a:xfrm rot="0">
            <a:off x="18029873" y="2508409"/>
            <a:ext cx="266890" cy="7834789"/>
            <a:chOff x="0" y="0"/>
            <a:chExt cx="355854" cy="10446385"/>
          </a:xfrm>
        </p:grpSpPr>
        <p:sp>
          <p:nvSpPr>
            <p:cNvPr name="Freeform 3" id="3"/>
            <p:cNvSpPr/>
            <p:nvPr/>
          </p:nvSpPr>
          <p:spPr>
            <a:xfrm flipH="false" flipV="false" rot="0">
              <a:off x="0" y="0"/>
              <a:ext cx="355854" cy="10446385"/>
            </a:xfrm>
            <a:custGeom>
              <a:avLst/>
              <a:gdLst/>
              <a:ahLst/>
              <a:cxnLst/>
              <a:rect r="r" b="b" t="t" l="l"/>
              <a:pathLst>
                <a:path h="10446385" w="355854">
                  <a:moveTo>
                    <a:pt x="0" y="0"/>
                  </a:moveTo>
                  <a:lnTo>
                    <a:pt x="355854" y="0"/>
                  </a:lnTo>
                  <a:lnTo>
                    <a:pt x="355854" y="10446385"/>
                  </a:lnTo>
                  <a:lnTo>
                    <a:pt x="0" y="10446385"/>
                  </a:lnTo>
                  <a:close/>
                </a:path>
              </a:pathLst>
            </a:custGeom>
            <a:solidFill>
              <a:srgbClr val="FDD402"/>
            </a:solidFill>
          </p:spPr>
        </p:sp>
      </p:grpSp>
      <p:grpSp>
        <p:nvGrpSpPr>
          <p:cNvPr name="Group 4" id="4"/>
          <p:cNvGrpSpPr/>
          <p:nvPr/>
        </p:nvGrpSpPr>
        <p:grpSpPr>
          <a:xfrm rot="0">
            <a:off x="18029873" y="0"/>
            <a:ext cx="266890" cy="2508409"/>
            <a:chOff x="0" y="0"/>
            <a:chExt cx="355854" cy="3344545"/>
          </a:xfrm>
        </p:grpSpPr>
        <p:sp>
          <p:nvSpPr>
            <p:cNvPr name="Freeform 5" id="5"/>
            <p:cNvSpPr/>
            <p:nvPr/>
          </p:nvSpPr>
          <p:spPr>
            <a:xfrm flipH="false" flipV="false" rot="0">
              <a:off x="0" y="0"/>
              <a:ext cx="355854" cy="3344545"/>
            </a:xfrm>
            <a:custGeom>
              <a:avLst/>
              <a:gdLst/>
              <a:ahLst/>
              <a:cxnLst/>
              <a:rect r="r" b="b" t="t" l="l"/>
              <a:pathLst>
                <a:path h="3344545" w="355854">
                  <a:moveTo>
                    <a:pt x="0" y="0"/>
                  </a:moveTo>
                  <a:lnTo>
                    <a:pt x="355854" y="0"/>
                  </a:lnTo>
                  <a:lnTo>
                    <a:pt x="355854" y="3344545"/>
                  </a:lnTo>
                  <a:lnTo>
                    <a:pt x="0" y="3344545"/>
                  </a:lnTo>
                  <a:close/>
                </a:path>
              </a:pathLst>
            </a:custGeom>
            <a:solidFill>
              <a:srgbClr val="FFFFFF"/>
            </a:solidFill>
          </p:spPr>
        </p:sp>
      </p:grpSp>
      <p:sp>
        <p:nvSpPr>
          <p:cNvPr name="TextBox 6" id="6"/>
          <p:cNvSpPr txBox="true"/>
          <p:nvPr/>
        </p:nvSpPr>
        <p:spPr>
          <a:xfrm rot="0">
            <a:off x="833438" y="8660511"/>
            <a:ext cx="4280745" cy="1073058"/>
          </a:xfrm>
          <a:prstGeom prst="rect">
            <a:avLst/>
          </a:prstGeom>
        </p:spPr>
        <p:txBody>
          <a:bodyPr anchor="t" rtlCol="false" tIns="0" lIns="0" bIns="0" rIns="0">
            <a:spAutoFit/>
          </a:bodyPr>
          <a:lstStyle/>
          <a:p>
            <a:pPr algn="l">
              <a:lnSpc>
                <a:spcPts val="3780"/>
              </a:lnSpc>
            </a:pPr>
            <a:r>
              <a:rPr lang="en-US" sz="2100" spc="620">
                <a:solidFill>
                  <a:srgbClr val="FFFFFF"/>
                </a:solidFill>
                <a:latin typeface="Arimo"/>
                <a:ea typeface="Arimo"/>
                <a:cs typeface="Arimo"/>
                <a:sym typeface="Arimo"/>
              </a:rPr>
              <a:t>LOCALLY ROOTED,</a:t>
            </a:r>
          </a:p>
          <a:p>
            <a:pPr algn="l">
              <a:lnSpc>
                <a:spcPts val="3780"/>
              </a:lnSpc>
            </a:pPr>
            <a:r>
              <a:rPr lang="en-US" sz="2100" spc="620">
                <a:solidFill>
                  <a:srgbClr val="FFFFFF"/>
                </a:solidFill>
                <a:latin typeface="Arimo"/>
                <a:ea typeface="Arimo"/>
                <a:cs typeface="Arimo"/>
                <a:sym typeface="Arimo"/>
              </a:rPr>
              <a:t>GLOBALLY RESPECTED</a:t>
            </a:r>
          </a:p>
        </p:txBody>
      </p:sp>
      <p:sp>
        <p:nvSpPr>
          <p:cNvPr name="TextBox 7" id="7"/>
          <p:cNvSpPr txBox="true"/>
          <p:nvPr/>
        </p:nvSpPr>
        <p:spPr>
          <a:xfrm rot="0">
            <a:off x="15706915" y="9191054"/>
            <a:ext cx="1827771" cy="412356"/>
          </a:xfrm>
          <a:prstGeom prst="rect">
            <a:avLst/>
          </a:prstGeom>
        </p:spPr>
        <p:txBody>
          <a:bodyPr anchor="t" rtlCol="false" tIns="0" lIns="0" bIns="0" rIns="0">
            <a:spAutoFit/>
          </a:bodyPr>
          <a:lstStyle/>
          <a:p>
            <a:pPr algn="l">
              <a:lnSpc>
                <a:spcPts val="2700"/>
              </a:lnSpc>
            </a:pPr>
            <a:r>
              <a:rPr lang="en-US" sz="2250" spc="450">
                <a:solidFill>
                  <a:srgbClr val="FFFFFF"/>
                </a:solidFill>
                <a:latin typeface="Arimo"/>
                <a:ea typeface="Arimo"/>
                <a:cs typeface="Arimo"/>
                <a:sym typeface="Arimo"/>
              </a:rPr>
              <a:t>ugm.ac.id</a:t>
            </a:r>
          </a:p>
        </p:txBody>
      </p:sp>
      <p:sp>
        <p:nvSpPr>
          <p:cNvPr name="Freeform 8" id="8"/>
          <p:cNvSpPr/>
          <p:nvPr/>
        </p:nvSpPr>
        <p:spPr>
          <a:xfrm flipH="false" flipV="false" rot="0">
            <a:off x="-3334577" y="705971"/>
            <a:ext cx="9891236" cy="6585109"/>
          </a:xfrm>
          <a:custGeom>
            <a:avLst/>
            <a:gdLst/>
            <a:ahLst/>
            <a:cxnLst/>
            <a:rect r="r" b="b" t="t" l="l"/>
            <a:pathLst>
              <a:path h="6585109" w="9891236">
                <a:moveTo>
                  <a:pt x="0" y="0"/>
                </a:moveTo>
                <a:lnTo>
                  <a:pt x="9891236" y="0"/>
                </a:lnTo>
                <a:lnTo>
                  <a:pt x="9891236" y="6585108"/>
                </a:lnTo>
                <a:lnTo>
                  <a:pt x="0" y="658510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7051959" y="6168959"/>
            <a:ext cx="1733894" cy="48387"/>
            <a:chOff x="0" y="0"/>
            <a:chExt cx="2311859" cy="64516"/>
          </a:xfrm>
        </p:grpSpPr>
        <p:sp>
          <p:nvSpPr>
            <p:cNvPr name="Freeform 10" id="10"/>
            <p:cNvSpPr/>
            <p:nvPr/>
          </p:nvSpPr>
          <p:spPr>
            <a:xfrm flipH="false" flipV="false" rot="0">
              <a:off x="0" y="0"/>
              <a:ext cx="2311859" cy="64516"/>
            </a:xfrm>
            <a:custGeom>
              <a:avLst/>
              <a:gdLst/>
              <a:ahLst/>
              <a:cxnLst/>
              <a:rect r="r" b="b" t="t" l="l"/>
              <a:pathLst>
                <a:path h="64516" w="2311859">
                  <a:moveTo>
                    <a:pt x="0" y="0"/>
                  </a:moveTo>
                  <a:lnTo>
                    <a:pt x="2311859" y="0"/>
                  </a:lnTo>
                  <a:lnTo>
                    <a:pt x="2311859" y="64516"/>
                  </a:lnTo>
                  <a:lnTo>
                    <a:pt x="0" y="64516"/>
                  </a:lnTo>
                  <a:close/>
                </a:path>
              </a:pathLst>
            </a:custGeom>
            <a:solidFill>
              <a:srgbClr val="FDD402"/>
            </a:solidFill>
          </p:spPr>
        </p:sp>
      </p:grpSp>
      <p:sp>
        <p:nvSpPr>
          <p:cNvPr name="TextBox 11" id="11"/>
          <p:cNvSpPr txBox="true"/>
          <p:nvPr/>
        </p:nvSpPr>
        <p:spPr>
          <a:xfrm rot="0">
            <a:off x="7051959" y="3775926"/>
            <a:ext cx="10482728" cy="2085975"/>
          </a:xfrm>
          <a:prstGeom prst="rect">
            <a:avLst/>
          </a:prstGeom>
        </p:spPr>
        <p:txBody>
          <a:bodyPr anchor="t" rtlCol="false" tIns="0" lIns="0" bIns="0" rIns="0">
            <a:spAutoFit/>
          </a:bodyPr>
          <a:lstStyle/>
          <a:p>
            <a:pPr algn="l">
              <a:lnSpc>
                <a:spcPts val="5400"/>
              </a:lnSpc>
            </a:pPr>
            <a:r>
              <a:rPr lang="en-US" sz="4500" b="true">
                <a:solidFill>
                  <a:srgbClr val="FFFFFF"/>
                </a:solidFill>
                <a:latin typeface="Arimo Bold"/>
                <a:ea typeface="Arimo Bold"/>
                <a:cs typeface="Arimo Bold"/>
                <a:sym typeface="Arimo Bold"/>
              </a:rPr>
              <a:t>Optimasi Rekomendasi Rencana Perjalanan Wisata dengan Algoritma Genetika</a:t>
            </a:r>
          </a:p>
        </p:txBody>
      </p:sp>
      <p:sp>
        <p:nvSpPr>
          <p:cNvPr name="TextBox 12" id="12"/>
          <p:cNvSpPr txBox="true"/>
          <p:nvPr/>
        </p:nvSpPr>
        <p:spPr>
          <a:xfrm rot="0">
            <a:off x="7051959" y="3300291"/>
            <a:ext cx="9979775" cy="381001"/>
          </a:xfrm>
          <a:prstGeom prst="rect">
            <a:avLst/>
          </a:prstGeom>
        </p:spPr>
        <p:txBody>
          <a:bodyPr anchor="t" rtlCol="false" tIns="0" lIns="0" bIns="0" rIns="0">
            <a:spAutoFit/>
          </a:bodyPr>
          <a:lstStyle/>
          <a:p>
            <a:pPr algn="l">
              <a:lnSpc>
                <a:spcPts val="3119"/>
              </a:lnSpc>
            </a:pPr>
            <a:r>
              <a:rPr lang="en-US" sz="2100">
                <a:solidFill>
                  <a:srgbClr val="FFFFFF"/>
                </a:solidFill>
                <a:latin typeface="Arimo"/>
                <a:ea typeface="Arimo"/>
                <a:cs typeface="Arimo"/>
                <a:sym typeface="Arimo"/>
              </a:rPr>
              <a:t>Algoritma Genetika (PACS262501)</a:t>
            </a:r>
          </a:p>
        </p:txBody>
      </p:sp>
      <p:sp>
        <p:nvSpPr>
          <p:cNvPr name="TextBox 13" id="13"/>
          <p:cNvSpPr txBox="true"/>
          <p:nvPr/>
        </p:nvSpPr>
        <p:spPr>
          <a:xfrm rot="0">
            <a:off x="7051959" y="6274496"/>
            <a:ext cx="9979775" cy="771621"/>
          </a:xfrm>
          <a:prstGeom prst="rect">
            <a:avLst/>
          </a:prstGeom>
        </p:spPr>
        <p:txBody>
          <a:bodyPr anchor="t" rtlCol="false" tIns="0" lIns="0" bIns="0" rIns="0">
            <a:spAutoFit/>
          </a:bodyPr>
          <a:lstStyle/>
          <a:p>
            <a:pPr algn="l">
              <a:lnSpc>
                <a:spcPts val="3118"/>
              </a:lnSpc>
            </a:pPr>
            <a:r>
              <a:rPr lang="en-US" sz="2100">
                <a:solidFill>
                  <a:srgbClr val="FFFFFF"/>
                </a:solidFill>
                <a:latin typeface="Arimo"/>
                <a:ea typeface="Arimo"/>
                <a:cs typeface="Arimo"/>
                <a:sym typeface="Arimo"/>
              </a:rPr>
              <a:t>Azhar Maulana (24/533487/PA/22582)</a:t>
            </a:r>
          </a:p>
          <a:p>
            <a:pPr algn="l">
              <a:lnSpc>
                <a:spcPts val="3119"/>
              </a:lnSpc>
            </a:pPr>
            <a:r>
              <a:rPr lang="en-US" sz="2100">
                <a:solidFill>
                  <a:srgbClr val="FFFFFF"/>
                </a:solidFill>
                <a:latin typeface="Arimo"/>
                <a:ea typeface="Arimo"/>
                <a:cs typeface="Arimo"/>
                <a:sym typeface="Arimo"/>
              </a:rPr>
              <a:t>Kukuh Agus Hermawan (24/533395/PA/22573)</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1829891"/>
            <a:ext cx="16230600" cy="2822093"/>
            <a:chOff x="0" y="0"/>
            <a:chExt cx="3339630" cy="580678"/>
          </a:xfrm>
        </p:grpSpPr>
        <p:sp>
          <p:nvSpPr>
            <p:cNvPr name="Freeform 4" id="4"/>
            <p:cNvSpPr/>
            <p:nvPr/>
          </p:nvSpPr>
          <p:spPr>
            <a:xfrm flipH="false" flipV="false" rot="0">
              <a:off x="0" y="0"/>
              <a:ext cx="3339629" cy="580678"/>
            </a:xfrm>
            <a:custGeom>
              <a:avLst/>
              <a:gdLst/>
              <a:ahLst/>
              <a:cxnLst/>
              <a:rect r="r" b="b" t="t" l="l"/>
              <a:pathLst>
                <a:path h="580678" w="3339629">
                  <a:moveTo>
                    <a:pt x="3354" y="0"/>
                  </a:moveTo>
                  <a:lnTo>
                    <a:pt x="3336276" y="0"/>
                  </a:lnTo>
                  <a:cubicBezTo>
                    <a:pt x="3338128" y="0"/>
                    <a:pt x="3339629" y="1502"/>
                    <a:pt x="3339629" y="3354"/>
                  </a:cubicBezTo>
                  <a:lnTo>
                    <a:pt x="3339629" y="577324"/>
                  </a:lnTo>
                  <a:cubicBezTo>
                    <a:pt x="3339629" y="578213"/>
                    <a:pt x="3339276" y="579066"/>
                    <a:pt x="3338647" y="579695"/>
                  </a:cubicBezTo>
                  <a:cubicBezTo>
                    <a:pt x="3338018" y="580324"/>
                    <a:pt x="3337165" y="580678"/>
                    <a:pt x="3336276" y="580678"/>
                  </a:cubicBezTo>
                  <a:lnTo>
                    <a:pt x="3354" y="580678"/>
                  </a:lnTo>
                  <a:cubicBezTo>
                    <a:pt x="1502" y="580678"/>
                    <a:pt x="0" y="579176"/>
                    <a:pt x="0" y="577324"/>
                  </a:cubicBezTo>
                  <a:lnTo>
                    <a:pt x="0" y="3354"/>
                  </a:lnTo>
                  <a:cubicBezTo>
                    <a:pt x="0" y="1502"/>
                    <a:pt x="1502" y="0"/>
                    <a:pt x="3354" y="0"/>
                  </a:cubicBezTo>
                  <a:close/>
                </a:path>
              </a:pathLst>
            </a:custGeom>
            <a:ln w="38100" cap="sq">
              <a:solidFill>
                <a:srgbClr val="01416B"/>
              </a:solidFill>
              <a:prstDash val="solid"/>
              <a:miter/>
            </a:ln>
          </p:spPr>
        </p:sp>
        <p:sp>
          <p:nvSpPr>
            <p:cNvPr name="TextBox 5" id="5"/>
            <p:cNvSpPr txBox="true"/>
            <p:nvPr/>
          </p:nvSpPr>
          <p:spPr>
            <a:xfrm>
              <a:off x="0" y="-123825"/>
              <a:ext cx="3339630" cy="704503"/>
            </a:xfrm>
            <a:prstGeom prst="rect">
              <a:avLst/>
            </a:prstGeom>
          </p:spPr>
          <p:txBody>
            <a:bodyPr anchor="ctr" rtlCol="false" tIns="50800" lIns="50800" bIns="50800" rIns="50800"/>
            <a:lstStyle/>
            <a:p>
              <a:pPr algn="ctr">
                <a:lnSpc>
                  <a:spcPts val="3780"/>
                </a:lnSpc>
              </a:pPr>
            </a:p>
          </p:txBody>
        </p:sp>
      </p:grpSp>
      <p:grpSp>
        <p:nvGrpSpPr>
          <p:cNvPr name="Group 6" id="6"/>
          <p:cNvGrpSpPr/>
          <p:nvPr/>
        </p:nvGrpSpPr>
        <p:grpSpPr>
          <a:xfrm rot="0">
            <a:off x="1028700" y="1828180"/>
            <a:ext cx="16230600" cy="458910"/>
            <a:chOff x="0" y="0"/>
            <a:chExt cx="3339630" cy="94426"/>
          </a:xfrm>
        </p:grpSpPr>
        <p:sp>
          <p:nvSpPr>
            <p:cNvPr name="Freeform 7" id="7"/>
            <p:cNvSpPr/>
            <p:nvPr/>
          </p:nvSpPr>
          <p:spPr>
            <a:xfrm flipH="false" flipV="false" rot="0">
              <a:off x="0" y="0"/>
              <a:ext cx="3339629" cy="94426"/>
            </a:xfrm>
            <a:custGeom>
              <a:avLst/>
              <a:gdLst/>
              <a:ahLst/>
              <a:cxnLst/>
              <a:rect r="r" b="b" t="t" l="l"/>
              <a:pathLst>
                <a:path h="94426" w="3339629">
                  <a:moveTo>
                    <a:pt x="3354" y="0"/>
                  </a:moveTo>
                  <a:lnTo>
                    <a:pt x="3336276" y="0"/>
                  </a:lnTo>
                  <a:cubicBezTo>
                    <a:pt x="3338128" y="0"/>
                    <a:pt x="3339629" y="1502"/>
                    <a:pt x="3339629" y="3354"/>
                  </a:cubicBezTo>
                  <a:lnTo>
                    <a:pt x="3339629" y="91072"/>
                  </a:lnTo>
                  <a:cubicBezTo>
                    <a:pt x="3339629" y="92924"/>
                    <a:pt x="3338128" y="94426"/>
                    <a:pt x="3336276" y="94426"/>
                  </a:cubicBezTo>
                  <a:lnTo>
                    <a:pt x="3354" y="94426"/>
                  </a:lnTo>
                  <a:cubicBezTo>
                    <a:pt x="1502" y="94426"/>
                    <a:pt x="0" y="92924"/>
                    <a:pt x="0" y="91072"/>
                  </a:cubicBezTo>
                  <a:lnTo>
                    <a:pt x="0" y="3354"/>
                  </a:lnTo>
                  <a:cubicBezTo>
                    <a:pt x="0" y="1502"/>
                    <a:pt x="1502" y="0"/>
                    <a:pt x="3354" y="0"/>
                  </a:cubicBezTo>
                  <a:close/>
                </a:path>
              </a:pathLst>
            </a:custGeom>
            <a:solidFill>
              <a:srgbClr val="01416B"/>
            </a:solidFill>
          </p:spPr>
        </p:sp>
        <p:sp>
          <p:nvSpPr>
            <p:cNvPr name="TextBox 8" id="8"/>
            <p:cNvSpPr txBox="true"/>
            <p:nvPr/>
          </p:nvSpPr>
          <p:spPr>
            <a:xfrm>
              <a:off x="0" y="-123825"/>
              <a:ext cx="3339630" cy="218251"/>
            </a:xfrm>
            <a:prstGeom prst="rect">
              <a:avLst/>
            </a:prstGeom>
          </p:spPr>
          <p:txBody>
            <a:bodyPr anchor="ctr" rtlCol="false" tIns="50800" lIns="50800" bIns="50800" rIns="50800"/>
            <a:lstStyle/>
            <a:p>
              <a:pPr algn="ctr">
                <a:lnSpc>
                  <a:spcPts val="3780"/>
                </a:lnSpc>
              </a:pPr>
            </a:p>
          </p:txBody>
        </p:sp>
      </p:grpSp>
      <p:sp>
        <p:nvSpPr>
          <p:cNvPr name="AutoShape 9" id="9"/>
          <p:cNvSpPr/>
          <p:nvPr/>
        </p:nvSpPr>
        <p:spPr>
          <a:xfrm>
            <a:off x="4645922" y="2470625"/>
            <a:ext cx="0" cy="1913312"/>
          </a:xfrm>
          <a:prstGeom prst="line">
            <a:avLst/>
          </a:prstGeom>
          <a:ln cap="flat" w="38100">
            <a:solidFill>
              <a:srgbClr val="01416B"/>
            </a:solidFill>
            <a:prstDash val="sysDash"/>
            <a:headEnd type="none" len="sm" w="sm"/>
            <a:tailEnd type="none" len="sm" w="sm"/>
          </a:ln>
        </p:spPr>
      </p:sp>
      <p:sp>
        <p:nvSpPr>
          <p:cNvPr name="AutoShape 10" id="10"/>
          <p:cNvSpPr/>
          <p:nvPr/>
        </p:nvSpPr>
        <p:spPr>
          <a:xfrm>
            <a:off x="8091653" y="2470625"/>
            <a:ext cx="0" cy="1913312"/>
          </a:xfrm>
          <a:prstGeom prst="line">
            <a:avLst/>
          </a:prstGeom>
          <a:ln cap="flat" w="38100">
            <a:solidFill>
              <a:srgbClr val="01416B"/>
            </a:solidFill>
            <a:prstDash val="sysDash"/>
            <a:headEnd type="none" len="sm" w="sm"/>
            <a:tailEnd type="none" len="sm" w="sm"/>
          </a:ln>
        </p:spPr>
      </p:sp>
      <p:sp>
        <p:nvSpPr>
          <p:cNvPr name="AutoShape 11" id="11"/>
          <p:cNvSpPr/>
          <p:nvPr/>
        </p:nvSpPr>
        <p:spPr>
          <a:xfrm>
            <a:off x="12902535" y="2470625"/>
            <a:ext cx="0" cy="1913312"/>
          </a:xfrm>
          <a:prstGeom prst="line">
            <a:avLst/>
          </a:prstGeom>
          <a:ln cap="flat" w="38100">
            <a:solidFill>
              <a:srgbClr val="01416B"/>
            </a:solidFill>
            <a:prstDash val="sysDash"/>
            <a:headEnd type="none" len="sm" w="sm"/>
            <a:tailEnd type="none" len="sm" w="sm"/>
          </a:ln>
        </p:spPr>
      </p:sp>
      <p:grpSp>
        <p:nvGrpSpPr>
          <p:cNvPr name="Group 12" id="12"/>
          <p:cNvGrpSpPr/>
          <p:nvPr/>
        </p:nvGrpSpPr>
        <p:grpSpPr>
          <a:xfrm rot="0">
            <a:off x="1028700" y="4852009"/>
            <a:ext cx="16230600" cy="975847"/>
            <a:chOff x="0" y="0"/>
            <a:chExt cx="3339630" cy="200792"/>
          </a:xfrm>
        </p:grpSpPr>
        <p:sp>
          <p:nvSpPr>
            <p:cNvPr name="Freeform 13" id="13"/>
            <p:cNvSpPr/>
            <p:nvPr/>
          </p:nvSpPr>
          <p:spPr>
            <a:xfrm flipH="false" flipV="false" rot="0">
              <a:off x="0" y="0"/>
              <a:ext cx="3339629" cy="200792"/>
            </a:xfrm>
            <a:custGeom>
              <a:avLst/>
              <a:gdLst/>
              <a:ahLst/>
              <a:cxnLst/>
              <a:rect r="r" b="b" t="t" l="l"/>
              <a:pathLst>
                <a:path h="200792" w="3339629">
                  <a:moveTo>
                    <a:pt x="3354" y="0"/>
                  </a:moveTo>
                  <a:lnTo>
                    <a:pt x="3336276" y="0"/>
                  </a:lnTo>
                  <a:cubicBezTo>
                    <a:pt x="3338128" y="0"/>
                    <a:pt x="3339629" y="1502"/>
                    <a:pt x="3339629" y="3354"/>
                  </a:cubicBezTo>
                  <a:lnTo>
                    <a:pt x="3339629" y="197438"/>
                  </a:lnTo>
                  <a:cubicBezTo>
                    <a:pt x="3339629" y="198327"/>
                    <a:pt x="3339276" y="199180"/>
                    <a:pt x="3338647" y="199809"/>
                  </a:cubicBezTo>
                  <a:cubicBezTo>
                    <a:pt x="3338018" y="200438"/>
                    <a:pt x="3337165" y="200792"/>
                    <a:pt x="3336276" y="200792"/>
                  </a:cubicBezTo>
                  <a:lnTo>
                    <a:pt x="3354" y="200792"/>
                  </a:lnTo>
                  <a:cubicBezTo>
                    <a:pt x="1502" y="200792"/>
                    <a:pt x="0" y="199290"/>
                    <a:pt x="0" y="197438"/>
                  </a:cubicBezTo>
                  <a:lnTo>
                    <a:pt x="0" y="3354"/>
                  </a:lnTo>
                  <a:cubicBezTo>
                    <a:pt x="0" y="1502"/>
                    <a:pt x="1502" y="0"/>
                    <a:pt x="3354" y="0"/>
                  </a:cubicBezTo>
                  <a:close/>
                </a:path>
              </a:pathLst>
            </a:custGeom>
            <a:solidFill>
              <a:srgbClr val="01416B"/>
            </a:solidFill>
          </p:spPr>
        </p:sp>
        <p:sp>
          <p:nvSpPr>
            <p:cNvPr name="TextBox 14" id="14"/>
            <p:cNvSpPr txBox="true"/>
            <p:nvPr/>
          </p:nvSpPr>
          <p:spPr>
            <a:xfrm>
              <a:off x="0" y="-123825"/>
              <a:ext cx="3339630" cy="324617"/>
            </a:xfrm>
            <a:prstGeom prst="rect">
              <a:avLst/>
            </a:prstGeom>
          </p:spPr>
          <p:txBody>
            <a:bodyPr anchor="ctr" rtlCol="false" tIns="50800" lIns="50800" bIns="50800" rIns="50800"/>
            <a:lstStyle/>
            <a:p>
              <a:pPr algn="ctr">
                <a:lnSpc>
                  <a:spcPts val="3780"/>
                </a:lnSpc>
              </a:pPr>
            </a:p>
          </p:txBody>
        </p:sp>
      </p:grpSp>
      <p:grpSp>
        <p:nvGrpSpPr>
          <p:cNvPr name="Group 15" id="15"/>
          <p:cNvGrpSpPr/>
          <p:nvPr/>
        </p:nvGrpSpPr>
        <p:grpSpPr>
          <a:xfrm rot="0">
            <a:off x="6516431" y="4958932"/>
            <a:ext cx="1521784" cy="760892"/>
            <a:chOff x="0" y="0"/>
            <a:chExt cx="812800" cy="406400"/>
          </a:xfrm>
        </p:grpSpPr>
        <p:sp>
          <p:nvSpPr>
            <p:cNvPr name="Freeform 16" id="16"/>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FFFFFF"/>
            </a:solidFill>
          </p:spPr>
        </p:sp>
        <p:sp>
          <p:nvSpPr>
            <p:cNvPr name="TextBox 17" id="17"/>
            <p:cNvSpPr txBox="true"/>
            <p:nvPr/>
          </p:nvSpPr>
          <p:spPr>
            <a:xfrm>
              <a:off x="177800" y="-9525"/>
              <a:ext cx="558800" cy="415925"/>
            </a:xfrm>
            <a:prstGeom prst="rect">
              <a:avLst/>
            </a:prstGeom>
          </p:spPr>
          <p:txBody>
            <a:bodyPr anchor="ctr" rtlCol="false" tIns="50800" lIns="50800" bIns="50800" rIns="50800"/>
            <a:lstStyle/>
            <a:p>
              <a:pPr algn="ctr">
                <a:lnSpc>
                  <a:spcPts val="2400"/>
                </a:lnSpc>
              </a:pPr>
            </a:p>
          </p:txBody>
        </p:sp>
      </p:grpSp>
      <p:sp>
        <p:nvSpPr>
          <p:cNvPr name="TextBox 18" id="18"/>
          <p:cNvSpPr txBox="true"/>
          <p:nvPr/>
        </p:nvSpPr>
        <p:spPr>
          <a:xfrm rot="0">
            <a:off x="8255019" y="4930357"/>
            <a:ext cx="1516503" cy="790575"/>
          </a:xfrm>
          <a:prstGeom prst="rect">
            <a:avLst/>
          </a:prstGeom>
        </p:spPr>
        <p:txBody>
          <a:bodyPr anchor="t" rtlCol="false" tIns="0" lIns="0" bIns="0" rIns="0">
            <a:spAutoFit/>
          </a:bodyPr>
          <a:lstStyle/>
          <a:p>
            <a:pPr algn="l">
              <a:lnSpc>
                <a:spcPts val="6000"/>
              </a:lnSpc>
            </a:pPr>
            <a:r>
              <a:rPr lang="en-US" sz="5000" b="true">
                <a:solidFill>
                  <a:srgbClr val="FDD402"/>
                </a:solidFill>
                <a:latin typeface="Arimo Bold"/>
                <a:ea typeface="Arimo Bold"/>
                <a:cs typeface="Arimo Bold"/>
                <a:sym typeface="Arimo Bold"/>
              </a:rPr>
              <a:t>2024</a:t>
            </a:r>
          </a:p>
        </p:txBody>
      </p:sp>
      <p:sp>
        <p:nvSpPr>
          <p:cNvPr name="TextBox 19" id="19"/>
          <p:cNvSpPr txBox="true"/>
          <p:nvPr/>
        </p:nvSpPr>
        <p:spPr>
          <a:xfrm rot="0">
            <a:off x="9771521" y="5178007"/>
            <a:ext cx="3890503" cy="314325"/>
          </a:xfrm>
          <a:prstGeom prst="rect">
            <a:avLst/>
          </a:prstGeom>
        </p:spPr>
        <p:txBody>
          <a:bodyPr anchor="t" rtlCol="false" tIns="0" lIns="0" bIns="0" rIns="0">
            <a:spAutoFit/>
          </a:bodyPr>
          <a:lstStyle/>
          <a:p>
            <a:pPr algn="just">
              <a:lnSpc>
                <a:spcPts val="2400"/>
              </a:lnSpc>
            </a:pPr>
            <a:r>
              <a:rPr lang="en-US" sz="2000">
                <a:solidFill>
                  <a:srgbClr val="FFFFFF"/>
                </a:solidFill>
                <a:latin typeface="Arimo"/>
                <a:ea typeface="Arimo"/>
                <a:cs typeface="Arimo"/>
                <a:sym typeface="Arimo"/>
              </a:rPr>
              <a:t>Perjalanan online tumbuh pesat</a:t>
            </a:r>
          </a:p>
        </p:txBody>
      </p:sp>
      <p:grpSp>
        <p:nvGrpSpPr>
          <p:cNvPr name="Group 20" id="20"/>
          <p:cNvGrpSpPr/>
          <p:nvPr/>
        </p:nvGrpSpPr>
        <p:grpSpPr>
          <a:xfrm rot="0">
            <a:off x="13352921" y="4958932"/>
            <a:ext cx="1521784" cy="760892"/>
            <a:chOff x="0" y="0"/>
            <a:chExt cx="812800" cy="406400"/>
          </a:xfrm>
        </p:grpSpPr>
        <p:sp>
          <p:nvSpPr>
            <p:cNvPr name="Freeform 21" id="21"/>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FFFFFF"/>
            </a:solidFill>
          </p:spPr>
        </p:sp>
        <p:sp>
          <p:nvSpPr>
            <p:cNvPr name="TextBox 22" id="22"/>
            <p:cNvSpPr txBox="true"/>
            <p:nvPr/>
          </p:nvSpPr>
          <p:spPr>
            <a:xfrm>
              <a:off x="177800" y="-9525"/>
              <a:ext cx="558800" cy="415925"/>
            </a:xfrm>
            <a:prstGeom prst="rect">
              <a:avLst/>
            </a:prstGeom>
          </p:spPr>
          <p:txBody>
            <a:bodyPr anchor="ctr" rtlCol="false" tIns="50800" lIns="50800" bIns="50800" rIns="50800"/>
            <a:lstStyle/>
            <a:p>
              <a:pPr algn="ctr">
                <a:lnSpc>
                  <a:spcPts val="2400"/>
                </a:lnSpc>
              </a:pPr>
            </a:p>
          </p:txBody>
        </p:sp>
      </p:grpSp>
      <p:grpSp>
        <p:nvGrpSpPr>
          <p:cNvPr name="Group 23" id="23"/>
          <p:cNvGrpSpPr/>
          <p:nvPr/>
        </p:nvGrpSpPr>
        <p:grpSpPr>
          <a:xfrm rot="0">
            <a:off x="1015208" y="6132656"/>
            <a:ext cx="16230600" cy="3397754"/>
            <a:chOff x="0" y="0"/>
            <a:chExt cx="3339630" cy="699126"/>
          </a:xfrm>
        </p:grpSpPr>
        <p:sp>
          <p:nvSpPr>
            <p:cNvPr name="Freeform 24" id="24"/>
            <p:cNvSpPr/>
            <p:nvPr/>
          </p:nvSpPr>
          <p:spPr>
            <a:xfrm flipH="false" flipV="false" rot="0">
              <a:off x="0" y="0"/>
              <a:ext cx="3339629" cy="699126"/>
            </a:xfrm>
            <a:custGeom>
              <a:avLst/>
              <a:gdLst/>
              <a:ahLst/>
              <a:cxnLst/>
              <a:rect r="r" b="b" t="t" l="l"/>
              <a:pathLst>
                <a:path h="699126" w="3339629">
                  <a:moveTo>
                    <a:pt x="3354" y="0"/>
                  </a:moveTo>
                  <a:lnTo>
                    <a:pt x="3336276" y="0"/>
                  </a:lnTo>
                  <a:cubicBezTo>
                    <a:pt x="3338128" y="0"/>
                    <a:pt x="3339629" y="1502"/>
                    <a:pt x="3339629" y="3354"/>
                  </a:cubicBezTo>
                  <a:lnTo>
                    <a:pt x="3339629" y="695772"/>
                  </a:lnTo>
                  <a:cubicBezTo>
                    <a:pt x="3339629" y="697625"/>
                    <a:pt x="3338128" y="699126"/>
                    <a:pt x="3336276" y="699126"/>
                  </a:cubicBezTo>
                  <a:lnTo>
                    <a:pt x="3354" y="699126"/>
                  </a:lnTo>
                  <a:cubicBezTo>
                    <a:pt x="1502" y="699126"/>
                    <a:pt x="0" y="697625"/>
                    <a:pt x="0" y="695772"/>
                  </a:cubicBezTo>
                  <a:lnTo>
                    <a:pt x="0" y="3354"/>
                  </a:lnTo>
                  <a:cubicBezTo>
                    <a:pt x="0" y="1502"/>
                    <a:pt x="1502" y="0"/>
                    <a:pt x="3354" y="0"/>
                  </a:cubicBezTo>
                  <a:close/>
                </a:path>
              </a:pathLst>
            </a:custGeom>
            <a:ln w="38100" cap="sq">
              <a:solidFill>
                <a:srgbClr val="01416B"/>
              </a:solidFill>
              <a:prstDash val="solid"/>
              <a:miter/>
            </a:ln>
          </p:spPr>
        </p:sp>
        <p:sp>
          <p:nvSpPr>
            <p:cNvPr name="TextBox 25" id="25"/>
            <p:cNvSpPr txBox="true"/>
            <p:nvPr/>
          </p:nvSpPr>
          <p:spPr>
            <a:xfrm>
              <a:off x="0" y="-123825"/>
              <a:ext cx="3339630" cy="822951"/>
            </a:xfrm>
            <a:prstGeom prst="rect">
              <a:avLst/>
            </a:prstGeom>
          </p:spPr>
          <p:txBody>
            <a:bodyPr anchor="ctr" rtlCol="false" tIns="50800" lIns="50800" bIns="50800" rIns="50800"/>
            <a:lstStyle/>
            <a:p>
              <a:pPr algn="ctr">
                <a:lnSpc>
                  <a:spcPts val="3780"/>
                </a:lnSpc>
              </a:pPr>
            </a:p>
          </p:txBody>
        </p:sp>
      </p:grpSp>
      <p:sp>
        <p:nvSpPr>
          <p:cNvPr name="Freeform 26" id="26"/>
          <p:cNvSpPr/>
          <p:nvPr/>
        </p:nvSpPr>
        <p:spPr>
          <a:xfrm flipH="false" flipV="false" rot="0">
            <a:off x="1177473" y="6330140"/>
            <a:ext cx="2860509" cy="870667"/>
          </a:xfrm>
          <a:custGeom>
            <a:avLst/>
            <a:gdLst/>
            <a:ahLst/>
            <a:cxnLst/>
            <a:rect r="r" b="b" t="t" l="l"/>
            <a:pathLst>
              <a:path h="870667" w="2860509">
                <a:moveTo>
                  <a:pt x="0" y="0"/>
                </a:moveTo>
                <a:lnTo>
                  <a:pt x="2860509" y="0"/>
                </a:lnTo>
                <a:lnTo>
                  <a:pt x="2860509" y="870667"/>
                </a:lnTo>
                <a:lnTo>
                  <a:pt x="0" y="870667"/>
                </a:lnTo>
                <a:lnTo>
                  <a:pt x="0" y="0"/>
                </a:lnTo>
                <a:close/>
              </a:path>
            </a:pathLst>
          </a:custGeom>
          <a:blipFill>
            <a:blip r:embed="rId3"/>
            <a:stretch>
              <a:fillRect l="0" t="0" r="0" b="0"/>
            </a:stretch>
          </a:blipFill>
        </p:spPr>
      </p:sp>
      <p:sp>
        <p:nvSpPr>
          <p:cNvPr name="Freeform 27" id="27"/>
          <p:cNvSpPr/>
          <p:nvPr/>
        </p:nvSpPr>
        <p:spPr>
          <a:xfrm flipH="false" flipV="false" rot="0">
            <a:off x="4449702" y="6361256"/>
            <a:ext cx="2659613" cy="1049656"/>
          </a:xfrm>
          <a:custGeom>
            <a:avLst/>
            <a:gdLst/>
            <a:ahLst/>
            <a:cxnLst/>
            <a:rect r="r" b="b" t="t" l="l"/>
            <a:pathLst>
              <a:path h="1049656" w="2659613">
                <a:moveTo>
                  <a:pt x="0" y="0"/>
                </a:moveTo>
                <a:lnTo>
                  <a:pt x="2659613" y="0"/>
                </a:lnTo>
                <a:lnTo>
                  <a:pt x="2659613" y="1049655"/>
                </a:lnTo>
                <a:lnTo>
                  <a:pt x="0" y="1049655"/>
                </a:lnTo>
                <a:lnTo>
                  <a:pt x="0" y="0"/>
                </a:lnTo>
                <a:close/>
              </a:path>
            </a:pathLst>
          </a:custGeom>
          <a:blipFill>
            <a:blip r:embed="rId4"/>
            <a:stretch>
              <a:fillRect l="0" t="-21967" r="0" b="-20558"/>
            </a:stretch>
          </a:blipFill>
        </p:spPr>
      </p:sp>
      <p:sp>
        <p:nvSpPr>
          <p:cNvPr name="Freeform 28" id="28"/>
          <p:cNvSpPr/>
          <p:nvPr/>
        </p:nvSpPr>
        <p:spPr>
          <a:xfrm flipH="false" flipV="false" rot="0">
            <a:off x="2159403" y="7391307"/>
            <a:ext cx="2228614" cy="1593920"/>
          </a:xfrm>
          <a:custGeom>
            <a:avLst/>
            <a:gdLst/>
            <a:ahLst/>
            <a:cxnLst/>
            <a:rect r="r" b="b" t="t" l="l"/>
            <a:pathLst>
              <a:path h="1593920" w="2228614">
                <a:moveTo>
                  <a:pt x="0" y="0"/>
                </a:moveTo>
                <a:lnTo>
                  <a:pt x="2228613" y="0"/>
                </a:lnTo>
                <a:lnTo>
                  <a:pt x="2228613" y="1593920"/>
                </a:lnTo>
                <a:lnTo>
                  <a:pt x="0" y="1593920"/>
                </a:lnTo>
                <a:lnTo>
                  <a:pt x="0" y="0"/>
                </a:lnTo>
                <a:close/>
              </a:path>
            </a:pathLst>
          </a:custGeom>
          <a:blipFill>
            <a:blip r:embed="rId5"/>
            <a:stretch>
              <a:fillRect l="-39106" t="-48015" r="-41457" b="-41333"/>
            </a:stretch>
          </a:blipFill>
        </p:spPr>
      </p:sp>
      <p:sp>
        <p:nvSpPr>
          <p:cNvPr name="Freeform 29" id="29"/>
          <p:cNvSpPr/>
          <p:nvPr/>
        </p:nvSpPr>
        <p:spPr>
          <a:xfrm flipH="false" flipV="false" rot="0">
            <a:off x="4388016" y="7505607"/>
            <a:ext cx="1162642" cy="1162642"/>
          </a:xfrm>
          <a:custGeom>
            <a:avLst/>
            <a:gdLst/>
            <a:ahLst/>
            <a:cxnLst/>
            <a:rect r="r" b="b" t="t" l="l"/>
            <a:pathLst>
              <a:path h="1162642" w="1162642">
                <a:moveTo>
                  <a:pt x="0" y="0"/>
                </a:moveTo>
                <a:lnTo>
                  <a:pt x="1162642" y="0"/>
                </a:lnTo>
                <a:lnTo>
                  <a:pt x="1162642" y="1162642"/>
                </a:lnTo>
                <a:lnTo>
                  <a:pt x="0" y="1162642"/>
                </a:lnTo>
                <a:lnTo>
                  <a:pt x="0" y="0"/>
                </a:lnTo>
                <a:close/>
              </a:path>
            </a:pathLst>
          </a:custGeom>
          <a:blipFill>
            <a:blip r:embed="rId6"/>
            <a:stretch>
              <a:fillRect l="0" t="0" r="0" b="0"/>
            </a:stretch>
          </a:blipFill>
        </p:spPr>
      </p:sp>
      <p:sp>
        <p:nvSpPr>
          <p:cNvPr name="TextBox 30" id="30"/>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Digitalisasi Membuat Rekomendasi Kian Dibutuhkan</a:t>
            </a:r>
          </a:p>
        </p:txBody>
      </p:sp>
      <p:sp>
        <p:nvSpPr>
          <p:cNvPr name="TextBox 31" id="31"/>
          <p:cNvSpPr txBox="true"/>
          <p:nvPr/>
        </p:nvSpPr>
        <p:spPr>
          <a:xfrm rot="0">
            <a:off x="1300414" y="2450362"/>
            <a:ext cx="2737568" cy="790575"/>
          </a:xfrm>
          <a:prstGeom prst="rect">
            <a:avLst/>
          </a:prstGeom>
        </p:spPr>
        <p:txBody>
          <a:bodyPr anchor="t" rtlCol="false" tIns="0" lIns="0" bIns="0" rIns="0">
            <a:spAutoFit/>
          </a:bodyPr>
          <a:lstStyle/>
          <a:p>
            <a:pPr algn="ctr">
              <a:lnSpc>
                <a:spcPts val="6000"/>
              </a:lnSpc>
            </a:pPr>
            <a:r>
              <a:rPr lang="en-US" b="true" sz="5000">
                <a:solidFill>
                  <a:srgbClr val="01416B"/>
                </a:solidFill>
                <a:latin typeface="Arimo Bold"/>
                <a:ea typeface="Arimo Bold"/>
                <a:cs typeface="Arimo Bold"/>
                <a:sym typeface="Arimo Bold"/>
              </a:rPr>
              <a:t>400 Juta</a:t>
            </a:r>
          </a:p>
        </p:txBody>
      </p:sp>
      <p:sp>
        <p:nvSpPr>
          <p:cNvPr name="TextBox 32" id="32"/>
          <p:cNvSpPr txBox="true"/>
          <p:nvPr/>
        </p:nvSpPr>
        <p:spPr>
          <a:xfrm rot="0">
            <a:off x="1177473" y="1810841"/>
            <a:ext cx="15906069" cy="476250"/>
          </a:xfrm>
          <a:prstGeom prst="rect">
            <a:avLst/>
          </a:prstGeom>
        </p:spPr>
        <p:txBody>
          <a:bodyPr anchor="t" rtlCol="false" tIns="0" lIns="0" bIns="0" rIns="0">
            <a:spAutoFit/>
          </a:bodyPr>
          <a:lstStyle/>
          <a:p>
            <a:pPr algn="ctr">
              <a:lnSpc>
                <a:spcPts val="3600"/>
              </a:lnSpc>
            </a:pPr>
            <a:r>
              <a:rPr lang="en-US" sz="3000" b="true">
                <a:solidFill>
                  <a:srgbClr val="FFFFFF"/>
                </a:solidFill>
                <a:latin typeface="Arimo Bold"/>
                <a:ea typeface="Arimo Bold"/>
                <a:cs typeface="Arimo Bold"/>
                <a:sym typeface="Arimo Bold"/>
              </a:rPr>
              <a:t>Konteks dan Mengapa Penting?</a:t>
            </a:r>
          </a:p>
        </p:txBody>
      </p:sp>
      <p:sp>
        <p:nvSpPr>
          <p:cNvPr name="TextBox 33" id="33"/>
          <p:cNvSpPr txBox="true"/>
          <p:nvPr/>
        </p:nvSpPr>
        <p:spPr>
          <a:xfrm rot="0">
            <a:off x="1300414" y="3231412"/>
            <a:ext cx="2737568" cy="9239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(+40 juta baru) pengguna internet aktif Asia Tenggara, 2020</a:t>
            </a:r>
          </a:p>
        </p:txBody>
      </p:sp>
      <p:sp>
        <p:nvSpPr>
          <p:cNvPr name="TextBox 34" id="34"/>
          <p:cNvSpPr txBox="true"/>
          <p:nvPr/>
        </p:nvSpPr>
        <p:spPr>
          <a:xfrm rot="0">
            <a:off x="1300414" y="4136287"/>
            <a:ext cx="2737568" cy="247650"/>
          </a:xfrm>
          <a:prstGeom prst="rect">
            <a:avLst/>
          </a:prstGeom>
        </p:spPr>
        <p:txBody>
          <a:bodyPr anchor="t" rtlCol="false" tIns="0" lIns="0" bIns="0" rIns="0">
            <a:spAutoFit/>
          </a:bodyPr>
          <a:lstStyle/>
          <a:p>
            <a:pPr algn="ctr">
              <a:lnSpc>
                <a:spcPts val="1800"/>
              </a:lnSpc>
            </a:pPr>
            <a:r>
              <a:rPr lang="en-US" sz="1500" i="true">
                <a:solidFill>
                  <a:srgbClr val="A6A6A6"/>
                </a:solidFill>
                <a:latin typeface="Arimo Italics"/>
                <a:ea typeface="Arimo Italics"/>
                <a:cs typeface="Arimo Italics"/>
                <a:sym typeface="Arimo Italics"/>
              </a:rPr>
              <a:t>e-Conomy SEA, 2020</a:t>
            </a:r>
          </a:p>
        </p:txBody>
      </p:sp>
      <p:sp>
        <p:nvSpPr>
          <p:cNvPr name="TextBox 35" id="35"/>
          <p:cNvSpPr txBox="true"/>
          <p:nvPr/>
        </p:nvSpPr>
        <p:spPr>
          <a:xfrm rot="0">
            <a:off x="5001659" y="2442050"/>
            <a:ext cx="2737568" cy="790575"/>
          </a:xfrm>
          <a:prstGeom prst="rect">
            <a:avLst/>
          </a:prstGeom>
        </p:spPr>
        <p:txBody>
          <a:bodyPr anchor="t" rtlCol="false" tIns="0" lIns="0" bIns="0" rIns="0">
            <a:spAutoFit/>
          </a:bodyPr>
          <a:lstStyle/>
          <a:p>
            <a:pPr algn="ctr">
              <a:lnSpc>
                <a:spcPts val="6000"/>
              </a:lnSpc>
            </a:pPr>
            <a:r>
              <a:rPr lang="en-US" b="true" sz="5000">
                <a:solidFill>
                  <a:srgbClr val="01416B"/>
                </a:solidFill>
                <a:latin typeface="Arimo Bold"/>
                <a:ea typeface="Arimo Bold"/>
                <a:cs typeface="Arimo Bold"/>
                <a:sym typeface="Arimo Bold"/>
              </a:rPr>
              <a:t>94% </a:t>
            </a:r>
          </a:p>
        </p:txBody>
      </p:sp>
      <p:sp>
        <p:nvSpPr>
          <p:cNvPr name="TextBox 36" id="36"/>
          <p:cNvSpPr txBox="true"/>
          <p:nvPr/>
        </p:nvSpPr>
        <p:spPr>
          <a:xfrm rot="0">
            <a:off x="5001659" y="3223100"/>
            <a:ext cx="2737568" cy="9239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berniat tetap memakai layanan digital setelah pandemi berakhir </a:t>
            </a:r>
          </a:p>
        </p:txBody>
      </p:sp>
      <p:sp>
        <p:nvSpPr>
          <p:cNvPr name="TextBox 37" id="37"/>
          <p:cNvSpPr txBox="true"/>
          <p:nvPr/>
        </p:nvSpPr>
        <p:spPr>
          <a:xfrm rot="0">
            <a:off x="5001659" y="4145812"/>
            <a:ext cx="2737568" cy="247650"/>
          </a:xfrm>
          <a:prstGeom prst="rect">
            <a:avLst/>
          </a:prstGeom>
        </p:spPr>
        <p:txBody>
          <a:bodyPr anchor="t" rtlCol="false" tIns="0" lIns="0" bIns="0" rIns="0">
            <a:spAutoFit/>
          </a:bodyPr>
          <a:lstStyle/>
          <a:p>
            <a:pPr algn="ctr">
              <a:lnSpc>
                <a:spcPts val="1800"/>
              </a:lnSpc>
            </a:pPr>
            <a:r>
              <a:rPr lang="en-US" sz="1500" i="true">
                <a:solidFill>
                  <a:srgbClr val="B4B4B4"/>
                </a:solidFill>
                <a:latin typeface="Arimo Italics"/>
                <a:ea typeface="Arimo Italics"/>
                <a:cs typeface="Arimo Italics"/>
                <a:sym typeface="Arimo Italics"/>
              </a:rPr>
              <a:t>e-Conomy SEA, 2020</a:t>
            </a:r>
          </a:p>
        </p:txBody>
      </p:sp>
      <p:sp>
        <p:nvSpPr>
          <p:cNvPr name="TextBox 38" id="38"/>
          <p:cNvSpPr txBox="true"/>
          <p:nvPr/>
        </p:nvSpPr>
        <p:spPr>
          <a:xfrm rot="0">
            <a:off x="8444078" y="2458541"/>
            <a:ext cx="4106032" cy="790575"/>
          </a:xfrm>
          <a:prstGeom prst="rect">
            <a:avLst/>
          </a:prstGeom>
        </p:spPr>
        <p:txBody>
          <a:bodyPr anchor="t" rtlCol="false" tIns="0" lIns="0" bIns="0" rIns="0">
            <a:spAutoFit/>
          </a:bodyPr>
          <a:lstStyle/>
          <a:p>
            <a:pPr algn="ctr">
              <a:lnSpc>
                <a:spcPts val="6000"/>
              </a:lnSpc>
            </a:pPr>
            <a:r>
              <a:rPr lang="en-US" sz="5000" b="true">
                <a:solidFill>
                  <a:srgbClr val="01416B"/>
                </a:solidFill>
                <a:latin typeface="Arimo Bold"/>
                <a:ea typeface="Arimo Bold"/>
                <a:cs typeface="Arimo Bold"/>
                <a:sym typeface="Arimo Bold"/>
              </a:rPr>
              <a:t>US$9 Miliar</a:t>
            </a:r>
          </a:p>
        </p:txBody>
      </p:sp>
      <p:sp>
        <p:nvSpPr>
          <p:cNvPr name="TextBox 39" id="39"/>
          <p:cNvSpPr txBox="true"/>
          <p:nvPr/>
        </p:nvSpPr>
        <p:spPr>
          <a:xfrm rot="0">
            <a:off x="8444078" y="3223100"/>
            <a:ext cx="4106032" cy="6191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GMV sektor perjalanan online Indonesia, tumbuh </a:t>
            </a:r>
            <a:r>
              <a:rPr lang="en-US" sz="2000">
                <a:solidFill>
                  <a:srgbClr val="FF3131"/>
                </a:solidFill>
                <a:latin typeface="Arimo"/>
                <a:ea typeface="Arimo"/>
                <a:cs typeface="Arimo"/>
                <a:sym typeface="Arimo"/>
              </a:rPr>
              <a:t>24%</a:t>
            </a:r>
            <a:r>
              <a:rPr lang="en-US" sz="2000">
                <a:solidFill>
                  <a:srgbClr val="000000"/>
                </a:solidFill>
                <a:latin typeface="Arimo"/>
                <a:ea typeface="Arimo"/>
                <a:cs typeface="Arimo"/>
                <a:sym typeface="Arimo"/>
              </a:rPr>
              <a:t> YoY (2024)</a:t>
            </a:r>
          </a:p>
        </p:txBody>
      </p:sp>
      <p:sp>
        <p:nvSpPr>
          <p:cNvPr name="TextBox 40" id="40"/>
          <p:cNvSpPr txBox="true"/>
          <p:nvPr/>
        </p:nvSpPr>
        <p:spPr>
          <a:xfrm rot="0">
            <a:off x="8913319" y="4145812"/>
            <a:ext cx="2737568" cy="247650"/>
          </a:xfrm>
          <a:prstGeom prst="rect">
            <a:avLst/>
          </a:prstGeom>
        </p:spPr>
        <p:txBody>
          <a:bodyPr anchor="t" rtlCol="false" tIns="0" lIns="0" bIns="0" rIns="0">
            <a:spAutoFit/>
          </a:bodyPr>
          <a:lstStyle/>
          <a:p>
            <a:pPr algn="ctr">
              <a:lnSpc>
                <a:spcPts val="1800"/>
              </a:lnSpc>
            </a:pPr>
            <a:r>
              <a:rPr lang="en-US" sz="1500" i="true">
                <a:solidFill>
                  <a:srgbClr val="B4B4B4"/>
                </a:solidFill>
                <a:latin typeface="Arimo Italics"/>
                <a:ea typeface="Arimo Italics"/>
                <a:cs typeface="Arimo Italics"/>
                <a:sym typeface="Arimo Italics"/>
              </a:rPr>
              <a:t>e-Conomy SEA, 2024</a:t>
            </a:r>
          </a:p>
        </p:txBody>
      </p:sp>
      <p:sp>
        <p:nvSpPr>
          <p:cNvPr name="TextBox 41" id="41"/>
          <p:cNvSpPr txBox="true"/>
          <p:nvPr/>
        </p:nvSpPr>
        <p:spPr>
          <a:xfrm rot="0">
            <a:off x="13254960" y="2458541"/>
            <a:ext cx="3828583" cy="790575"/>
          </a:xfrm>
          <a:prstGeom prst="rect">
            <a:avLst/>
          </a:prstGeom>
        </p:spPr>
        <p:txBody>
          <a:bodyPr anchor="t" rtlCol="false" tIns="0" lIns="0" bIns="0" rIns="0">
            <a:spAutoFit/>
          </a:bodyPr>
          <a:lstStyle/>
          <a:p>
            <a:pPr algn="ctr">
              <a:lnSpc>
                <a:spcPts val="6000"/>
              </a:lnSpc>
            </a:pPr>
            <a:r>
              <a:rPr lang="en-US" sz="5000" b="true">
                <a:solidFill>
                  <a:srgbClr val="01416B"/>
                </a:solidFill>
                <a:latin typeface="Arimo Bold"/>
                <a:ea typeface="Arimo Bold"/>
                <a:cs typeface="Arimo Bold"/>
                <a:sym typeface="Arimo Bold"/>
              </a:rPr>
              <a:t>674,6 Juta</a:t>
            </a:r>
          </a:p>
        </p:txBody>
      </p:sp>
      <p:sp>
        <p:nvSpPr>
          <p:cNvPr name="TextBox 42" id="42"/>
          <p:cNvSpPr txBox="true"/>
          <p:nvPr/>
        </p:nvSpPr>
        <p:spPr>
          <a:xfrm rot="0">
            <a:off x="13153268" y="3239591"/>
            <a:ext cx="3812231" cy="9239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perjalanan wisatawan nusantara Jan-Ags 2024, tumbuh </a:t>
            </a:r>
            <a:r>
              <a:rPr lang="en-US" sz="2000">
                <a:solidFill>
                  <a:srgbClr val="FF3131"/>
                </a:solidFill>
                <a:latin typeface="Arimo"/>
                <a:ea typeface="Arimo"/>
                <a:cs typeface="Arimo"/>
                <a:sym typeface="Arimo"/>
              </a:rPr>
              <a:t>19,2%</a:t>
            </a:r>
            <a:r>
              <a:rPr lang="en-US" sz="2000">
                <a:solidFill>
                  <a:srgbClr val="000000"/>
                </a:solidFill>
                <a:latin typeface="Arimo"/>
                <a:ea typeface="Arimo"/>
                <a:cs typeface="Arimo"/>
                <a:sym typeface="Arimo"/>
              </a:rPr>
              <a:t> YoY</a:t>
            </a:r>
          </a:p>
        </p:txBody>
      </p:sp>
      <p:sp>
        <p:nvSpPr>
          <p:cNvPr name="TextBox 43" id="43"/>
          <p:cNvSpPr txBox="true"/>
          <p:nvPr/>
        </p:nvSpPr>
        <p:spPr>
          <a:xfrm rot="0">
            <a:off x="13690600" y="4136287"/>
            <a:ext cx="2737568" cy="247650"/>
          </a:xfrm>
          <a:prstGeom prst="rect">
            <a:avLst/>
          </a:prstGeom>
        </p:spPr>
        <p:txBody>
          <a:bodyPr anchor="t" rtlCol="false" tIns="0" lIns="0" bIns="0" rIns="0">
            <a:spAutoFit/>
          </a:bodyPr>
          <a:lstStyle/>
          <a:p>
            <a:pPr algn="ctr">
              <a:lnSpc>
                <a:spcPts val="1800"/>
              </a:lnSpc>
            </a:pPr>
            <a:r>
              <a:rPr lang="en-US" sz="1500" i="true">
                <a:solidFill>
                  <a:srgbClr val="B4B4B4"/>
                </a:solidFill>
                <a:latin typeface="Arimo Italics"/>
                <a:ea typeface="Arimo Italics"/>
                <a:cs typeface="Arimo Italics"/>
                <a:sym typeface="Arimo Italics"/>
              </a:rPr>
              <a:t>BPS, 2024</a:t>
            </a:r>
          </a:p>
        </p:txBody>
      </p:sp>
      <p:sp>
        <p:nvSpPr>
          <p:cNvPr name="TextBox 44" id="44"/>
          <p:cNvSpPr txBox="true"/>
          <p:nvPr/>
        </p:nvSpPr>
        <p:spPr>
          <a:xfrm rot="0">
            <a:off x="1177473" y="4930357"/>
            <a:ext cx="1640498" cy="790575"/>
          </a:xfrm>
          <a:prstGeom prst="rect">
            <a:avLst/>
          </a:prstGeom>
        </p:spPr>
        <p:txBody>
          <a:bodyPr anchor="t" rtlCol="false" tIns="0" lIns="0" bIns="0" rIns="0">
            <a:spAutoFit/>
          </a:bodyPr>
          <a:lstStyle/>
          <a:p>
            <a:pPr algn="l">
              <a:lnSpc>
                <a:spcPts val="6000"/>
              </a:lnSpc>
            </a:pPr>
            <a:r>
              <a:rPr lang="en-US" sz="5000" b="true">
                <a:solidFill>
                  <a:srgbClr val="FDD402"/>
                </a:solidFill>
                <a:latin typeface="Arimo Bold"/>
                <a:ea typeface="Arimo Bold"/>
                <a:cs typeface="Arimo Bold"/>
                <a:sym typeface="Arimo Bold"/>
              </a:rPr>
              <a:t>2020</a:t>
            </a:r>
          </a:p>
        </p:txBody>
      </p:sp>
      <p:sp>
        <p:nvSpPr>
          <p:cNvPr name="TextBox 45" id="45"/>
          <p:cNvSpPr txBox="true"/>
          <p:nvPr/>
        </p:nvSpPr>
        <p:spPr>
          <a:xfrm rot="0">
            <a:off x="2722722" y="5178007"/>
            <a:ext cx="3890503" cy="314325"/>
          </a:xfrm>
          <a:prstGeom prst="rect">
            <a:avLst/>
          </a:prstGeom>
        </p:spPr>
        <p:txBody>
          <a:bodyPr anchor="t" rtlCol="false" tIns="0" lIns="0" bIns="0" rIns="0">
            <a:spAutoFit/>
          </a:bodyPr>
          <a:lstStyle/>
          <a:p>
            <a:pPr algn="just">
              <a:lnSpc>
                <a:spcPts val="2400"/>
              </a:lnSpc>
            </a:pPr>
            <a:r>
              <a:rPr lang="en-US" sz="2000">
                <a:solidFill>
                  <a:srgbClr val="FFFFFF"/>
                </a:solidFill>
                <a:latin typeface="Arimo"/>
                <a:ea typeface="Arimo"/>
                <a:cs typeface="Arimo"/>
                <a:sym typeface="Arimo"/>
              </a:rPr>
              <a:t>Pandemi memicu lonjakan digital</a:t>
            </a:r>
          </a:p>
        </p:txBody>
      </p:sp>
      <p:sp>
        <p:nvSpPr>
          <p:cNvPr name="TextBox 46" id="46"/>
          <p:cNvSpPr txBox="true"/>
          <p:nvPr/>
        </p:nvSpPr>
        <p:spPr>
          <a:xfrm rot="0">
            <a:off x="14993494" y="4948853"/>
            <a:ext cx="2090049" cy="765175"/>
          </a:xfrm>
          <a:prstGeom prst="rect">
            <a:avLst/>
          </a:prstGeom>
        </p:spPr>
        <p:txBody>
          <a:bodyPr anchor="t" rtlCol="false" tIns="0" lIns="0" bIns="0" rIns="0">
            <a:spAutoFit/>
          </a:bodyPr>
          <a:lstStyle/>
          <a:p>
            <a:pPr algn="l">
              <a:lnSpc>
                <a:spcPts val="2000"/>
              </a:lnSpc>
            </a:pPr>
            <a:r>
              <a:rPr lang="en-US" sz="2000">
                <a:solidFill>
                  <a:srgbClr val="FFFFFF"/>
                </a:solidFill>
                <a:latin typeface="Arimo"/>
                <a:ea typeface="Arimo"/>
                <a:cs typeface="Arimo"/>
                <a:sym typeface="Arimo"/>
              </a:rPr>
              <a:t>Rekomendasi yang tepat kian dibutuhkan</a:t>
            </a:r>
          </a:p>
        </p:txBody>
      </p:sp>
      <p:sp>
        <p:nvSpPr>
          <p:cNvPr name="TextBox 47" id="47"/>
          <p:cNvSpPr txBox="true"/>
          <p:nvPr/>
        </p:nvSpPr>
        <p:spPr>
          <a:xfrm rot="0">
            <a:off x="1300414" y="8801599"/>
            <a:ext cx="5808901" cy="6191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Berbagai aplikasi membuktikan sistem </a:t>
            </a:r>
            <a:r>
              <a:rPr lang="en-US" sz="2000">
                <a:solidFill>
                  <a:srgbClr val="FF3131"/>
                </a:solidFill>
                <a:latin typeface="Arimo"/>
                <a:ea typeface="Arimo"/>
                <a:cs typeface="Arimo"/>
                <a:sym typeface="Arimo"/>
              </a:rPr>
              <a:t>rekomendasi = keunggulan kompetitif</a:t>
            </a:r>
          </a:p>
        </p:txBody>
      </p:sp>
      <p:grpSp>
        <p:nvGrpSpPr>
          <p:cNvPr name="Group 48" id="48"/>
          <p:cNvGrpSpPr/>
          <p:nvPr/>
        </p:nvGrpSpPr>
        <p:grpSpPr>
          <a:xfrm rot="0">
            <a:off x="7461740" y="6532706"/>
            <a:ext cx="1521784" cy="760892"/>
            <a:chOff x="0" y="0"/>
            <a:chExt cx="812800" cy="406400"/>
          </a:xfrm>
        </p:grpSpPr>
        <p:sp>
          <p:nvSpPr>
            <p:cNvPr name="Freeform 49" id="49"/>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1416B"/>
            </a:solidFill>
          </p:spPr>
        </p:sp>
        <p:sp>
          <p:nvSpPr>
            <p:cNvPr name="TextBox 50" id="50"/>
            <p:cNvSpPr txBox="true"/>
            <p:nvPr/>
          </p:nvSpPr>
          <p:spPr>
            <a:xfrm>
              <a:off x="177800" y="-9525"/>
              <a:ext cx="558800" cy="415925"/>
            </a:xfrm>
            <a:prstGeom prst="rect">
              <a:avLst/>
            </a:prstGeom>
          </p:spPr>
          <p:txBody>
            <a:bodyPr anchor="ctr" rtlCol="false" tIns="50800" lIns="50800" bIns="50800" rIns="50800"/>
            <a:lstStyle/>
            <a:p>
              <a:pPr algn="ctr">
                <a:lnSpc>
                  <a:spcPts val="2400"/>
                </a:lnSpc>
              </a:pPr>
            </a:p>
          </p:txBody>
        </p:sp>
      </p:grpSp>
      <p:grpSp>
        <p:nvGrpSpPr>
          <p:cNvPr name="Group 51" id="51"/>
          <p:cNvGrpSpPr/>
          <p:nvPr/>
        </p:nvGrpSpPr>
        <p:grpSpPr>
          <a:xfrm rot="0">
            <a:off x="7461740" y="7484098"/>
            <a:ext cx="1521784" cy="760892"/>
            <a:chOff x="0" y="0"/>
            <a:chExt cx="812800" cy="406400"/>
          </a:xfrm>
        </p:grpSpPr>
        <p:sp>
          <p:nvSpPr>
            <p:cNvPr name="Freeform 52" id="52"/>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1416B"/>
            </a:solidFill>
          </p:spPr>
        </p:sp>
        <p:sp>
          <p:nvSpPr>
            <p:cNvPr name="TextBox 53" id="53"/>
            <p:cNvSpPr txBox="true"/>
            <p:nvPr/>
          </p:nvSpPr>
          <p:spPr>
            <a:xfrm>
              <a:off x="177800" y="-9525"/>
              <a:ext cx="558800" cy="415925"/>
            </a:xfrm>
            <a:prstGeom prst="rect">
              <a:avLst/>
            </a:prstGeom>
          </p:spPr>
          <p:txBody>
            <a:bodyPr anchor="ctr" rtlCol="false" tIns="50800" lIns="50800" bIns="50800" rIns="50800"/>
            <a:lstStyle/>
            <a:p>
              <a:pPr algn="ctr">
                <a:lnSpc>
                  <a:spcPts val="2400"/>
                </a:lnSpc>
              </a:pPr>
            </a:p>
          </p:txBody>
        </p:sp>
      </p:grpSp>
      <p:grpSp>
        <p:nvGrpSpPr>
          <p:cNvPr name="Group 54" id="54"/>
          <p:cNvGrpSpPr/>
          <p:nvPr/>
        </p:nvGrpSpPr>
        <p:grpSpPr>
          <a:xfrm rot="0">
            <a:off x="7461740" y="8435490"/>
            <a:ext cx="1521784" cy="760892"/>
            <a:chOff x="0" y="0"/>
            <a:chExt cx="812800" cy="406400"/>
          </a:xfrm>
        </p:grpSpPr>
        <p:sp>
          <p:nvSpPr>
            <p:cNvPr name="Freeform 55" id="55"/>
            <p:cNvSpPr/>
            <p:nvPr/>
          </p:nvSpPr>
          <p:spPr>
            <a:xfrm flipH="false" flipV="false" rot="0">
              <a:off x="0" y="0"/>
              <a:ext cx="812800" cy="406400"/>
            </a:xfrm>
            <a:custGeom>
              <a:avLst/>
              <a:gdLst/>
              <a:ahLst/>
              <a:cxnLst/>
              <a:rect r="r" b="b" t="t" l="l"/>
              <a:pathLst>
                <a:path h="406400" w="812800">
                  <a:moveTo>
                    <a:pt x="0" y="0"/>
                  </a:moveTo>
                  <a:lnTo>
                    <a:pt x="609600" y="0"/>
                  </a:lnTo>
                  <a:lnTo>
                    <a:pt x="812800" y="203200"/>
                  </a:lnTo>
                  <a:lnTo>
                    <a:pt x="609600" y="406400"/>
                  </a:lnTo>
                  <a:lnTo>
                    <a:pt x="0" y="406400"/>
                  </a:lnTo>
                  <a:lnTo>
                    <a:pt x="203200" y="203200"/>
                  </a:lnTo>
                  <a:lnTo>
                    <a:pt x="0" y="0"/>
                  </a:lnTo>
                  <a:close/>
                </a:path>
              </a:pathLst>
            </a:custGeom>
            <a:solidFill>
              <a:srgbClr val="01416B"/>
            </a:solidFill>
          </p:spPr>
        </p:sp>
        <p:sp>
          <p:nvSpPr>
            <p:cNvPr name="TextBox 56" id="56"/>
            <p:cNvSpPr txBox="true"/>
            <p:nvPr/>
          </p:nvSpPr>
          <p:spPr>
            <a:xfrm>
              <a:off x="177800" y="-9525"/>
              <a:ext cx="558800" cy="415925"/>
            </a:xfrm>
            <a:prstGeom prst="rect">
              <a:avLst/>
            </a:prstGeom>
          </p:spPr>
          <p:txBody>
            <a:bodyPr anchor="ctr" rtlCol="false" tIns="50800" lIns="50800" bIns="50800" rIns="50800"/>
            <a:lstStyle/>
            <a:p>
              <a:pPr algn="ctr">
                <a:lnSpc>
                  <a:spcPts val="2400"/>
                </a:lnSpc>
              </a:pPr>
            </a:p>
          </p:txBody>
        </p:sp>
      </p:grpSp>
      <p:sp>
        <p:nvSpPr>
          <p:cNvPr name="TextBox 57" id="57"/>
          <p:cNvSpPr txBox="true"/>
          <p:nvPr/>
        </p:nvSpPr>
        <p:spPr>
          <a:xfrm rot="0">
            <a:off x="9188761" y="6436902"/>
            <a:ext cx="7058013" cy="476250"/>
          </a:xfrm>
          <a:prstGeom prst="rect">
            <a:avLst/>
          </a:prstGeom>
        </p:spPr>
        <p:txBody>
          <a:bodyPr anchor="t" rtlCol="false" tIns="0" lIns="0" bIns="0" rIns="0">
            <a:spAutoFit/>
          </a:bodyPr>
          <a:lstStyle/>
          <a:p>
            <a:pPr algn="l">
              <a:lnSpc>
                <a:spcPts val="3600"/>
              </a:lnSpc>
            </a:pPr>
            <a:r>
              <a:rPr lang="en-US" sz="3000" b="true">
                <a:solidFill>
                  <a:srgbClr val="01416B"/>
                </a:solidFill>
                <a:latin typeface="Arimo Bold"/>
                <a:ea typeface="Arimo Bold"/>
                <a:cs typeface="Arimo Bold"/>
                <a:sym typeface="Arimo Bold"/>
              </a:rPr>
              <a:t>Saatnya Bidang Pariwisata Mencoba</a:t>
            </a:r>
          </a:p>
        </p:txBody>
      </p:sp>
      <p:sp>
        <p:nvSpPr>
          <p:cNvPr name="TextBox 58" id="58"/>
          <p:cNvSpPr txBox="true"/>
          <p:nvPr/>
        </p:nvSpPr>
        <p:spPr>
          <a:xfrm rot="0">
            <a:off x="9393099" y="7110668"/>
            <a:ext cx="2737568" cy="12287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Wisatawan akan hemat waktu dan tenaga untuk mencari dan keputusan lebih tepat</a:t>
            </a:r>
          </a:p>
        </p:txBody>
      </p:sp>
      <p:grpSp>
        <p:nvGrpSpPr>
          <p:cNvPr name="Group 59" id="59"/>
          <p:cNvGrpSpPr/>
          <p:nvPr/>
        </p:nvGrpSpPr>
        <p:grpSpPr>
          <a:xfrm rot="0">
            <a:off x="12669127" y="7059389"/>
            <a:ext cx="3559016" cy="1340809"/>
            <a:chOff x="0" y="0"/>
            <a:chExt cx="732308" cy="275887"/>
          </a:xfrm>
        </p:grpSpPr>
        <p:sp>
          <p:nvSpPr>
            <p:cNvPr name="Freeform 60" id="60"/>
            <p:cNvSpPr/>
            <p:nvPr/>
          </p:nvSpPr>
          <p:spPr>
            <a:xfrm flipH="false" flipV="false" rot="0">
              <a:off x="0" y="0"/>
              <a:ext cx="732308" cy="275887"/>
            </a:xfrm>
            <a:custGeom>
              <a:avLst/>
              <a:gdLst/>
              <a:ahLst/>
              <a:cxnLst/>
              <a:rect r="r" b="b" t="t" l="l"/>
              <a:pathLst>
                <a:path h="275887" w="732308">
                  <a:moveTo>
                    <a:pt x="15295" y="0"/>
                  </a:moveTo>
                  <a:lnTo>
                    <a:pt x="717013" y="0"/>
                  </a:lnTo>
                  <a:cubicBezTo>
                    <a:pt x="725460" y="0"/>
                    <a:pt x="732308" y="6848"/>
                    <a:pt x="732308" y="15295"/>
                  </a:cubicBezTo>
                  <a:lnTo>
                    <a:pt x="732308" y="260592"/>
                  </a:lnTo>
                  <a:cubicBezTo>
                    <a:pt x="732308" y="269039"/>
                    <a:pt x="725460" y="275887"/>
                    <a:pt x="717013" y="275887"/>
                  </a:cubicBezTo>
                  <a:lnTo>
                    <a:pt x="15295" y="275887"/>
                  </a:lnTo>
                  <a:cubicBezTo>
                    <a:pt x="6848" y="275887"/>
                    <a:pt x="0" y="269039"/>
                    <a:pt x="0" y="260592"/>
                  </a:cubicBezTo>
                  <a:lnTo>
                    <a:pt x="0" y="15295"/>
                  </a:lnTo>
                  <a:cubicBezTo>
                    <a:pt x="0" y="6848"/>
                    <a:pt x="6848" y="0"/>
                    <a:pt x="15295" y="0"/>
                  </a:cubicBezTo>
                  <a:close/>
                </a:path>
              </a:pathLst>
            </a:custGeom>
            <a:ln w="38100" cap="sq">
              <a:solidFill>
                <a:srgbClr val="01416B"/>
              </a:solidFill>
              <a:prstDash val="dash"/>
              <a:miter/>
            </a:ln>
          </p:spPr>
        </p:sp>
        <p:sp>
          <p:nvSpPr>
            <p:cNvPr name="TextBox 61" id="61"/>
            <p:cNvSpPr txBox="true"/>
            <p:nvPr/>
          </p:nvSpPr>
          <p:spPr>
            <a:xfrm>
              <a:off x="0" y="-123825"/>
              <a:ext cx="732308" cy="399712"/>
            </a:xfrm>
            <a:prstGeom prst="rect">
              <a:avLst/>
            </a:prstGeom>
          </p:spPr>
          <p:txBody>
            <a:bodyPr anchor="ctr" rtlCol="false" tIns="50800" lIns="50800" bIns="50800" rIns="50800"/>
            <a:lstStyle/>
            <a:p>
              <a:pPr algn="ctr">
                <a:lnSpc>
                  <a:spcPts val="3780"/>
                </a:lnSpc>
              </a:pPr>
            </a:p>
          </p:txBody>
        </p:sp>
      </p:grpSp>
      <p:sp>
        <p:nvSpPr>
          <p:cNvPr name="TextBox 62" id="62"/>
          <p:cNvSpPr txBox="true"/>
          <p:nvPr/>
        </p:nvSpPr>
        <p:spPr>
          <a:xfrm rot="0">
            <a:off x="12799108" y="7191282"/>
            <a:ext cx="3140834" cy="9239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Mendorong pemulihan dan pertumbuhan sektor wisata di Indonesia</a:t>
            </a:r>
          </a:p>
        </p:txBody>
      </p:sp>
      <p:grpSp>
        <p:nvGrpSpPr>
          <p:cNvPr name="Group 63" id="63"/>
          <p:cNvGrpSpPr/>
          <p:nvPr/>
        </p:nvGrpSpPr>
        <p:grpSpPr>
          <a:xfrm rot="0">
            <a:off x="9188761" y="7050993"/>
            <a:ext cx="3270815" cy="1340809"/>
            <a:chOff x="0" y="0"/>
            <a:chExt cx="673007" cy="275887"/>
          </a:xfrm>
        </p:grpSpPr>
        <p:sp>
          <p:nvSpPr>
            <p:cNvPr name="Freeform 64" id="64"/>
            <p:cNvSpPr/>
            <p:nvPr/>
          </p:nvSpPr>
          <p:spPr>
            <a:xfrm flipH="false" flipV="false" rot="0">
              <a:off x="0" y="0"/>
              <a:ext cx="673007" cy="275887"/>
            </a:xfrm>
            <a:custGeom>
              <a:avLst/>
              <a:gdLst/>
              <a:ahLst/>
              <a:cxnLst/>
              <a:rect r="r" b="b" t="t" l="l"/>
              <a:pathLst>
                <a:path h="275887" w="673007">
                  <a:moveTo>
                    <a:pt x="16643" y="0"/>
                  </a:moveTo>
                  <a:lnTo>
                    <a:pt x="656364" y="0"/>
                  </a:lnTo>
                  <a:cubicBezTo>
                    <a:pt x="665556" y="0"/>
                    <a:pt x="673007" y="7451"/>
                    <a:pt x="673007" y="16643"/>
                  </a:cubicBezTo>
                  <a:lnTo>
                    <a:pt x="673007" y="259244"/>
                  </a:lnTo>
                  <a:cubicBezTo>
                    <a:pt x="673007" y="268435"/>
                    <a:pt x="665556" y="275887"/>
                    <a:pt x="656364" y="275887"/>
                  </a:cubicBezTo>
                  <a:lnTo>
                    <a:pt x="16643" y="275887"/>
                  </a:lnTo>
                  <a:cubicBezTo>
                    <a:pt x="7451" y="275887"/>
                    <a:pt x="0" y="268435"/>
                    <a:pt x="0" y="259244"/>
                  </a:cubicBezTo>
                  <a:lnTo>
                    <a:pt x="0" y="16643"/>
                  </a:lnTo>
                  <a:cubicBezTo>
                    <a:pt x="0" y="7451"/>
                    <a:pt x="7451" y="0"/>
                    <a:pt x="16643" y="0"/>
                  </a:cubicBezTo>
                  <a:close/>
                </a:path>
              </a:pathLst>
            </a:custGeom>
            <a:ln w="38100" cap="sq">
              <a:solidFill>
                <a:srgbClr val="01416B"/>
              </a:solidFill>
              <a:prstDash val="dash"/>
              <a:miter/>
            </a:ln>
          </p:spPr>
        </p:sp>
        <p:sp>
          <p:nvSpPr>
            <p:cNvPr name="TextBox 65" id="65"/>
            <p:cNvSpPr txBox="true"/>
            <p:nvPr/>
          </p:nvSpPr>
          <p:spPr>
            <a:xfrm>
              <a:off x="0" y="-123825"/>
              <a:ext cx="673007" cy="399712"/>
            </a:xfrm>
            <a:prstGeom prst="rect">
              <a:avLst/>
            </a:prstGeom>
          </p:spPr>
          <p:txBody>
            <a:bodyPr anchor="ctr" rtlCol="false" tIns="50800" lIns="50800" bIns="50800" rIns="50800"/>
            <a:lstStyle/>
            <a:p>
              <a:pPr algn="ctr">
                <a:lnSpc>
                  <a:spcPts val="3780"/>
                </a:lnSpc>
              </a:pPr>
            </a:p>
          </p:txBody>
        </p:sp>
      </p:grpSp>
      <p:sp>
        <p:nvSpPr>
          <p:cNvPr name="TextBox 66" id="66"/>
          <p:cNvSpPr txBox="true"/>
          <p:nvPr/>
        </p:nvSpPr>
        <p:spPr>
          <a:xfrm rot="0">
            <a:off x="9188761" y="8639674"/>
            <a:ext cx="7058013" cy="476250"/>
          </a:xfrm>
          <a:prstGeom prst="rect">
            <a:avLst/>
          </a:prstGeom>
        </p:spPr>
        <p:txBody>
          <a:bodyPr anchor="t" rtlCol="false" tIns="0" lIns="0" bIns="0" rIns="0">
            <a:spAutoFit/>
          </a:bodyPr>
          <a:lstStyle/>
          <a:p>
            <a:pPr algn="l">
              <a:lnSpc>
                <a:spcPts val="3600"/>
              </a:lnSpc>
            </a:pPr>
            <a:r>
              <a:rPr lang="en-US" sz="3000" b="true">
                <a:solidFill>
                  <a:srgbClr val="01416B"/>
                </a:solidFill>
                <a:latin typeface="Arimo Bold"/>
                <a:ea typeface="Arimo Bold"/>
                <a:cs typeface="Arimo Bold"/>
                <a:sym typeface="Arimo Bold"/>
              </a:rPr>
              <a:t>Namun.... </a:t>
            </a:r>
            <a:r>
              <a:rPr lang="en-US" sz="3000" b="true">
                <a:solidFill>
                  <a:srgbClr val="FF3131"/>
                </a:solidFill>
                <a:latin typeface="Arimo Bold"/>
                <a:ea typeface="Arimo Bold"/>
                <a:cs typeface="Arimo Bold"/>
                <a:sym typeface="Arimo Bold"/>
              </a:rPr>
              <a:t>Terdapat Masalah</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2057400" y="3518913"/>
            <a:ext cx="3827371" cy="295275"/>
            <a:chOff x="0" y="0"/>
            <a:chExt cx="787525" cy="60756"/>
          </a:xfrm>
        </p:grpSpPr>
        <p:sp>
          <p:nvSpPr>
            <p:cNvPr name="Freeform 4" id="4"/>
            <p:cNvSpPr/>
            <p:nvPr/>
          </p:nvSpPr>
          <p:spPr>
            <a:xfrm flipH="false" flipV="false" rot="0">
              <a:off x="0" y="0"/>
              <a:ext cx="787525" cy="60756"/>
            </a:xfrm>
            <a:custGeom>
              <a:avLst/>
              <a:gdLst/>
              <a:ahLst/>
              <a:cxnLst/>
              <a:rect r="r" b="b" t="t" l="l"/>
              <a:pathLst>
                <a:path h="60756" w="787525">
                  <a:moveTo>
                    <a:pt x="14223" y="0"/>
                  </a:moveTo>
                  <a:lnTo>
                    <a:pt x="773302" y="0"/>
                  </a:lnTo>
                  <a:cubicBezTo>
                    <a:pt x="781157" y="0"/>
                    <a:pt x="787525" y="6368"/>
                    <a:pt x="787525" y="14223"/>
                  </a:cubicBezTo>
                  <a:lnTo>
                    <a:pt x="787525" y="46534"/>
                  </a:lnTo>
                  <a:cubicBezTo>
                    <a:pt x="787525" y="54388"/>
                    <a:pt x="781157" y="60756"/>
                    <a:pt x="773302" y="60756"/>
                  </a:cubicBezTo>
                  <a:lnTo>
                    <a:pt x="14223" y="60756"/>
                  </a:lnTo>
                  <a:cubicBezTo>
                    <a:pt x="6368" y="60756"/>
                    <a:pt x="0" y="54388"/>
                    <a:pt x="0" y="46534"/>
                  </a:cubicBezTo>
                  <a:lnTo>
                    <a:pt x="0" y="14223"/>
                  </a:lnTo>
                  <a:cubicBezTo>
                    <a:pt x="0" y="6368"/>
                    <a:pt x="6368" y="0"/>
                    <a:pt x="14223" y="0"/>
                  </a:cubicBezTo>
                  <a:close/>
                </a:path>
              </a:pathLst>
            </a:custGeom>
            <a:solidFill>
              <a:srgbClr val="FDD402"/>
            </a:solidFill>
          </p:spPr>
        </p:sp>
        <p:sp>
          <p:nvSpPr>
            <p:cNvPr name="TextBox 5" id="5"/>
            <p:cNvSpPr txBox="true"/>
            <p:nvPr/>
          </p:nvSpPr>
          <p:spPr>
            <a:xfrm>
              <a:off x="0" y="-123825"/>
              <a:ext cx="787525" cy="184581"/>
            </a:xfrm>
            <a:prstGeom prst="rect">
              <a:avLst/>
            </a:prstGeom>
          </p:spPr>
          <p:txBody>
            <a:bodyPr anchor="ctr" rtlCol="false" tIns="50800" lIns="50800" bIns="50800" rIns="50800"/>
            <a:lstStyle/>
            <a:p>
              <a:pPr algn="ctr">
                <a:lnSpc>
                  <a:spcPts val="3780"/>
                </a:lnSpc>
              </a:pPr>
            </a:p>
          </p:txBody>
        </p:sp>
      </p:grpSp>
      <p:grpSp>
        <p:nvGrpSpPr>
          <p:cNvPr name="Group 6" id="6"/>
          <p:cNvGrpSpPr/>
          <p:nvPr/>
        </p:nvGrpSpPr>
        <p:grpSpPr>
          <a:xfrm rot="0">
            <a:off x="1028700" y="1804312"/>
            <a:ext cx="16230600" cy="2822093"/>
            <a:chOff x="0" y="0"/>
            <a:chExt cx="3339630" cy="580678"/>
          </a:xfrm>
        </p:grpSpPr>
        <p:sp>
          <p:nvSpPr>
            <p:cNvPr name="Freeform 7" id="7"/>
            <p:cNvSpPr/>
            <p:nvPr/>
          </p:nvSpPr>
          <p:spPr>
            <a:xfrm flipH="false" flipV="false" rot="0">
              <a:off x="0" y="0"/>
              <a:ext cx="3339629" cy="580678"/>
            </a:xfrm>
            <a:custGeom>
              <a:avLst/>
              <a:gdLst/>
              <a:ahLst/>
              <a:cxnLst/>
              <a:rect r="r" b="b" t="t" l="l"/>
              <a:pathLst>
                <a:path h="580678" w="3339629">
                  <a:moveTo>
                    <a:pt x="3354" y="0"/>
                  </a:moveTo>
                  <a:lnTo>
                    <a:pt x="3336276" y="0"/>
                  </a:lnTo>
                  <a:cubicBezTo>
                    <a:pt x="3338128" y="0"/>
                    <a:pt x="3339629" y="1502"/>
                    <a:pt x="3339629" y="3354"/>
                  </a:cubicBezTo>
                  <a:lnTo>
                    <a:pt x="3339629" y="577324"/>
                  </a:lnTo>
                  <a:cubicBezTo>
                    <a:pt x="3339629" y="578213"/>
                    <a:pt x="3339276" y="579066"/>
                    <a:pt x="3338647" y="579695"/>
                  </a:cubicBezTo>
                  <a:cubicBezTo>
                    <a:pt x="3338018" y="580324"/>
                    <a:pt x="3337165" y="580678"/>
                    <a:pt x="3336276" y="580678"/>
                  </a:cubicBezTo>
                  <a:lnTo>
                    <a:pt x="3354" y="580678"/>
                  </a:lnTo>
                  <a:cubicBezTo>
                    <a:pt x="1502" y="580678"/>
                    <a:pt x="0" y="579176"/>
                    <a:pt x="0" y="577324"/>
                  </a:cubicBezTo>
                  <a:lnTo>
                    <a:pt x="0" y="3354"/>
                  </a:lnTo>
                  <a:cubicBezTo>
                    <a:pt x="0" y="1502"/>
                    <a:pt x="1502" y="0"/>
                    <a:pt x="3354" y="0"/>
                  </a:cubicBezTo>
                  <a:close/>
                </a:path>
              </a:pathLst>
            </a:custGeom>
            <a:ln w="38100" cap="sq">
              <a:solidFill>
                <a:srgbClr val="01416B"/>
              </a:solidFill>
              <a:prstDash val="solid"/>
              <a:miter/>
            </a:ln>
          </p:spPr>
        </p:sp>
        <p:sp>
          <p:nvSpPr>
            <p:cNvPr name="TextBox 8" id="8"/>
            <p:cNvSpPr txBox="true"/>
            <p:nvPr/>
          </p:nvSpPr>
          <p:spPr>
            <a:xfrm>
              <a:off x="0" y="-123825"/>
              <a:ext cx="3339630" cy="704503"/>
            </a:xfrm>
            <a:prstGeom prst="rect">
              <a:avLst/>
            </a:prstGeom>
          </p:spPr>
          <p:txBody>
            <a:bodyPr anchor="ctr" rtlCol="false" tIns="50800" lIns="50800" bIns="50800" rIns="50800"/>
            <a:lstStyle/>
            <a:p>
              <a:pPr algn="ctr">
                <a:lnSpc>
                  <a:spcPts val="3780"/>
                </a:lnSpc>
              </a:pPr>
            </a:p>
          </p:txBody>
        </p:sp>
      </p:grpSp>
      <p:grpSp>
        <p:nvGrpSpPr>
          <p:cNvPr name="Group 9" id="9"/>
          <p:cNvGrpSpPr/>
          <p:nvPr/>
        </p:nvGrpSpPr>
        <p:grpSpPr>
          <a:xfrm rot="0">
            <a:off x="1028700" y="1802602"/>
            <a:ext cx="16230600" cy="458910"/>
            <a:chOff x="0" y="0"/>
            <a:chExt cx="3339630" cy="94426"/>
          </a:xfrm>
        </p:grpSpPr>
        <p:sp>
          <p:nvSpPr>
            <p:cNvPr name="Freeform 10" id="10"/>
            <p:cNvSpPr/>
            <p:nvPr/>
          </p:nvSpPr>
          <p:spPr>
            <a:xfrm flipH="false" flipV="false" rot="0">
              <a:off x="0" y="0"/>
              <a:ext cx="3339629" cy="94426"/>
            </a:xfrm>
            <a:custGeom>
              <a:avLst/>
              <a:gdLst/>
              <a:ahLst/>
              <a:cxnLst/>
              <a:rect r="r" b="b" t="t" l="l"/>
              <a:pathLst>
                <a:path h="94426" w="3339629">
                  <a:moveTo>
                    <a:pt x="3354" y="0"/>
                  </a:moveTo>
                  <a:lnTo>
                    <a:pt x="3336276" y="0"/>
                  </a:lnTo>
                  <a:cubicBezTo>
                    <a:pt x="3338128" y="0"/>
                    <a:pt x="3339629" y="1502"/>
                    <a:pt x="3339629" y="3354"/>
                  </a:cubicBezTo>
                  <a:lnTo>
                    <a:pt x="3339629" y="91072"/>
                  </a:lnTo>
                  <a:cubicBezTo>
                    <a:pt x="3339629" y="92924"/>
                    <a:pt x="3338128" y="94426"/>
                    <a:pt x="3336276" y="94426"/>
                  </a:cubicBezTo>
                  <a:lnTo>
                    <a:pt x="3354" y="94426"/>
                  </a:lnTo>
                  <a:cubicBezTo>
                    <a:pt x="1502" y="94426"/>
                    <a:pt x="0" y="92924"/>
                    <a:pt x="0" y="91072"/>
                  </a:cubicBezTo>
                  <a:lnTo>
                    <a:pt x="0" y="3354"/>
                  </a:lnTo>
                  <a:cubicBezTo>
                    <a:pt x="0" y="1502"/>
                    <a:pt x="1502" y="0"/>
                    <a:pt x="3354" y="0"/>
                  </a:cubicBezTo>
                  <a:close/>
                </a:path>
              </a:pathLst>
            </a:custGeom>
            <a:solidFill>
              <a:srgbClr val="01416B"/>
            </a:solidFill>
          </p:spPr>
        </p:sp>
        <p:sp>
          <p:nvSpPr>
            <p:cNvPr name="TextBox 11" id="11"/>
            <p:cNvSpPr txBox="true"/>
            <p:nvPr/>
          </p:nvSpPr>
          <p:spPr>
            <a:xfrm>
              <a:off x="0" y="-123825"/>
              <a:ext cx="3339630" cy="218251"/>
            </a:xfrm>
            <a:prstGeom prst="rect">
              <a:avLst/>
            </a:prstGeom>
          </p:spPr>
          <p:txBody>
            <a:bodyPr anchor="ctr" rtlCol="false" tIns="50800" lIns="50800" bIns="50800" rIns="50800"/>
            <a:lstStyle/>
            <a:p>
              <a:pPr algn="ctr">
                <a:lnSpc>
                  <a:spcPts val="3780"/>
                </a:lnSpc>
              </a:pPr>
            </a:p>
          </p:txBody>
        </p:sp>
      </p:grpSp>
      <p:sp>
        <p:nvSpPr>
          <p:cNvPr name="TextBox 12" id="12"/>
          <p:cNvSpPr txBox="true"/>
          <p:nvPr/>
        </p:nvSpPr>
        <p:spPr>
          <a:xfrm rot="0">
            <a:off x="1823174" y="2729858"/>
            <a:ext cx="706795" cy="3143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alam</a:t>
            </a:r>
          </a:p>
        </p:txBody>
      </p:sp>
      <p:grpSp>
        <p:nvGrpSpPr>
          <p:cNvPr name="Group 13" id="13"/>
          <p:cNvGrpSpPr/>
          <p:nvPr/>
        </p:nvGrpSpPr>
        <p:grpSpPr>
          <a:xfrm rot="0">
            <a:off x="1389663" y="2712329"/>
            <a:ext cx="395488" cy="358909"/>
            <a:chOff x="0" y="0"/>
            <a:chExt cx="81376" cy="73850"/>
          </a:xfrm>
        </p:grpSpPr>
        <p:sp>
          <p:nvSpPr>
            <p:cNvPr name="Freeform 14" id="14"/>
            <p:cNvSpPr/>
            <p:nvPr/>
          </p:nvSpPr>
          <p:spPr>
            <a:xfrm flipH="false" flipV="false" rot="0">
              <a:off x="0" y="0"/>
              <a:ext cx="81376" cy="73850"/>
            </a:xfrm>
            <a:custGeom>
              <a:avLst/>
              <a:gdLst/>
              <a:ahLst/>
              <a:cxnLst/>
              <a:rect r="r" b="b" t="t" l="l"/>
              <a:pathLst>
                <a:path h="73850" w="81376">
                  <a:moveTo>
                    <a:pt x="36925" y="0"/>
                  </a:moveTo>
                  <a:lnTo>
                    <a:pt x="44451" y="0"/>
                  </a:lnTo>
                  <a:cubicBezTo>
                    <a:pt x="54244" y="0"/>
                    <a:pt x="63636" y="3890"/>
                    <a:pt x="70561" y="10815"/>
                  </a:cubicBezTo>
                  <a:cubicBezTo>
                    <a:pt x="77486" y="17740"/>
                    <a:pt x="81376" y="27132"/>
                    <a:pt x="81376" y="36925"/>
                  </a:cubicBezTo>
                  <a:lnTo>
                    <a:pt x="81376" y="36925"/>
                  </a:lnTo>
                  <a:cubicBezTo>
                    <a:pt x="81376" y="46718"/>
                    <a:pt x="77486" y="56110"/>
                    <a:pt x="70561" y="63035"/>
                  </a:cubicBezTo>
                  <a:cubicBezTo>
                    <a:pt x="63636" y="69959"/>
                    <a:pt x="54244" y="73850"/>
                    <a:pt x="44451" y="73850"/>
                  </a:cubicBezTo>
                  <a:lnTo>
                    <a:pt x="36925" y="73850"/>
                  </a:lnTo>
                  <a:cubicBezTo>
                    <a:pt x="27132" y="73850"/>
                    <a:pt x="17740" y="69959"/>
                    <a:pt x="10815" y="63035"/>
                  </a:cubicBezTo>
                  <a:cubicBezTo>
                    <a:pt x="3890" y="56110"/>
                    <a:pt x="0" y="46718"/>
                    <a:pt x="0" y="36925"/>
                  </a:cubicBezTo>
                  <a:lnTo>
                    <a:pt x="0" y="36925"/>
                  </a:lnTo>
                  <a:cubicBezTo>
                    <a:pt x="0" y="27132"/>
                    <a:pt x="3890" y="17740"/>
                    <a:pt x="10815" y="10815"/>
                  </a:cubicBezTo>
                  <a:cubicBezTo>
                    <a:pt x="17740" y="3890"/>
                    <a:pt x="27132" y="0"/>
                    <a:pt x="36925" y="0"/>
                  </a:cubicBezTo>
                  <a:close/>
                </a:path>
              </a:pathLst>
            </a:custGeom>
            <a:ln w="9525" cap="sq">
              <a:solidFill>
                <a:srgbClr val="01416B"/>
              </a:solidFill>
              <a:prstDash val="solid"/>
              <a:miter/>
            </a:ln>
          </p:spPr>
        </p:sp>
        <p:sp>
          <p:nvSpPr>
            <p:cNvPr name="TextBox 15" id="15"/>
            <p:cNvSpPr txBox="true"/>
            <p:nvPr/>
          </p:nvSpPr>
          <p:spPr>
            <a:xfrm>
              <a:off x="0" y="-123825"/>
              <a:ext cx="81376" cy="197675"/>
            </a:xfrm>
            <a:prstGeom prst="rect">
              <a:avLst/>
            </a:prstGeom>
          </p:spPr>
          <p:txBody>
            <a:bodyPr anchor="ctr" rtlCol="false" tIns="50800" lIns="50800" bIns="50800" rIns="50800"/>
            <a:lstStyle/>
            <a:p>
              <a:pPr algn="ctr">
                <a:lnSpc>
                  <a:spcPts val="3780"/>
                </a:lnSpc>
              </a:pPr>
            </a:p>
          </p:txBody>
        </p:sp>
      </p:grpSp>
      <p:grpSp>
        <p:nvGrpSpPr>
          <p:cNvPr name="Group 16" id="16"/>
          <p:cNvGrpSpPr/>
          <p:nvPr/>
        </p:nvGrpSpPr>
        <p:grpSpPr>
          <a:xfrm rot="0">
            <a:off x="2475361" y="2712329"/>
            <a:ext cx="395488" cy="358909"/>
            <a:chOff x="0" y="0"/>
            <a:chExt cx="81376" cy="73850"/>
          </a:xfrm>
        </p:grpSpPr>
        <p:sp>
          <p:nvSpPr>
            <p:cNvPr name="Freeform 17" id="17"/>
            <p:cNvSpPr/>
            <p:nvPr/>
          </p:nvSpPr>
          <p:spPr>
            <a:xfrm flipH="false" flipV="false" rot="0">
              <a:off x="0" y="0"/>
              <a:ext cx="81376" cy="73850"/>
            </a:xfrm>
            <a:custGeom>
              <a:avLst/>
              <a:gdLst/>
              <a:ahLst/>
              <a:cxnLst/>
              <a:rect r="r" b="b" t="t" l="l"/>
              <a:pathLst>
                <a:path h="73850" w="81376">
                  <a:moveTo>
                    <a:pt x="36925" y="0"/>
                  </a:moveTo>
                  <a:lnTo>
                    <a:pt x="44451" y="0"/>
                  </a:lnTo>
                  <a:cubicBezTo>
                    <a:pt x="54244" y="0"/>
                    <a:pt x="63636" y="3890"/>
                    <a:pt x="70561" y="10815"/>
                  </a:cubicBezTo>
                  <a:cubicBezTo>
                    <a:pt x="77486" y="17740"/>
                    <a:pt x="81376" y="27132"/>
                    <a:pt x="81376" y="36925"/>
                  </a:cubicBezTo>
                  <a:lnTo>
                    <a:pt x="81376" y="36925"/>
                  </a:lnTo>
                  <a:cubicBezTo>
                    <a:pt x="81376" y="46718"/>
                    <a:pt x="77486" y="56110"/>
                    <a:pt x="70561" y="63035"/>
                  </a:cubicBezTo>
                  <a:cubicBezTo>
                    <a:pt x="63636" y="69959"/>
                    <a:pt x="54244" y="73850"/>
                    <a:pt x="44451" y="73850"/>
                  </a:cubicBezTo>
                  <a:lnTo>
                    <a:pt x="36925" y="73850"/>
                  </a:lnTo>
                  <a:cubicBezTo>
                    <a:pt x="27132" y="73850"/>
                    <a:pt x="17740" y="69959"/>
                    <a:pt x="10815" y="63035"/>
                  </a:cubicBezTo>
                  <a:cubicBezTo>
                    <a:pt x="3890" y="56110"/>
                    <a:pt x="0" y="46718"/>
                    <a:pt x="0" y="36925"/>
                  </a:cubicBezTo>
                  <a:lnTo>
                    <a:pt x="0" y="36925"/>
                  </a:lnTo>
                  <a:cubicBezTo>
                    <a:pt x="0" y="27132"/>
                    <a:pt x="3890" y="17740"/>
                    <a:pt x="10815" y="10815"/>
                  </a:cubicBezTo>
                  <a:cubicBezTo>
                    <a:pt x="17740" y="3890"/>
                    <a:pt x="27132" y="0"/>
                    <a:pt x="36925" y="0"/>
                  </a:cubicBezTo>
                  <a:close/>
                </a:path>
              </a:pathLst>
            </a:custGeom>
            <a:solidFill>
              <a:srgbClr val="01416B"/>
            </a:solidFill>
            <a:ln w="9525" cap="sq">
              <a:solidFill>
                <a:srgbClr val="01416B"/>
              </a:solidFill>
              <a:prstDash val="solid"/>
              <a:miter/>
            </a:ln>
          </p:spPr>
        </p:sp>
        <p:sp>
          <p:nvSpPr>
            <p:cNvPr name="TextBox 18" id="18"/>
            <p:cNvSpPr txBox="true"/>
            <p:nvPr/>
          </p:nvSpPr>
          <p:spPr>
            <a:xfrm>
              <a:off x="0" y="-123825"/>
              <a:ext cx="81376" cy="197675"/>
            </a:xfrm>
            <a:prstGeom prst="rect">
              <a:avLst/>
            </a:prstGeom>
          </p:spPr>
          <p:txBody>
            <a:bodyPr anchor="ctr" rtlCol="false" tIns="50800" lIns="50800" bIns="50800" rIns="50800"/>
            <a:lstStyle/>
            <a:p>
              <a:pPr algn="ctr">
                <a:lnSpc>
                  <a:spcPts val="3780"/>
                </a:lnSpc>
              </a:pPr>
            </a:p>
          </p:txBody>
        </p:sp>
      </p:grpSp>
      <p:grpSp>
        <p:nvGrpSpPr>
          <p:cNvPr name="Group 19" id="19"/>
          <p:cNvGrpSpPr/>
          <p:nvPr/>
        </p:nvGrpSpPr>
        <p:grpSpPr>
          <a:xfrm rot="0">
            <a:off x="6824096" y="2399250"/>
            <a:ext cx="9863556" cy="644934"/>
            <a:chOff x="0" y="0"/>
            <a:chExt cx="2029538" cy="132702"/>
          </a:xfrm>
        </p:grpSpPr>
        <p:sp>
          <p:nvSpPr>
            <p:cNvPr name="Freeform 20" id="20"/>
            <p:cNvSpPr/>
            <p:nvPr/>
          </p:nvSpPr>
          <p:spPr>
            <a:xfrm flipH="false" flipV="false" rot="0">
              <a:off x="0" y="0"/>
              <a:ext cx="2029538" cy="132702"/>
            </a:xfrm>
            <a:custGeom>
              <a:avLst/>
              <a:gdLst/>
              <a:ahLst/>
              <a:cxnLst/>
              <a:rect r="r" b="b" t="t" l="l"/>
              <a:pathLst>
                <a:path h="132702" w="2029538">
                  <a:moveTo>
                    <a:pt x="5519" y="0"/>
                  </a:moveTo>
                  <a:lnTo>
                    <a:pt x="2024019" y="0"/>
                  </a:lnTo>
                  <a:cubicBezTo>
                    <a:pt x="2027067" y="0"/>
                    <a:pt x="2029538" y="2471"/>
                    <a:pt x="2029538" y="5519"/>
                  </a:cubicBezTo>
                  <a:lnTo>
                    <a:pt x="2029538" y="127184"/>
                  </a:lnTo>
                  <a:cubicBezTo>
                    <a:pt x="2029538" y="130232"/>
                    <a:pt x="2027067" y="132702"/>
                    <a:pt x="2024019" y="132702"/>
                  </a:cubicBezTo>
                  <a:lnTo>
                    <a:pt x="5519" y="132702"/>
                  </a:lnTo>
                  <a:cubicBezTo>
                    <a:pt x="2471" y="132702"/>
                    <a:pt x="0" y="130232"/>
                    <a:pt x="0" y="127184"/>
                  </a:cubicBezTo>
                  <a:lnTo>
                    <a:pt x="0" y="5519"/>
                  </a:lnTo>
                  <a:cubicBezTo>
                    <a:pt x="0" y="2471"/>
                    <a:pt x="2471" y="0"/>
                    <a:pt x="5519" y="0"/>
                  </a:cubicBezTo>
                  <a:close/>
                </a:path>
              </a:pathLst>
            </a:custGeom>
            <a:solidFill>
              <a:srgbClr val="01416B">
                <a:alpha val="49804"/>
              </a:srgbClr>
            </a:solidFill>
            <a:ln w="38100" cap="sq">
              <a:solidFill>
                <a:srgbClr val="01416B">
                  <a:alpha val="49804"/>
                </a:srgbClr>
              </a:solidFill>
              <a:prstDash val="solid"/>
              <a:miter/>
            </a:ln>
          </p:spPr>
        </p:sp>
        <p:sp>
          <p:nvSpPr>
            <p:cNvPr name="TextBox 21" id="21"/>
            <p:cNvSpPr txBox="true"/>
            <p:nvPr/>
          </p:nvSpPr>
          <p:spPr>
            <a:xfrm>
              <a:off x="0" y="-123825"/>
              <a:ext cx="2029538" cy="256527"/>
            </a:xfrm>
            <a:prstGeom prst="rect">
              <a:avLst/>
            </a:prstGeom>
          </p:spPr>
          <p:txBody>
            <a:bodyPr anchor="ctr" rtlCol="false" tIns="50800" lIns="50800" bIns="50800" rIns="50800"/>
            <a:lstStyle/>
            <a:p>
              <a:pPr algn="ctr">
                <a:lnSpc>
                  <a:spcPts val="3780"/>
                </a:lnSpc>
              </a:pPr>
            </a:p>
          </p:txBody>
        </p:sp>
      </p:grpSp>
      <p:sp>
        <p:nvSpPr>
          <p:cNvPr name="AutoShape 22" id="22"/>
          <p:cNvSpPr/>
          <p:nvPr/>
        </p:nvSpPr>
        <p:spPr>
          <a:xfrm flipV="true">
            <a:off x="9934797" y="2517396"/>
            <a:ext cx="0" cy="325463"/>
          </a:xfrm>
          <a:prstGeom prst="line">
            <a:avLst/>
          </a:prstGeom>
          <a:ln cap="flat" w="38100">
            <a:solidFill>
              <a:srgbClr val="FFFFFF"/>
            </a:solidFill>
            <a:prstDash val="solid"/>
            <a:headEnd type="none" len="sm" w="sm"/>
            <a:tailEnd type="none" len="sm" w="sm"/>
          </a:ln>
        </p:spPr>
      </p:sp>
      <p:sp>
        <p:nvSpPr>
          <p:cNvPr name="AutoShape 23" id="23"/>
          <p:cNvSpPr/>
          <p:nvPr/>
        </p:nvSpPr>
        <p:spPr>
          <a:xfrm flipV="true">
            <a:off x="13312948" y="2527405"/>
            <a:ext cx="0" cy="325463"/>
          </a:xfrm>
          <a:prstGeom prst="line">
            <a:avLst/>
          </a:prstGeom>
          <a:ln cap="flat" w="38100">
            <a:solidFill>
              <a:srgbClr val="FFFFFF"/>
            </a:solidFill>
            <a:prstDash val="solid"/>
            <a:headEnd type="none" len="sm" w="sm"/>
            <a:tailEnd type="none" len="sm" w="sm"/>
          </a:ln>
        </p:spPr>
      </p:sp>
      <p:grpSp>
        <p:nvGrpSpPr>
          <p:cNvPr name="Group 24" id="24"/>
          <p:cNvGrpSpPr/>
          <p:nvPr/>
        </p:nvGrpSpPr>
        <p:grpSpPr>
          <a:xfrm rot="0">
            <a:off x="6824096" y="3159729"/>
            <a:ext cx="9863556" cy="644934"/>
            <a:chOff x="0" y="0"/>
            <a:chExt cx="2029538" cy="132702"/>
          </a:xfrm>
        </p:grpSpPr>
        <p:sp>
          <p:nvSpPr>
            <p:cNvPr name="Freeform 25" id="25"/>
            <p:cNvSpPr/>
            <p:nvPr/>
          </p:nvSpPr>
          <p:spPr>
            <a:xfrm flipH="false" flipV="false" rot="0">
              <a:off x="0" y="0"/>
              <a:ext cx="2029538" cy="132702"/>
            </a:xfrm>
            <a:custGeom>
              <a:avLst/>
              <a:gdLst/>
              <a:ahLst/>
              <a:cxnLst/>
              <a:rect r="r" b="b" t="t" l="l"/>
              <a:pathLst>
                <a:path h="132702" w="2029538">
                  <a:moveTo>
                    <a:pt x="5519" y="0"/>
                  </a:moveTo>
                  <a:lnTo>
                    <a:pt x="2024019" y="0"/>
                  </a:lnTo>
                  <a:cubicBezTo>
                    <a:pt x="2027067" y="0"/>
                    <a:pt x="2029538" y="2471"/>
                    <a:pt x="2029538" y="5519"/>
                  </a:cubicBezTo>
                  <a:lnTo>
                    <a:pt x="2029538" y="127184"/>
                  </a:lnTo>
                  <a:cubicBezTo>
                    <a:pt x="2029538" y="130232"/>
                    <a:pt x="2027067" y="132702"/>
                    <a:pt x="2024019" y="132702"/>
                  </a:cubicBezTo>
                  <a:lnTo>
                    <a:pt x="5519" y="132702"/>
                  </a:lnTo>
                  <a:cubicBezTo>
                    <a:pt x="2471" y="132702"/>
                    <a:pt x="0" y="130232"/>
                    <a:pt x="0" y="127184"/>
                  </a:cubicBezTo>
                  <a:lnTo>
                    <a:pt x="0" y="5519"/>
                  </a:lnTo>
                  <a:cubicBezTo>
                    <a:pt x="0" y="2471"/>
                    <a:pt x="2471" y="0"/>
                    <a:pt x="5519" y="0"/>
                  </a:cubicBezTo>
                  <a:close/>
                </a:path>
              </a:pathLst>
            </a:custGeom>
            <a:solidFill>
              <a:srgbClr val="01416B"/>
            </a:solidFill>
            <a:ln cap="sq">
              <a:noFill/>
              <a:prstDash val="solid"/>
              <a:miter/>
            </a:ln>
          </p:spPr>
        </p:sp>
        <p:sp>
          <p:nvSpPr>
            <p:cNvPr name="TextBox 26" id="26"/>
            <p:cNvSpPr txBox="true"/>
            <p:nvPr/>
          </p:nvSpPr>
          <p:spPr>
            <a:xfrm>
              <a:off x="0" y="-123825"/>
              <a:ext cx="2029538" cy="256527"/>
            </a:xfrm>
            <a:prstGeom prst="rect">
              <a:avLst/>
            </a:prstGeom>
          </p:spPr>
          <p:txBody>
            <a:bodyPr anchor="ctr" rtlCol="false" tIns="50800" lIns="50800" bIns="50800" rIns="50800"/>
            <a:lstStyle/>
            <a:p>
              <a:pPr algn="ctr">
                <a:lnSpc>
                  <a:spcPts val="3780"/>
                </a:lnSpc>
              </a:pPr>
            </a:p>
          </p:txBody>
        </p:sp>
      </p:grpSp>
      <p:grpSp>
        <p:nvGrpSpPr>
          <p:cNvPr name="Group 27" id="27"/>
          <p:cNvGrpSpPr/>
          <p:nvPr/>
        </p:nvGrpSpPr>
        <p:grpSpPr>
          <a:xfrm rot="0">
            <a:off x="6824096" y="3861813"/>
            <a:ext cx="9863556" cy="644934"/>
            <a:chOff x="0" y="0"/>
            <a:chExt cx="2029538" cy="132702"/>
          </a:xfrm>
        </p:grpSpPr>
        <p:sp>
          <p:nvSpPr>
            <p:cNvPr name="Freeform 28" id="28"/>
            <p:cNvSpPr/>
            <p:nvPr/>
          </p:nvSpPr>
          <p:spPr>
            <a:xfrm flipH="false" flipV="false" rot="0">
              <a:off x="0" y="0"/>
              <a:ext cx="2029538" cy="132702"/>
            </a:xfrm>
            <a:custGeom>
              <a:avLst/>
              <a:gdLst/>
              <a:ahLst/>
              <a:cxnLst/>
              <a:rect r="r" b="b" t="t" l="l"/>
              <a:pathLst>
                <a:path h="132702" w="2029538">
                  <a:moveTo>
                    <a:pt x="5519" y="0"/>
                  </a:moveTo>
                  <a:lnTo>
                    <a:pt x="2024019" y="0"/>
                  </a:lnTo>
                  <a:cubicBezTo>
                    <a:pt x="2027067" y="0"/>
                    <a:pt x="2029538" y="2471"/>
                    <a:pt x="2029538" y="5519"/>
                  </a:cubicBezTo>
                  <a:lnTo>
                    <a:pt x="2029538" y="127184"/>
                  </a:lnTo>
                  <a:cubicBezTo>
                    <a:pt x="2029538" y="130232"/>
                    <a:pt x="2027067" y="132702"/>
                    <a:pt x="2024019" y="132702"/>
                  </a:cubicBezTo>
                  <a:lnTo>
                    <a:pt x="5519" y="132702"/>
                  </a:lnTo>
                  <a:cubicBezTo>
                    <a:pt x="2471" y="132702"/>
                    <a:pt x="0" y="130232"/>
                    <a:pt x="0" y="127184"/>
                  </a:cubicBezTo>
                  <a:lnTo>
                    <a:pt x="0" y="5519"/>
                  </a:lnTo>
                  <a:cubicBezTo>
                    <a:pt x="0" y="2471"/>
                    <a:pt x="2471" y="0"/>
                    <a:pt x="5519" y="0"/>
                  </a:cubicBezTo>
                  <a:close/>
                </a:path>
              </a:pathLst>
            </a:custGeom>
            <a:solidFill>
              <a:srgbClr val="FDD402"/>
            </a:solidFill>
            <a:ln cap="sq">
              <a:noFill/>
              <a:prstDash val="solid"/>
              <a:miter/>
            </a:ln>
          </p:spPr>
        </p:sp>
        <p:sp>
          <p:nvSpPr>
            <p:cNvPr name="TextBox 29" id="29"/>
            <p:cNvSpPr txBox="true"/>
            <p:nvPr/>
          </p:nvSpPr>
          <p:spPr>
            <a:xfrm>
              <a:off x="0" y="-123825"/>
              <a:ext cx="2029538" cy="256527"/>
            </a:xfrm>
            <a:prstGeom prst="rect">
              <a:avLst/>
            </a:prstGeom>
          </p:spPr>
          <p:txBody>
            <a:bodyPr anchor="ctr" rtlCol="false" tIns="50800" lIns="50800" bIns="50800" rIns="50800"/>
            <a:lstStyle/>
            <a:p>
              <a:pPr algn="ctr">
                <a:lnSpc>
                  <a:spcPts val="3780"/>
                </a:lnSpc>
              </a:pPr>
            </a:p>
          </p:txBody>
        </p:sp>
      </p:grpSp>
      <p:sp>
        <p:nvSpPr>
          <p:cNvPr name="TextBox 30" id="30"/>
          <p:cNvSpPr txBox="true"/>
          <p:nvPr/>
        </p:nvSpPr>
        <p:spPr>
          <a:xfrm rot="0">
            <a:off x="6920463" y="3234546"/>
            <a:ext cx="2861055" cy="476250"/>
          </a:xfrm>
          <a:prstGeom prst="rect">
            <a:avLst/>
          </a:prstGeom>
        </p:spPr>
        <p:txBody>
          <a:bodyPr anchor="t" rtlCol="false" tIns="0" lIns="0" bIns="0" rIns="0">
            <a:spAutoFit/>
          </a:bodyPr>
          <a:lstStyle/>
          <a:p>
            <a:pPr algn="l">
              <a:lnSpc>
                <a:spcPts val="3600"/>
              </a:lnSpc>
            </a:pPr>
            <a:r>
              <a:rPr lang="en-US" sz="3000" b="true">
                <a:solidFill>
                  <a:srgbClr val="FFFFFF"/>
                </a:solidFill>
                <a:latin typeface="Arimo Bold"/>
                <a:ea typeface="Arimo Bold"/>
                <a:cs typeface="Arimo Bold"/>
                <a:sym typeface="Arimo Bold"/>
              </a:rPr>
              <a:t>VALID</a:t>
            </a:r>
          </a:p>
        </p:txBody>
      </p:sp>
      <p:sp>
        <p:nvSpPr>
          <p:cNvPr name="TextBox 31" id="31"/>
          <p:cNvSpPr txBox="true"/>
          <p:nvPr/>
        </p:nvSpPr>
        <p:spPr>
          <a:xfrm rot="0">
            <a:off x="6920463" y="3936630"/>
            <a:ext cx="2861055" cy="476250"/>
          </a:xfrm>
          <a:prstGeom prst="rect">
            <a:avLst/>
          </a:prstGeom>
        </p:spPr>
        <p:txBody>
          <a:bodyPr anchor="t" rtlCol="false" tIns="0" lIns="0" bIns="0" rIns="0">
            <a:spAutoFit/>
          </a:bodyPr>
          <a:lstStyle/>
          <a:p>
            <a:pPr algn="l">
              <a:lnSpc>
                <a:spcPts val="3600"/>
              </a:lnSpc>
            </a:pPr>
            <a:r>
              <a:rPr lang="en-US" sz="3000" b="true">
                <a:solidFill>
                  <a:srgbClr val="E50914"/>
                </a:solidFill>
                <a:latin typeface="Arimo Bold"/>
                <a:ea typeface="Arimo Bold"/>
                <a:cs typeface="Arimo Bold"/>
                <a:sym typeface="Arimo Bold"/>
              </a:rPr>
              <a:t>TIDAK VALID</a:t>
            </a:r>
          </a:p>
        </p:txBody>
      </p:sp>
      <p:sp>
        <p:nvSpPr>
          <p:cNvPr name="TextBox 32" id="32"/>
          <p:cNvSpPr txBox="true"/>
          <p:nvPr/>
        </p:nvSpPr>
        <p:spPr>
          <a:xfrm rot="0">
            <a:off x="9451516" y="3320271"/>
            <a:ext cx="3983459" cy="314325"/>
          </a:xfrm>
          <a:prstGeom prst="rect">
            <a:avLst/>
          </a:prstGeom>
        </p:spPr>
        <p:txBody>
          <a:bodyPr anchor="t" rtlCol="false" tIns="0" lIns="0" bIns="0" rIns="0">
            <a:spAutoFit/>
          </a:bodyPr>
          <a:lstStyle/>
          <a:p>
            <a:pPr algn="just">
              <a:lnSpc>
                <a:spcPts val="2400"/>
              </a:lnSpc>
            </a:pPr>
            <a:r>
              <a:rPr lang="en-US" sz="2000">
                <a:solidFill>
                  <a:srgbClr val="FFFFFF"/>
                </a:solidFill>
                <a:latin typeface="Arimo"/>
                <a:ea typeface="Arimo"/>
                <a:cs typeface="Arimo"/>
                <a:sym typeface="Arimo"/>
              </a:rPr>
              <a:t>ID001-002-003-004-005-006</a:t>
            </a:r>
          </a:p>
        </p:txBody>
      </p:sp>
      <p:sp>
        <p:nvSpPr>
          <p:cNvPr name="AutoShape 33" id="33"/>
          <p:cNvSpPr/>
          <p:nvPr/>
        </p:nvSpPr>
        <p:spPr>
          <a:xfrm flipV="true">
            <a:off x="12798792" y="3319464"/>
            <a:ext cx="0" cy="325463"/>
          </a:xfrm>
          <a:prstGeom prst="line">
            <a:avLst/>
          </a:prstGeom>
          <a:ln cap="flat" w="38100">
            <a:solidFill>
              <a:srgbClr val="FFFFFF"/>
            </a:solidFill>
            <a:prstDash val="solid"/>
            <a:headEnd type="none" len="sm" w="sm"/>
            <a:tailEnd type="none" len="sm" w="sm"/>
          </a:ln>
        </p:spPr>
      </p:sp>
      <p:sp>
        <p:nvSpPr>
          <p:cNvPr name="TextBox 34" id="34"/>
          <p:cNvSpPr txBox="true"/>
          <p:nvPr/>
        </p:nvSpPr>
        <p:spPr>
          <a:xfrm rot="0">
            <a:off x="9451516" y="4022355"/>
            <a:ext cx="3983459" cy="314325"/>
          </a:xfrm>
          <a:prstGeom prst="rect">
            <a:avLst/>
          </a:prstGeom>
        </p:spPr>
        <p:txBody>
          <a:bodyPr anchor="t" rtlCol="false" tIns="0" lIns="0" bIns="0" rIns="0">
            <a:spAutoFit/>
          </a:bodyPr>
          <a:lstStyle/>
          <a:p>
            <a:pPr algn="just">
              <a:lnSpc>
                <a:spcPts val="2400"/>
              </a:lnSpc>
            </a:pPr>
            <a:r>
              <a:rPr lang="en-US" sz="2000">
                <a:solidFill>
                  <a:srgbClr val="E50914"/>
                </a:solidFill>
                <a:latin typeface="Arimo"/>
                <a:ea typeface="Arimo"/>
                <a:cs typeface="Arimo"/>
                <a:sym typeface="Arimo"/>
              </a:rPr>
              <a:t>ID002-003-004-005-006-007</a:t>
            </a:r>
          </a:p>
        </p:txBody>
      </p:sp>
      <p:sp>
        <p:nvSpPr>
          <p:cNvPr name="AutoShape 35" id="35"/>
          <p:cNvSpPr/>
          <p:nvPr/>
        </p:nvSpPr>
        <p:spPr>
          <a:xfrm flipV="true">
            <a:off x="12798792" y="4011217"/>
            <a:ext cx="0" cy="325463"/>
          </a:xfrm>
          <a:prstGeom prst="line">
            <a:avLst/>
          </a:prstGeom>
          <a:ln cap="flat" w="38100">
            <a:solidFill>
              <a:srgbClr val="E50914"/>
            </a:solidFill>
            <a:prstDash val="solid"/>
            <a:headEnd type="none" len="sm" w="sm"/>
            <a:tailEnd type="none" len="sm" w="sm"/>
          </a:ln>
        </p:spPr>
      </p:sp>
      <p:grpSp>
        <p:nvGrpSpPr>
          <p:cNvPr name="Group 36" id="36"/>
          <p:cNvGrpSpPr/>
          <p:nvPr/>
        </p:nvGrpSpPr>
        <p:grpSpPr>
          <a:xfrm rot="0">
            <a:off x="1028700" y="4797855"/>
            <a:ext cx="4856071" cy="1407190"/>
            <a:chOff x="0" y="0"/>
            <a:chExt cx="999192" cy="289545"/>
          </a:xfrm>
        </p:grpSpPr>
        <p:sp>
          <p:nvSpPr>
            <p:cNvPr name="Freeform 37" id="37"/>
            <p:cNvSpPr/>
            <p:nvPr/>
          </p:nvSpPr>
          <p:spPr>
            <a:xfrm flipH="false" flipV="false" rot="0">
              <a:off x="0" y="0"/>
              <a:ext cx="999192" cy="289545"/>
            </a:xfrm>
            <a:custGeom>
              <a:avLst/>
              <a:gdLst/>
              <a:ahLst/>
              <a:cxnLst/>
              <a:rect r="r" b="b" t="t" l="l"/>
              <a:pathLst>
                <a:path h="289545" w="999192">
                  <a:moveTo>
                    <a:pt x="11210" y="0"/>
                  </a:moveTo>
                  <a:lnTo>
                    <a:pt x="987982" y="0"/>
                  </a:lnTo>
                  <a:cubicBezTo>
                    <a:pt x="994173" y="0"/>
                    <a:pt x="999192" y="5019"/>
                    <a:pt x="999192" y="11210"/>
                  </a:cubicBezTo>
                  <a:lnTo>
                    <a:pt x="999192" y="278335"/>
                  </a:lnTo>
                  <a:cubicBezTo>
                    <a:pt x="999192" y="281308"/>
                    <a:pt x="998011" y="284160"/>
                    <a:pt x="995908" y="286262"/>
                  </a:cubicBezTo>
                  <a:cubicBezTo>
                    <a:pt x="993806" y="288364"/>
                    <a:pt x="990955" y="289545"/>
                    <a:pt x="987982" y="289545"/>
                  </a:cubicBezTo>
                  <a:lnTo>
                    <a:pt x="11210" y="289545"/>
                  </a:lnTo>
                  <a:cubicBezTo>
                    <a:pt x="8237" y="289545"/>
                    <a:pt x="5385" y="288364"/>
                    <a:pt x="3283" y="286262"/>
                  </a:cubicBezTo>
                  <a:cubicBezTo>
                    <a:pt x="1181" y="284160"/>
                    <a:pt x="0" y="281308"/>
                    <a:pt x="0" y="278335"/>
                  </a:cubicBezTo>
                  <a:lnTo>
                    <a:pt x="0" y="11210"/>
                  </a:lnTo>
                  <a:cubicBezTo>
                    <a:pt x="0" y="8237"/>
                    <a:pt x="1181" y="5385"/>
                    <a:pt x="3283" y="3283"/>
                  </a:cubicBezTo>
                  <a:cubicBezTo>
                    <a:pt x="5385" y="1181"/>
                    <a:pt x="8237" y="0"/>
                    <a:pt x="11210" y="0"/>
                  </a:cubicBezTo>
                  <a:close/>
                </a:path>
              </a:pathLst>
            </a:custGeom>
            <a:solidFill>
              <a:srgbClr val="01416B"/>
            </a:solidFill>
          </p:spPr>
        </p:sp>
        <p:sp>
          <p:nvSpPr>
            <p:cNvPr name="TextBox 38" id="38"/>
            <p:cNvSpPr txBox="true"/>
            <p:nvPr/>
          </p:nvSpPr>
          <p:spPr>
            <a:xfrm>
              <a:off x="0" y="-123825"/>
              <a:ext cx="999192" cy="413370"/>
            </a:xfrm>
            <a:prstGeom prst="rect">
              <a:avLst/>
            </a:prstGeom>
          </p:spPr>
          <p:txBody>
            <a:bodyPr anchor="ctr" rtlCol="false" tIns="50800" lIns="50800" bIns="50800" rIns="50800"/>
            <a:lstStyle/>
            <a:p>
              <a:pPr algn="ctr">
                <a:lnSpc>
                  <a:spcPts val="3780"/>
                </a:lnSpc>
              </a:pPr>
            </a:p>
          </p:txBody>
        </p:sp>
      </p:grpSp>
      <p:grpSp>
        <p:nvGrpSpPr>
          <p:cNvPr name="Group 39" id="39"/>
          <p:cNvGrpSpPr/>
          <p:nvPr/>
        </p:nvGrpSpPr>
        <p:grpSpPr>
          <a:xfrm rot="0">
            <a:off x="6132399" y="4788330"/>
            <a:ext cx="2998109" cy="1416715"/>
            <a:chOff x="0" y="0"/>
            <a:chExt cx="616895" cy="291505"/>
          </a:xfrm>
        </p:grpSpPr>
        <p:sp>
          <p:nvSpPr>
            <p:cNvPr name="Freeform 40" id="40"/>
            <p:cNvSpPr/>
            <p:nvPr/>
          </p:nvSpPr>
          <p:spPr>
            <a:xfrm flipH="false" flipV="false" rot="0">
              <a:off x="0" y="0"/>
              <a:ext cx="616895" cy="291505"/>
            </a:xfrm>
            <a:custGeom>
              <a:avLst/>
              <a:gdLst/>
              <a:ahLst/>
              <a:cxnLst/>
              <a:rect r="r" b="b" t="t" l="l"/>
              <a:pathLst>
                <a:path h="291505" w="616895">
                  <a:moveTo>
                    <a:pt x="18157" y="0"/>
                  </a:moveTo>
                  <a:lnTo>
                    <a:pt x="598738" y="0"/>
                  </a:lnTo>
                  <a:cubicBezTo>
                    <a:pt x="603554" y="0"/>
                    <a:pt x="608172" y="1913"/>
                    <a:pt x="611577" y="5318"/>
                  </a:cubicBezTo>
                  <a:cubicBezTo>
                    <a:pt x="614982" y="8723"/>
                    <a:pt x="616895" y="13341"/>
                    <a:pt x="616895" y="18157"/>
                  </a:cubicBezTo>
                  <a:lnTo>
                    <a:pt x="616895" y="273349"/>
                  </a:lnTo>
                  <a:cubicBezTo>
                    <a:pt x="616895" y="278164"/>
                    <a:pt x="614982" y="282782"/>
                    <a:pt x="611577" y="286187"/>
                  </a:cubicBezTo>
                  <a:cubicBezTo>
                    <a:pt x="608172" y="289592"/>
                    <a:pt x="603554" y="291505"/>
                    <a:pt x="598738" y="291505"/>
                  </a:cubicBezTo>
                  <a:lnTo>
                    <a:pt x="18157" y="291505"/>
                  </a:lnTo>
                  <a:cubicBezTo>
                    <a:pt x="8129" y="291505"/>
                    <a:pt x="0" y="283376"/>
                    <a:pt x="0" y="273349"/>
                  </a:cubicBezTo>
                  <a:lnTo>
                    <a:pt x="0" y="18157"/>
                  </a:lnTo>
                  <a:cubicBezTo>
                    <a:pt x="0" y="13341"/>
                    <a:pt x="1913" y="8723"/>
                    <a:pt x="5318" y="5318"/>
                  </a:cubicBezTo>
                  <a:cubicBezTo>
                    <a:pt x="8723" y="1913"/>
                    <a:pt x="13341" y="0"/>
                    <a:pt x="18157" y="0"/>
                  </a:cubicBezTo>
                  <a:close/>
                </a:path>
              </a:pathLst>
            </a:custGeom>
            <a:ln w="38100" cap="sq">
              <a:solidFill>
                <a:srgbClr val="01416B"/>
              </a:solidFill>
              <a:prstDash val="solid"/>
              <a:miter/>
            </a:ln>
          </p:spPr>
        </p:sp>
        <p:sp>
          <p:nvSpPr>
            <p:cNvPr name="TextBox 41" id="41"/>
            <p:cNvSpPr txBox="true"/>
            <p:nvPr/>
          </p:nvSpPr>
          <p:spPr>
            <a:xfrm>
              <a:off x="0" y="-123825"/>
              <a:ext cx="616895" cy="415330"/>
            </a:xfrm>
            <a:prstGeom prst="rect">
              <a:avLst/>
            </a:prstGeom>
          </p:spPr>
          <p:txBody>
            <a:bodyPr anchor="ctr" rtlCol="false" tIns="50800" lIns="50800" bIns="50800" rIns="50800"/>
            <a:lstStyle/>
            <a:p>
              <a:pPr algn="ctr">
                <a:lnSpc>
                  <a:spcPts val="3780"/>
                </a:lnSpc>
              </a:pPr>
            </a:p>
          </p:txBody>
        </p:sp>
      </p:grpSp>
      <p:grpSp>
        <p:nvGrpSpPr>
          <p:cNvPr name="Group 42" id="42"/>
          <p:cNvGrpSpPr/>
          <p:nvPr/>
        </p:nvGrpSpPr>
        <p:grpSpPr>
          <a:xfrm rot="0">
            <a:off x="9199641" y="4797855"/>
            <a:ext cx="2487099" cy="1407190"/>
            <a:chOff x="0" y="0"/>
            <a:chExt cx="511749" cy="289545"/>
          </a:xfrm>
        </p:grpSpPr>
        <p:sp>
          <p:nvSpPr>
            <p:cNvPr name="Freeform 43" id="43"/>
            <p:cNvSpPr/>
            <p:nvPr/>
          </p:nvSpPr>
          <p:spPr>
            <a:xfrm flipH="false" flipV="false" rot="0">
              <a:off x="0" y="0"/>
              <a:ext cx="511749" cy="289545"/>
            </a:xfrm>
            <a:custGeom>
              <a:avLst/>
              <a:gdLst/>
              <a:ahLst/>
              <a:cxnLst/>
              <a:rect r="r" b="b" t="t" l="l"/>
              <a:pathLst>
                <a:path h="289545" w="511749">
                  <a:moveTo>
                    <a:pt x="21887" y="0"/>
                  </a:moveTo>
                  <a:lnTo>
                    <a:pt x="489862" y="0"/>
                  </a:lnTo>
                  <a:cubicBezTo>
                    <a:pt x="501950" y="0"/>
                    <a:pt x="511749" y="9799"/>
                    <a:pt x="511749" y="21887"/>
                  </a:cubicBezTo>
                  <a:lnTo>
                    <a:pt x="511749" y="267658"/>
                  </a:lnTo>
                  <a:cubicBezTo>
                    <a:pt x="511749" y="273463"/>
                    <a:pt x="509443" y="279030"/>
                    <a:pt x="505338" y="283135"/>
                  </a:cubicBezTo>
                  <a:cubicBezTo>
                    <a:pt x="501234" y="287239"/>
                    <a:pt x="495667" y="289545"/>
                    <a:pt x="489862" y="289545"/>
                  </a:cubicBezTo>
                  <a:lnTo>
                    <a:pt x="21887" y="289545"/>
                  </a:lnTo>
                  <a:cubicBezTo>
                    <a:pt x="16082" y="289545"/>
                    <a:pt x="10515" y="287239"/>
                    <a:pt x="6411" y="283135"/>
                  </a:cubicBezTo>
                  <a:cubicBezTo>
                    <a:pt x="2306" y="279030"/>
                    <a:pt x="0" y="273463"/>
                    <a:pt x="0" y="267658"/>
                  </a:cubicBezTo>
                  <a:lnTo>
                    <a:pt x="0" y="21887"/>
                  </a:lnTo>
                  <a:cubicBezTo>
                    <a:pt x="0" y="16082"/>
                    <a:pt x="2306" y="10515"/>
                    <a:pt x="6411" y="6411"/>
                  </a:cubicBezTo>
                  <a:cubicBezTo>
                    <a:pt x="10515" y="2306"/>
                    <a:pt x="16082" y="0"/>
                    <a:pt x="21887" y="0"/>
                  </a:cubicBezTo>
                  <a:close/>
                </a:path>
              </a:pathLst>
            </a:custGeom>
            <a:ln w="38100" cap="sq">
              <a:solidFill>
                <a:srgbClr val="01416B"/>
              </a:solidFill>
              <a:prstDash val="solid"/>
              <a:miter/>
            </a:ln>
          </p:spPr>
        </p:sp>
        <p:sp>
          <p:nvSpPr>
            <p:cNvPr name="TextBox 44" id="44"/>
            <p:cNvSpPr txBox="true"/>
            <p:nvPr/>
          </p:nvSpPr>
          <p:spPr>
            <a:xfrm>
              <a:off x="0" y="-123825"/>
              <a:ext cx="511749" cy="413370"/>
            </a:xfrm>
            <a:prstGeom prst="rect">
              <a:avLst/>
            </a:prstGeom>
          </p:spPr>
          <p:txBody>
            <a:bodyPr anchor="ctr" rtlCol="false" tIns="50800" lIns="50800" bIns="50800" rIns="50800"/>
            <a:lstStyle/>
            <a:p>
              <a:pPr algn="ctr">
                <a:lnSpc>
                  <a:spcPts val="3780"/>
                </a:lnSpc>
              </a:pPr>
            </a:p>
          </p:txBody>
        </p:sp>
      </p:grpSp>
      <p:grpSp>
        <p:nvGrpSpPr>
          <p:cNvPr name="Group 45" id="45"/>
          <p:cNvGrpSpPr/>
          <p:nvPr/>
        </p:nvGrpSpPr>
        <p:grpSpPr>
          <a:xfrm rot="0">
            <a:off x="11755874" y="4807380"/>
            <a:ext cx="2611244" cy="1397665"/>
            <a:chOff x="0" y="0"/>
            <a:chExt cx="537293" cy="287585"/>
          </a:xfrm>
        </p:grpSpPr>
        <p:sp>
          <p:nvSpPr>
            <p:cNvPr name="Freeform 46" id="46"/>
            <p:cNvSpPr/>
            <p:nvPr/>
          </p:nvSpPr>
          <p:spPr>
            <a:xfrm flipH="false" flipV="false" rot="0">
              <a:off x="0" y="0"/>
              <a:ext cx="537293" cy="287585"/>
            </a:xfrm>
            <a:custGeom>
              <a:avLst/>
              <a:gdLst/>
              <a:ahLst/>
              <a:cxnLst/>
              <a:rect r="r" b="b" t="t" l="l"/>
              <a:pathLst>
                <a:path h="287585" w="537293">
                  <a:moveTo>
                    <a:pt x="20847" y="0"/>
                  </a:moveTo>
                  <a:lnTo>
                    <a:pt x="516446" y="0"/>
                  </a:lnTo>
                  <a:cubicBezTo>
                    <a:pt x="527960" y="0"/>
                    <a:pt x="537293" y="9333"/>
                    <a:pt x="537293" y="20847"/>
                  </a:cubicBezTo>
                  <a:lnTo>
                    <a:pt x="537293" y="266739"/>
                  </a:lnTo>
                  <a:cubicBezTo>
                    <a:pt x="537293" y="278252"/>
                    <a:pt x="527960" y="287585"/>
                    <a:pt x="516446" y="287585"/>
                  </a:cubicBezTo>
                  <a:lnTo>
                    <a:pt x="20847" y="287585"/>
                  </a:lnTo>
                  <a:cubicBezTo>
                    <a:pt x="9333" y="287585"/>
                    <a:pt x="0" y="278252"/>
                    <a:pt x="0" y="266739"/>
                  </a:cubicBezTo>
                  <a:lnTo>
                    <a:pt x="0" y="20847"/>
                  </a:lnTo>
                  <a:cubicBezTo>
                    <a:pt x="0" y="9333"/>
                    <a:pt x="9333" y="0"/>
                    <a:pt x="20847" y="0"/>
                  </a:cubicBezTo>
                  <a:close/>
                </a:path>
              </a:pathLst>
            </a:custGeom>
            <a:ln w="38100" cap="sq">
              <a:solidFill>
                <a:srgbClr val="01416B"/>
              </a:solidFill>
              <a:prstDash val="solid"/>
              <a:miter/>
            </a:ln>
          </p:spPr>
        </p:sp>
        <p:sp>
          <p:nvSpPr>
            <p:cNvPr name="TextBox 47" id="47"/>
            <p:cNvSpPr txBox="true"/>
            <p:nvPr/>
          </p:nvSpPr>
          <p:spPr>
            <a:xfrm>
              <a:off x="0" y="-123825"/>
              <a:ext cx="537293" cy="411410"/>
            </a:xfrm>
            <a:prstGeom prst="rect">
              <a:avLst/>
            </a:prstGeom>
          </p:spPr>
          <p:txBody>
            <a:bodyPr anchor="ctr" rtlCol="false" tIns="50800" lIns="50800" bIns="50800" rIns="50800"/>
            <a:lstStyle/>
            <a:p>
              <a:pPr algn="ctr">
                <a:lnSpc>
                  <a:spcPts val="3780"/>
                </a:lnSpc>
              </a:pPr>
            </a:p>
          </p:txBody>
        </p:sp>
      </p:grpSp>
      <p:grpSp>
        <p:nvGrpSpPr>
          <p:cNvPr name="Group 48" id="48"/>
          <p:cNvGrpSpPr/>
          <p:nvPr/>
        </p:nvGrpSpPr>
        <p:grpSpPr>
          <a:xfrm rot="0">
            <a:off x="14433792" y="4807380"/>
            <a:ext cx="2825508" cy="1397665"/>
            <a:chOff x="0" y="0"/>
            <a:chExt cx="581380" cy="287585"/>
          </a:xfrm>
        </p:grpSpPr>
        <p:sp>
          <p:nvSpPr>
            <p:cNvPr name="Freeform 49" id="49"/>
            <p:cNvSpPr/>
            <p:nvPr/>
          </p:nvSpPr>
          <p:spPr>
            <a:xfrm flipH="false" flipV="false" rot="0">
              <a:off x="0" y="0"/>
              <a:ext cx="581380" cy="287585"/>
            </a:xfrm>
            <a:custGeom>
              <a:avLst/>
              <a:gdLst/>
              <a:ahLst/>
              <a:cxnLst/>
              <a:rect r="r" b="b" t="t" l="l"/>
              <a:pathLst>
                <a:path h="287585" w="581380">
                  <a:moveTo>
                    <a:pt x="19266" y="0"/>
                  </a:moveTo>
                  <a:lnTo>
                    <a:pt x="562115" y="0"/>
                  </a:lnTo>
                  <a:cubicBezTo>
                    <a:pt x="567224" y="0"/>
                    <a:pt x="572124" y="2030"/>
                    <a:pt x="575737" y="5643"/>
                  </a:cubicBezTo>
                  <a:cubicBezTo>
                    <a:pt x="579350" y="9256"/>
                    <a:pt x="581380" y="14156"/>
                    <a:pt x="581380" y="19266"/>
                  </a:cubicBezTo>
                  <a:lnTo>
                    <a:pt x="581380" y="268320"/>
                  </a:lnTo>
                  <a:cubicBezTo>
                    <a:pt x="581380" y="278960"/>
                    <a:pt x="572755" y="287585"/>
                    <a:pt x="562115" y="287585"/>
                  </a:cubicBezTo>
                  <a:lnTo>
                    <a:pt x="19266" y="287585"/>
                  </a:lnTo>
                  <a:cubicBezTo>
                    <a:pt x="14156" y="287585"/>
                    <a:pt x="9256" y="285556"/>
                    <a:pt x="5643" y="281943"/>
                  </a:cubicBezTo>
                  <a:cubicBezTo>
                    <a:pt x="2030" y="278330"/>
                    <a:pt x="0" y="273429"/>
                    <a:pt x="0" y="268320"/>
                  </a:cubicBezTo>
                  <a:lnTo>
                    <a:pt x="0" y="19266"/>
                  </a:lnTo>
                  <a:cubicBezTo>
                    <a:pt x="0" y="14156"/>
                    <a:pt x="2030" y="9256"/>
                    <a:pt x="5643" y="5643"/>
                  </a:cubicBezTo>
                  <a:cubicBezTo>
                    <a:pt x="9256" y="2030"/>
                    <a:pt x="14156" y="0"/>
                    <a:pt x="19266" y="0"/>
                  </a:cubicBezTo>
                  <a:close/>
                </a:path>
              </a:pathLst>
            </a:custGeom>
            <a:ln w="38100" cap="sq">
              <a:solidFill>
                <a:srgbClr val="01416B"/>
              </a:solidFill>
              <a:prstDash val="solid"/>
              <a:miter/>
            </a:ln>
          </p:spPr>
        </p:sp>
        <p:sp>
          <p:nvSpPr>
            <p:cNvPr name="TextBox 50" id="50"/>
            <p:cNvSpPr txBox="true"/>
            <p:nvPr/>
          </p:nvSpPr>
          <p:spPr>
            <a:xfrm>
              <a:off x="0" y="-123825"/>
              <a:ext cx="581380" cy="411410"/>
            </a:xfrm>
            <a:prstGeom prst="rect">
              <a:avLst/>
            </a:prstGeom>
          </p:spPr>
          <p:txBody>
            <a:bodyPr anchor="ctr" rtlCol="false" tIns="50800" lIns="50800" bIns="50800" rIns="50800"/>
            <a:lstStyle/>
            <a:p>
              <a:pPr algn="ctr">
                <a:lnSpc>
                  <a:spcPts val="3780"/>
                </a:lnSpc>
              </a:pPr>
            </a:p>
          </p:txBody>
        </p:sp>
      </p:grpSp>
      <p:grpSp>
        <p:nvGrpSpPr>
          <p:cNvPr name="Group 51" id="51"/>
          <p:cNvGrpSpPr/>
          <p:nvPr/>
        </p:nvGrpSpPr>
        <p:grpSpPr>
          <a:xfrm rot="0">
            <a:off x="1028700" y="6433645"/>
            <a:ext cx="16230600" cy="2990841"/>
            <a:chOff x="0" y="0"/>
            <a:chExt cx="3339630" cy="615399"/>
          </a:xfrm>
        </p:grpSpPr>
        <p:sp>
          <p:nvSpPr>
            <p:cNvPr name="Freeform 52" id="52"/>
            <p:cNvSpPr/>
            <p:nvPr/>
          </p:nvSpPr>
          <p:spPr>
            <a:xfrm flipH="false" flipV="false" rot="0">
              <a:off x="0" y="0"/>
              <a:ext cx="3339629" cy="615399"/>
            </a:xfrm>
            <a:custGeom>
              <a:avLst/>
              <a:gdLst/>
              <a:ahLst/>
              <a:cxnLst/>
              <a:rect r="r" b="b" t="t" l="l"/>
              <a:pathLst>
                <a:path h="615399" w="3339629">
                  <a:moveTo>
                    <a:pt x="3354" y="0"/>
                  </a:moveTo>
                  <a:lnTo>
                    <a:pt x="3336276" y="0"/>
                  </a:lnTo>
                  <a:cubicBezTo>
                    <a:pt x="3338128" y="0"/>
                    <a:pt x="3339629" y="1502"/>
                    <a:pt x="3339629" y="3354"/>
                  </a:cubicBezTo>
                  <a:lnTo>
                    <a:pt x="3339629" y="612046"/>
                  </a:lnTo>
                  <a:cubicBezTo>
                    <a:pt x="3339629" y="612935"/>
                    <a:pt x="3339276" y="613788"/>
                    <a:pt x="3338647" y="614417"/>
                  </a:cubicBezTo>
                  <a:cubicBezTo>
                    <a:pt x="3338018" y="615046"/>
                    <a:pt x="3337165" y="615399"/>
                    <a:pt x="3336276" y="615399"/>
                  </a:cubicBezTo>
                  <a:lnTo>
                    <a:pt x="3354" y="615399"/>
                  </a:lnTo>
                  <a:cubicBezTo>
                    <a:pt x="1502" y="615399"/>
                    <a:pt x="0" y="613898"/>
                    <a:pt x="0" y="612046"/>
                  </a:cubicBezTo>
                  <a:lnTo>
                    <a:pt x="0" y="3354"/>
                  </a:lnTo>
                  <a:cubicBezTo>
                    <a:pt x="0" y="1502"/>
                    <a:pt x="1502" y="0"/>
                    <a:pt x="3354" y="0"/>
                  </a:cubicBezTo>
                  <a:close/>
                </a:path>
              </a:pathLst>
            </a:custGeom>
            <a:ln w="38100" cap="sq">
              <a:solidFill>
                <a:srgbClr val="01416B"/>
              </a:solidFill>
              <a:prstDash val="solid"/>
              <a:miter/>
            </a:ln>
          </p:spPr>
        </p:sp>
        <p:sp>
          <p:nvSpPr>
            <p:cNvPr name="TextBox 53" id="53"/>
            <p:cNvSpPr txBox="true"/>
            <p:nvPr/>
          </p:nvSpPr>
          <p:spPr>
            <a:xfrm>
              <a:off x="0" y="-123825"/>
              <a:ext cx="3339630" cy="739224"/>
            </a:xfrm>
            <a:prstGeom prst="rect">
              <a:avLst/>
            </a:prstGeom>
          </p:spPr>
          <p:txBody>
            <a:bodyPr anchor="ctr" rtlCol="false" tIns="50800" lIns="50800" bIns="50800" rIns="50800"/>
            <a:lstStyle/>
            <a:p>
              <a:pPr algn="ctr">
                <a:lnSpc>
                  <a:spcPts val="3780"/>
                </a:lnSpc>
              </a:pPr>
            </a:p>
          </p:txBody>
        </p:sp>
      </p:grpSp>
      <p:sp>
        <p:nvSpPr>
          <p:cNvPr name="Freeform 54" id="54"/>
          <p:cNvSpPr/>
          <p:nvPr/>
        </p:nvSpPr>
        <p:spPr>
          <a:xfrm flipH="false" flipV="false" rot="0">
            <a:off x="1177473" y="7128970"/>
            <a:ext cx="3551458" cy="1816317"/>
          </a:xfrm>
          <a:custGeom>
            <a:avLst/>
            <a:gdLst/>
            <a:ahLst/>
            <a:cxnLst/>
            <a:rect r="r" b="b" t="t" l="l"/>
            <a:pathLst>
              <a:path h="1816317" w="3551458">
                <a:moveTo>
                  <a:pt x="0" y="0"/>
                </a:moveTo>
                <a:lnTo>
                  <a:pt x="3551459" y="0"/>
                </a:lnTo>
                <a:lnTo>
                  <a:pt x="3551459" y="1816317"/>
                </a:lnTo>
                <a:lnTo>
                  <a:pt x="0" y="1816317"/>
                </a:lnTo>
                <a:lnTo>
                  <a:pt x="0" y="0"/>
                </a:lnTo>
                <a:close/>
              </a:path>
            </a:pathLst>
          </a:custGeom>
          <a:blipFill>
            <a:blip r:embed="rId3"/>
            <a:stretch>
              <a:fillRect l="0" t="0" r="0" b="0"/>
            </a:stretch>
          </a:blipFill>
        </p:spPr>
      </p:sp>
      <p:sp>
        <p:nvSpPr>
          <p:cNvPr name="TextBox 55" id="55"/>
          <p:cNvSpPr txBox="true"/>
          <p:nvPr/>
        </p:nvSpPr>
        <p:spPr>
          <a:xfrm rot="0">
            <a:off x="1389663" y="3195063"/>
            <a:ext cx="5053433" cy="12287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cara bertanya saja belum cukup, sistem harus menemukan kombinasi destinasi yang pas dengan anggaran, waktu, dan jumlah orang dari berbagai pilihan</a:t>
            </a:r>
          </a:p>
        </p:txBody>
      </p:sp>
      <p:sp>
        <p:nvSpPr>
          <p:cNvPr name="TextBox 56" id="56"/>
          <p:cNvSpPr txBox="true"/>
          <p:nvPr/>
        </p:nvSpPr>
        <p:spPr>
          <a:xfrm rot="0">
            <a:off x="1177473" y="6481270"/>
            <a:ext cx="8193601" cy="476250"/>
          </a:xfrm>
          <a:prstGeom prst="rect">
            <a:avLst/>
          </a:prstGeom>
        </p:spPr>
        <p:txBody>
          <a:bodyPr anchor="t" rtlCol="false" tIns="0" lIns="0" bIns="0" rIns="0">
            <a:spAutoFit/>
          </a:bodyPr>
          <a:lstStyle/>
          <a:p>
            <a:pPr algn="l">
              <a:lnSpc>
                <a:spcPts val="3600"/>
              </a:lnSpc>
            </a:pPr>
            <a:r>
              <a:rPr lang="en-US" sz="3000" b="true">
                <a:solidFill>
                  <a:srgbClr val="01416B"/>
                </a:solidFill>
                <a:latin typeface="Arimo Bold"/>
                <a:ea typeface="Arimo Bold"/>
                <a:cs typeface="Arimo Bold"/>
                <a:sym typeface="Arimo Bold"/>
              </a:rPr>
              <a:t>sehingga.... </a:t>
            </a:r>
            <a:r>
              <a:rPr lang="en-US" sz="3000" b="true">
                <a:solidFill>
                  <a:srgbClr val="FF3131"/>
                </a:solidFill>
                <a:latin typeface="Arimo Bold"/>
                <a:ea typeface="Arimo Bold"/>
                <a:cs typeface="Arimo Bold"/>
                <a:sym typeface="Arimo Bold"/>
              </a:rPr>
              <a:t>Ruang Pencarian Sangat Besar</a:t>
            </a:r>
          </a:p>
        </p:txBody>
      </p:sp>
      <p:grpSp>
        <p:nvGrpSpPr>
          <p:cNvPr name="Group 57" id="57"/>
          <p:cNvGrpSpPr/>
          <p:nvPr/>
        </p:nvGrpSpPr>
        <p:grpSpPr>
          <a:xfrm rot="0">
            <a:off x="9133139" y="6795595"/>
            <a:ext cx="3665653" cy="1407190"/>
            <a:chOff x="0" y="0"/>
            <a:chExt cx="754250" cy="289545"/>
          </a:xfrm>
        </p:grpSpPr>
        <p:sp>
          <p:nvSpPr>
            <p:cNvPr name="Freeform 58" id="58"/>
            <p:cNvSpPr/>
            <p:nvPr/>
          </p:nvSpPr>
          <p:spPr>
            <a:xfrm flipH="false" flipV="false" rot="0">
              <a:off x="0" y="0"/>
              <a:ext cx="754250" cy="289545"/>
            </a:xfrm>
            <a:custGeom>
              <a:avLst/>
              <a:gdLst/>
              <a:ahLst/>
              <a:cxnLst/>
              <a:rect r="r" b="b" t="t" l="l"/>
              <a:pathLst>
                <a:path h="289545" w="754250">
                  <a:moveTo>
                    <a:pt x="14850" y="0"/>
                  </a:moveTo>
                  <a:lnTo>
                    <a:pt x="739399" y="0"/>
                  </a:lnTo>
                  <a:cubicBezTo>
                    <a:pt x="743338" y="0"/>
                    <a:pt x="747115" y="1565"/>
                    <a:pt x="749900" y="4349"/>
                  </a:cubicBezTo>
                  <a:cubicBezTo>
                    <a:pt x="752685" y="7134"/>
                    <a:pt x="754250" y="10912"/>
                    <a:pt x="754250" y="14850"/>
                  </a:cubicBezTo>
                  <a:lnTo>
                    <a:pt x="754250" y="274695"/>
                  </a:lnTo>
                  <a:cubicBezTo>
                    <a:pt x="754250" y="278634"/>
                    <a:pt x="752685" y="282411"/>
                    <a:pt x="749900" y="285196"/>
                  </a:cubicBezTo>
                  <a:cubicBezTo>
                    <a:pt x="747115" y="287981"/>
                    <a:pt x="743338" y="289545"/>
                    <a:pt x="739399" y="289545"/>
                  </a:cubicBezTo>
                  <a:lnTo>
                    <a:pt x="14850" y="289545"/>
                  </a:lnTo>
                  <a:cubicBezTo>
                    <a:pt x="10912" y="289545"/>
                    <a:pt x="7134" y="287981"/>
                    <a:pt x="4349" y="285196"/>
                  </a:cubicBezTo>
                  <a:cubicBezTo>
                    <a:pt x="1565" y="282411"/>
                    <a:pt x="0" y="278634"/>
                    <a:pt x="0" y="274695"/>
                  </a:cubicBezTo>
                  <a:lnTo>
                    <a:pt x="0" y="14850"/>
                  </a:lnTo>
                  <a:cubicBezTo>
                    <a:pt x="0" y="10912"/>
                    <a:pt x="1565" y="7134"/>
                    <a:pt x="4349" y="4349"/>
                  </a:cubicBezTo>
                  <a:cubicBezTo>
                    <a:pt x="7134" y="1565"/>
                    <a:pt x="10912" y="0"/>
                    <a:pt x="14850" y="0"/>
                  </a:cubicBezTo>
                  <a:close/>
                </a:path>
              </a:pathLst>
            </a:custGeom>
            <a:solidFill>
              <a:srgbClr val="01416B"/>
            </a:solidFill>
          </p:spPr>
        </p:sp>
        <p:sp>
          <p:nvSpPr>
            <p:cNvPr name="TextBox 59" id="59"/>
            <p:cNvSpPr txBox="true"/>
            <p:nvPr/>
          </p:nvSpPr>
          <p:spPr>
            <a:xfrm>
              <a:off x="0" y="-123825"/>
              <a:ext cx="754250" cy="413370"/>
            </a:xfrm>
            <a:prstGeom prst="rect">
              <a:avLst/>
            </a:prstGeom>
          </p:spPr>
          <p:txBody>
            <a:bodyPr anchor="ctr" rtlCol="false" tIns="50800" lIns="50800" bIns="50800" rIns="50800"/>
            <a:lstStyle/>
            <a:p>
              <a:pPr algn="ctr">
                <a:lnSpc>
                  <a:spcPts val="3780"/>
                </a:lnSpc>
              </a:pPr>
            </a:p>
          </p:txBody>
        </p:sp>
      </p:grpSp>
      <p:grpSp>
        <p:nvGrpSpPr>
          <p:cNvPr name="Group 60" id="60"/>
          <p:cNvGrpSpPr/>
          <p:nvPr/>
        </p:nvGrpSpPr>
        <p:grpSpPr>
          <a:xfrm rot="0">
            <a:off x="13235700" y="6795595"/>
            <a:ext cx="3665653" cy="1407190"/>
            <a:chOff x="0" y="0"/>
            <a:chExt cx="754250" cy="289545"/>
          </a:xfrm>
        </p:grpSpPr>
        <p:sp>
          <p:nvSpPr>
            <p:cNvPr name="Freeform 61" id="61"/>
            <p:cNvSpPr/>
            <p:nvPr/>
          </p:nvSpPr>
          <p:spPr>
            <a:xfrm flipH="false" flipV="false" rot="0">
              <a:off x="0" y="0"/>
              <a:ext cx="754250" cy="289545"/>
            </a:xfrm>
            <a:custGeom>
              <a:avLst/>
              <a:gdLst/>
              <a:ahLst/>
              <a:cxnLst/>
              <a:rect r="r" b="b" t="t" l="l"/>
              <a:pathLst>
                <a:path h="289545" w="754250">
                  <a:moveTo>
                    <a:pt x="14850" y="0"/>
                  </a:moveTo>
                  <a:lnTo>
                    <a:pt x="739399" y="0"/>
                  </a:lnTo>
                  <a:cubicBezTo>
                    <a:pt x="743338" y="0"/>
                    <a:pt x="747115" y="1565"/>
                    <a:pt x="749900" y="4349"/>
                  </a:cubicBezTo>
                  <a:cubicBezTo>
                    <a:pt x="752685" y="7134"/>
                    <a:pt x="754250" y="10912"/>
                    <a:pt x="754250" y="14850"/>
                  </a:cubicBezTo>
                  <a:lnTo>
                    <a:pt x="754250" y="274695"/>
                  </a:lnTo>
                  <a:cubicBezTo>
                    <a:pt x="754250" y="278634"/>
                    <a:pt x="752685" y="282411"/>
                    <a:pt x="749900" y="285196"/>
                  </a:cubicBezTo>
                  <a:cubicBezTo>
                    <a:pt x="747115" y="287981"/>
                    <a:pt x="743338" y="289545"/>
                    <a:pt x="739399" y="289545"/>
                  </a:cubicBezTo>
                  <a:lnTo>
                    <a:pt x="14850" y="289545"/>
                  </a:lnTo>
                  <a:cubicBezTo>
                    <a:pt x="10912" y="289545"/>
                    <a:pt x="7134" y="287981"/>
                    <a:pt x="4349" y="285196"/>
                  </a:cubicBezTo>
                  <a:cubicBezTo>
                    <a:pt x="1565" y="282411"/>
                    <a:pt x="0" y="278634"/>
                    <a:pt x="0" y="274695"/>
                  </a:cubicBezTo>
                  <a:lnTo>
                    <a:pt x="0" y="14850"/>
                  </a:lnTo>
                  <a:cubicBezTo>
                    <a:pt x="0" y="10912"/>
                    <a:pt x="1565" y="7134"/>
                    <a:pt x="4349" y="4349"/>
                  </a:cubicBezTo>
                  <a:cubicBezTo>
                    <a:pt x="7134" y="1565"/>
                    <a:pt x="10912" y="0"/>
                    <a:pt x="14850" y="0"/>
                  </a:cubicBezTo>
                  <a:close/>
                </a:path>
              </a:pathLst>
            </a:custGeom>
            <a:solidFill>
              <a:srgbClr val="01416B"/>
            </a:solidFill>
          </p:spPr>
        </p:sp>
        <p:sp>
          <p:nvSpPr>
            <p:cNvPr name="TextBox 62" id="62"/>
            <p:cNvSpPr txBox="true"/>
            <p:nvPr/>
          </p:nvSpPr>
          <p:spPr>
            <a:xfrm>
              <a:off x="0" y="-123825"/>
              <a:ext cx="754250" cy="413370"/>
            </a:xfrm>
            <a:prstGeom prst="rect">
              <a:avLst/>
            </a:prstGeom>
          </p:spPr>
          <p:txBody>
            <a:bodyPr anchor="ctr" rtlCol="false" tIns="50800" lIns="50800" bIns="50800" rIns="50800"/>
            <a:lstStyle/>
            <a:p>
              <a:pPr algn="ctr">
                <a:lnSpc>
                  <a:spcPts val="3780"/>
                </a:lnSpc>
              </a:pPr>
            </a:p>
          </p:txBody>
        </p:sp>
      </p:grpSp>
      <p:sp>
        <p:nvSpPr>
          <p:cNvPr name="Freeform 63" id="63"/>
          <p:cNvSpPr/>
          <p:nvPr/>
        </p:nvSpPr>
        <p:spPr>
          <a:xfrm flipH="false" flipV="false" rot="0">
            <a:off x="12390120" y="6909895"/>
            <a:ext cx="1520715" cy="577872"/>
          </a:xfrm>
          <a:custGeom>
            <a:avLst/>
            <a:gdLst/>
            <a:ahLst/>
            <a:cxnLst/>
            <a:rect r="r" b="b" t="t" l="l"/>
            <a:pathLst>
              <a:path h="577872" w="1520715">
                <a:moveTo>
                  <a:pt x="0" y="0"/>
                </a:moveTo>
                <a:lnTo>
                  <a:pt x="1520715" y="0"/>
                </a:lnTo>
                <a:lnTo>
                  <a:pt x="1520715" y="577871"/>
                </a:lnTo>
                <a:lnTo>
                  <a:pt x="0" y="577871"/>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4" id="64"/>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Bukan Sekadar Preferensi, Kombinasi Tepat Sulit Ditemukan</a:t>
            </a:r>
          </a:p>
        </p:txBody>
      </p:sp>
      <p:sp>
        <p:nvSpPr>
          <p:cNvPr name="TextBox 65" id="65"/>
          <p:cNvSpPr txBox="true"/>
          <p:nvPr/>
        </p:nvSpPr>
        <p:spPr>
          <a:xfrm rot="0">
            <a:off x="1177473" y="1785262"/>
            <a:ext cx="15906069" cy="476250"/>
          </a:xfrm>
          <a:prstGeom prst="rect">
            <a:avLst/>
          </a:prstGeom>
        </p:spPr>
        <p:txBody>
          <a:bodyPr anchor="t" rtlCol="false" tIns="0" lIns="0" bIns="0" rIns="0">
            <a:spAutoFit/>
          </a:bodyPr>
          <a:lstStyle/>
          <a:p>
            <a:pPr algn="ctr">
              <a:lnSpc>
                <a:spcPts val="3600"/>
              </a:lnSpc>
            </a:pPr>
            <a:r>
              <a:rPr lang="en-US" sz="3000" b="true">
                <a:solidFill>
                  <a:srgbClr val="FFFFFF"/>
                </a:solidFill>
                <a:latin typeface="Arimo Bold"/>
                <a:ea typeface="Arimo Bold"/>
                <a:cs typeface="Arimo Bold"/>
                <a:sym typeface="Arimo Bold"/>
              </a:rPr>
              <a:t>Masalah</a:t>
            </a:r>
          </a:p>
        </p:txBody>
      </p:sp>
      <p:sp>
        <p:nvSpPr>
          <p:cNvPr name="TextBox 66" id="66"/>
          <p:cNvSpPr txBox="true"/>
          <p:nvPr/>
        </p:nvSpPr>
        <p:spPr>
          <a:xfrm rot="0">
            <a:off x="1293603" y="2389725"/>
            <a:ext cx="3050010" cy="3143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“mana yang lebih disuka”</a:t>
            </a:r>
          </a:p>
        </p:txBody>
      </p:sp>
      <p:sp>
        <p:nvSpPr>
          <p:cNvPr name="TextBox 67" id="67"/>
          <p:cNvSpPr txBox="true"/>
          <p:nvPr/>
        </p:nvSpPr>
        <p:spPr>
          <a:xfrm rot="0">
            <a:off x="2908872" y="2729858"/>
            <a:ext cx="935387" cy="3143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hiburan</a:t>
            </a:r>
          </a:p>
        </p:txBody>
      </p:sp>
      <p:sp>
        <p:nvSpPr>
          <p:cNvPr name="TextBox 68" id="68"/>
          <p:cNvSpPr txBox="true"/>
          <p:nvPr/>
        </p:nvSpPr>
        <p:spPr>
          <a:xfrm rot="0">
            <a:off x="6953377" y="2528212"/>
            <a:ext cx="1397613" cy="314325"/>
          </a:xfrm>
          <a:prstGeom prst="rect">
            <a:avLst/>
          </a:prstGeom>
        </p:spPr>
        <p:txBody>
          <a:bodyPr anchor="t" rtlCol="false" tIns="0" lIns="0" bIns="0" rIns="0">
            <a:spAutoFit/>
          </a:bodyPr>
          <a:lstStyle/>
          <a:p>
            <a:pPr algn="just">
              <a:lnSpc>
                <a:spcPts val="2400"/>
              </a:lnSpc>
            </a:pPr>
            <a:r>
              <a:rPr lang="en-US" b="true" sz="2000">
                <a:solidFill>
                  <a:srgbClr val="FFFFFF"/>
                </a:solidFill>
                <a:latin typeface="Arimo Bold"/>
                <a:ea typeface="Arimo Bold"/>
                <a:cs typeface="Arimo Bold"/>
                <a:sym typeface="Arimo Bold"/>
              </a:rPr>
              <a:t>Batasan: </a:t>
            </a:r>
          </a:p>
        </p:txBody>
      </p:sp>
      <p:sp>
        <p:nvSpPr>
          <p:cNvPr name="TextBox 69" id="69"/>
          <p:cNvSpPr txBox="true"/>
          <p:nvPr/>
        </p:nvSpPr>
        <p:spPr>
          <a:xfrm rot="0">
            <a:off x="8431701" y="2528212"/>
            <a:ext cx="1397613" cy="314325"/>
          </a:xfrm>
          <a:prstGeom prst="rect">
            <a:avLst/>
          </a:prstGeom>
        </p:spPr>
        <p:txBody>
          <a:bodyPr anchor="t" rtlCol="false" tIns="0" lIns="0" bIns="0" rIns="0">
            <a:spAutoFit/>
          </a:bodyPr>
          <a:lstStyle/>
          <a:p>
            <a:pPr algn="just">
              <a:lnSpc>
                <a:spcPts val="2400"/>
              </a:lnSpc>
            </a:pPr>
            <a:r>
              <a:rPr lang="en-US" sz="2000">
                <a:solidFill>
                  <a:srgbClr val="FFFFFF"/>
                </a:solidFill>
                <a:latin typeface="Arimo"/>
                <a:ea typeface="Arimo"/>
                <a:cs typeface="Arimo"/>
                <a:sym typeface="Arimo"/>
              </a:rPr>
              <a:t>1.000.000</a:t>
            </a:r>
          </a:p>
        </p:txBody>
      </p:sp>
      <p:sp>
        <p:nvSpPr>
          <p:cNvPr name="TextBox 70" id="70"/>
          <p:cNvSpPr txBox="true"/>
          <p:nvPr/>
        </p:nvSpPr>
        <p:spPr>
          <a:xfrm rot="0">
            <a:off x="10303574" y="2528212"/>
            <a:ext cx="2904599" cy="314325"/>
          </a:xfrm>
          <a:prstGeom prst="rect">
            <a:avLst/>
          </a:prstGeom>
        </p:spPr>
        <p:txBody>
          <a:bodyPr anchor="t" rtlCol="false" tIns="0" lIns="0" bIns="0" rIns="0">
            <a:spAutoFit/>
          </a:bodyPr>
          <a:lstStyle/>
          <a:p>
            <a:pPr algn="just">
              <a:lnSpc>
                <a:spcPts val="2400"/>
              </a:lnSpc>
            </a:pPr>
            <a:r>
              <a:rPr lang="en-US" sz="2000">
                <a:solidFill>
                  <a:srgbClr val="FFFFFF"/>
                </a:solidFill>
                <a:latin typeface="Arimo"/>
                <a:ea typeface="Arimo"/>
                <a:cs typeface="Arimo"/>
                <a:sym typeface="Arimo"/>
              </a:rPr>
              <a:t>5 hari x 7 jam = 35 jam</a:t>
            </a:r>
          </a:p>
        </p:txBody>
      </p:sp>
      <p:sp>
        <p:nvSpPr>
          <p:cNvPr name="TextBox 71" id="71"/>
          <p:cNvSpPr txBox="true"/>
          <p:nvPr/>
        </p:nvSpPr>
        <p:spPr>
          <a:xfrm rot="0">
            <a:off x="13684423" y="2528212"/>
            <a:ext cx="2904599" cy="314325"/>
          </a:xfrm>
          <a:prstGeom prst="rect">
            <a:avLst/>
          </a:prstGeom>
        </p:spPr>
        <p:txBody>
          <a:bodyPr anchor="t" rtlCol="false" tIns="0" lIns="0" bIns="0" rIns="0">
            <a:spAutoFit/>
          </a:bodyPr>
          <a:lstStyle/>
          <a:p>
            <a:pPr algn="just">
              <a:lnSpc>
                <a:spcPts val="2400"/>
              </a:lnSpc>
            </a:pPr>
            <a:r>
              <a:rPr lang="en-US" sz="2000">
                <a:solidFill>
                  <a:srgbClr val="FFFFFF"/>
                </a:solidFill>
                <a:latin typeface="Arimo"/>
                <a:ea typeface="Arimo"/>
                <a:cs typeface="Arimo"/>
                <a:sym typeface="Arimo"/>
              </a:rPr>
              <a:t>2 dewasa</a:t>
            </a:r>
          </a:p>
        </p:txBody>
      </p:sp>
      <p:sp>
        <p:nvSpPr>
          <p:cNvPr name="TextBox 72" id="72"/>
          <p:cNvSpPr txBox="true"/>
          <p:nvPr/>
        </p:nvSpPr>
        <p:spPr>
          <a:xfrm rot="0">
            <a:off x="12917893" y="3320271"/>
            <a:ext cx="3983459" cy="314325"/>
          </a:xfrm>
          <a:prstGeom prst="rect">
            <a:avLst/>
          </a:prstGeom>
        </p:spPr>
        <p:txBody>
          <a:bodyPr anchor="t" rtlCol="false" tIns="0" lIns="0" bIns="0" rIns="0">
            <a:spAutoFit/>
          </a:bodyPr>
          <a:lstStyle/>
          <a:p>
            <a:pPr algn="just">
              <a:lnSpc>
                <a:spcPts val="2400"/>
              </a:lnSpc>
            </a:pPr>
            <a:r>
              <a:rPr lang="en-US" sz="2000">
                <a:solidFill>
                  <a:srgbClr val="FFFFFF"/>
                </a:solidFill>
                <a:latin typeface="Arimo"/>
                <a:ea typeface="Arimo"/>
                <a:cs typeface="Arimo"/>
                <a:sym typeface="Arimo"/>
              </a:rPr>
              <a:t>durasi 32 jam | biaya Rp600.000</a:t>
            </a:r>
          </a:p>
        </p:txBody>
      </p:sp>
      <p:sp>
        <p:nvSpPr>
          <p:cNvPr name="TextBox 73" id="73"/>
          <p:cNvSpPr txBox="true"/>
          <p:nvPr/>
        </p:nvSpPr>
        <p:spPr>
          <a:xfrm rot="0">
            <a:off x="12917893" y="4022355"/>
            <a:ext cx="3983459" cy="314325"/>
          </a:xfrm>
          <a:prstGeom prst="rect">
            <a:avLst/>
          </a:prstGeom>
        </p:spPr>
        <p:txBody>
          <a:bodyPr anchor="t" rtlCol="false" tIns="0" lIns="0" bIns="0" rIns="0">
            <a:spAutoFit/>
          </a:bodyPr>
          <a:lstStyle/>
          <a:p>
            <a:pPr algn="just">
              <a:lnSpc>
                <a:spcPts val="2400"/>
              </a:lnSpc>
            </a:pPr>
            <a:r>
              <a:rPr lang="en-US" sz="2000">
                <a:solidFill>
                  <a:srgbClr val="E50914"/>
                </a:solidFill>
                <a:latin typeface="Arimo"/>
                <a:ea typeface="Arimo"/>
                <a:cs typeface="Arimo"/>
                <a:sym typeface="Arimo"/>
              </a:rPr>
              <a:t>durasi 37 jam | biaya Rp640.000</a:t>
            </a:r>
          </a:p>
        </p:txBody>
      </p:sp>
      <p:sp>
        <p:nvSpPr>
          <p:cNvPr name="TextBox 74" id="74"/>
          <p:cNvSpPr txBox="true"/>
          <p:nvPr/>
        </p:nvSpPr>
        <p:spPr>
          <a:xfrm rot="0">
            <a:off x="1177473" y="5064555"/>
            <a:ext cx="4707298" cy="800100"/>
          </a:xfrm>
          <a:prstGeom prst="rect">
            <a:avLst/>
          </a:prstGeom>
        </p:spPr>
        <p:txBody>
          <a:bodyPr anchor="t" rtlCol="false" tIns="0" lIns="0" bIns="0" rIns="0">
            <a:spAutoFit/>
          </a:bodyPr>
          <a:lstStyle/>
          <a:p>
            <a:pPr algn="l">
              <a:lnSpc>
                <a:spcPts val="3000"/>
              </a:lnSpc>
            </a:pPr>
            <a:r>
              <a:rPr lang="en-US" sz="3000" b="true">
                <a:solidFill>
                  <a:srgbClr val="FFFFFF"/>
                </a:solidFill>
                <a:latin typeface="Arimo Bold"/>
                <a:ea typeface="Arimo Bold"/>
                <a:cs typeface="Arimo Bold"/>
                <a:sym typeface="Arimo Bold"/>
              </a:rPr>
              <a:t>Terdapat Kompleksitas yang Besar</a:t>
            </a:r>
          </a:p>
        </p:txBody>
      </p:sp>
      <p:sp>
        <p:nvSpPr>
          <p:cNvPr name="TextBox 75" id="75"/>
          <p:cNvSpPr txBox="true"/>
          <p:nvPr/>
        </p:nvSpPr>
        <p:spPr>
          <a:xfrm rot="0">
            <a:off x="6201033" y="4845480"/>
            <a:ext cx="2860841" cy="314325"/>
          </a:xfrm>
          <a:prstGeom prst="rect">
            <a:avLst/>
          </a:prstGeom>
        </p:spPr>
        <p:txBody>
          <a:bodyPr anchor="t" rtlCol="false" tIns="0" lIns="0" bIns="0" rIns="0">
            <a:spAutoFit/>
          </a:bodyPr>
          <a:lstStyle/>
          <a:p>
            <a:pPr algn="ctr">
              <a:lnSpc>
                <a:spcPts val="2400"/>
              </a:lnSpc>
            </a:pPr>
            <a:r>
              <a:rPr lang="en-US" sz="2000" b="true">
                <a:solidFill>
                  <a:srgbClr val="000000"/>
                </a:solidFill>
                <a:latin typeface="Arimo Bold"/>
                <a:ea typeface="Arimo Bold"/>
                <a:cs typeface="Arimo Bold"/>
                <a:sym typeface="Arimo Bold"/>
              </a:rPr>
              <a:t>Input Wisatawan</a:t>
            </a:r>
          </a:p>
        </p:txBody>
      </p:sp>
      <p:sp>
        <p:nvSpPr>
          <p:cNvPr name="TextBox 76" id="76"/>
          <p:cNvSpPr txBox="true"/>
          <p:nvPr/>
        </p:nvSpPr>
        <p:spPr>
          <a:xfrm rot="0">
            <a:off x="6201033" y="5150280"/>
            <a:ext cx="2860841" cy="923925"/>
          </a:xfrm>
          <a:prstGeom prst="rect">
            <a:avLst/>
          </a:prstGeom>
        </p:spPr>
        <p:txBody>
          <a:bodyPr anchor="t" rtlCol="false" tIns="0" lIns="0" bIns="0" rIns="0">
            <a:spAutoFit/>
          </a:bodyPr>
          <a:lstStyle/>
          <a:p>
            <a:pPr algn="ctr">
              <a:lnSpc>
                <a:spcPts val="2400"/>
              </a:lnSpc>
            </a:pPr>
            <a:r>
              <a:rPr lang="en-US" sz="2000">
                <a:solidFill>
                  <a:srgbClr val="000000"/>
                </a:solidFill>
                <a:latin typeface="Arimo"/>
                <a:ea typeface="Arimo"/>
                <a:cs typeface="Arimo"/>
                <a:sym typeface="Arimo"/>
              </a:rPr>
              <a:t>anggaran, durasi, jumlah orang, preferensi kategori</a:t>
            </a:r>
          </a:p>
        </p:txBody>
      </p:sp>
      <p:sp>
        <p:nvSpPr>
          <p:cNvPr name="TextBox 77" id="77"/>
          <p:cNvSpPr txBox="true"/>
          <p:nvPr/>
        </p:nvSpPr>
        <p:spPr>
          <a:xfrm rot="0">
            <a:off x="9197183" y="4845480"/>
            <a:ext cx="2489557" cy="314325"/>
          </a:xfrm>
          <a:prstGeom prst="rect">
            <a:avLst/>
          </a:prstGeom>
        </p:spPr>
        <p:txBody>
          <a:bodyPr anchor="t" rtlCol="false" tIns="0" lIns="0" bIns="0" rIns="0">
            <a:spAutoFit/>
          </a:bodyPr>
          <a:lstStyle/>
          <a:p>
            <a:pPr algn="ctr">
              <a:lnSpc>
                <a:spcPts val="2400"/>
              </a:lnSpc>
            </a:pPr>
            <a:r>
              <a:rPr lang="en-US" sz="2000" b="true">
                <a:solidFill>
                  <a:srgbClr val="000000"/>
                </a:solidFill>
                <a:latin typeface="Arimo Bold"/>
                <a:ea typeface="Arimo Bold"/>
                <a:cs typeface="Arimo Bold"/>
                <a:sym typeface="Arimo Bold"/>
              </a:rPr>
              <a:t>Data per destinasi</a:t>
            </a:r>
          </a:p>
        </p:txBody>
      </p:sp>
      <p:sp>
        <p:nvSpPr>
          <p:cNvPr name="TextBox 78" id="78"/>
          <p:cNvSpPr txBox="true"/>
          <p:nvPr/>
        </p:nvSpPr>
        <p:spPr>
          <a:xfrm rot="0">
            <a:off x="11820090" y="4845480"/>
            <a:ext cx="2489557" cy="314325"/>
          </a:xfrm>
          <a:prstGeom prst="rect">
            <a:avLst/>
          </a:prstGeom>
        </p:spPr>
        <p:txBody>
          <a:bodyPr anchor="t" rtlCol="false" tIns="0" lIns="0" bIns="0" rIns="0">
            <a:spAutoFit/>
          </a:bodyPr>
          <a:lstStyle/>
          <a:p>
            <a:pPr algn="ctr">
              <a:lnSpc>
                <a:spcPts val="2400"/>
              </a:lnSpc>
            </a:pPr>
            <a:r>
              <a:rPr lang="en-US" sz="2000" b="true">
                <a:solidFill>
                  <a:srgbClr val="000000"/>
                </a:solidFill>
                <a:latin typeface="Arimo Bold"/>
                <a:ea typeface="Arimo Bold"/>
                <a:cs typeface="Arimo Bold"/>
                <a:sym typeface="Arimo Bold"/>
              </a:rPr>
              <a:t>Data antardestinasi</a:t>
            </a:r>
          </a:p>
        </p:txBody>
      </p:sp>
      <p:sp>
        <p:nvSpPr>
          <p:cNvPr name="TextBox 79" id="79"/>
          <p:cNvSpPr txBox="true"/>
          <p:nvPr/>
        </p:nvSpPr>
        <p:spPr>
          <a:xfrm rot="0">
            <a:off x="14593985" y="4845480"/>
            <a:ext cx="2489557" cy="314325"/>
          </a:xfrm>
          <a:prstGeom prst="rect">
            <a:avLst/>
          </a:prstGeom>
        </p:spPr>
        <p:txBody>
          <a:bodyPr anchor="t" rtlCol="false" tIns="0" lIns="0" bIns="0" rIns="0">
            <a:spAutoFit/>
          </a:bodyPr>
          <a:lstStyle/>
          <a:p>
            <a:pPr algn="ctr">
              <a:lnSpc>
                <a:spcPts val="2400"/>
              </a:lnSpc>
            </a:pPr>
            <a:r>
              <a:rPr lang="en-US" sz="2000" b="true">
                <a:solidFill>
                  <a:srgbClr val="000000"/>
                </a:solidFill>
                <a:latin typeface="Arimo Bold"/>
                <a:ea typeface="Arimo Bold"/>
                <a:cs typeface="Arimo Bold"/>
                <a:sym typeface="Arimo Bold"/>
              </a:rPr>
              <a:t>Ambang Validitas</a:t>
            </a:r>
          </a:p>
        </p:txBody>
      </p:sp>
      <p:sp>
        <p:nvSpPr>
          <p:cNvPr name="TextBox 80" id="80"/>
          <p:cNvSpPr txBox="true"/>
          <p:nvPr/>
        </p:nvSpPr>
        <p:spPr>
          <a:xfrm rot="0">
            <a:off x="9378158" y="5207430"/>
            <a:ext cx="2183017" cy="923925"/>
          </a:xfrm>
          <a:prstGeom prst="rect">
            <a:avLst/>
          </a:prstGeom>
        </p:spPr>
        <p:txBody>
          <a:bodyPr anchor="t" rtlCol="false" tIns="0" lIns="0" bIns="0" rIns="0">
            <a:spAutoFit/>
          </a:bodyPr>
          <a:lstStyle/>
          <a:p>
            <a:pPr algn="ctr">
              <a:lnSpc>
                <a:spcPts val="2400"/>
              </a:lnSpc>
            </a:pPr>
            <a:r>
              <a:rPr lang="en-US" sz="2000">
                <a:solidFill>
                  <a:srgbClr val="000000"/>
                </a:solidFill>
                <a:latin typeface="Arimo"/>
                <a:ea typeface="Arimo"/>
                <a:cs typeface="Arimo"/>
                <a:sym typeface="Arimo"/>
              </a:rPr>
              <a:t>harga tiket masuk, durasi kunjungan, kategori/tag</a:t>
            </a:r>
          </a:p>
        </p:txBody>
      </p:sp>
      <p:sp>
        <p:nvSpPr>
          <p:cNvPr name="TextBox 81" id="81"/>
          <p:cNvSpPr txBox="true"/>
          <p:nvPr/>
        </p:nvSpPr>
        <p:spPr>
          <a:xfrm rot="0">
            <a:off x="11934390" y="5207430"/>
            <a:ext cx="2375257" cy="923925"/>
          </a:xfrm>
          <a:prstGeom prst="rect">
            <a:avLst/>
          </a:prstGeom>
        </p:spPr>
        <p:txBody>
          <a:bodyPr anchor="t" rtlCol="false" tIns="0" lIns="0" bIns="0" rIns="0">
            <a:spAutoFit/>
          </a:bodyPr>
          <a:lstStyle/>
          <a:p>
            <a:pPr algn="ctr">
              <a:lnSpc>
                <a:spcPts val="2400"/>
              </a:lnSpc>
            </a:pPr>
            <a:r>
              <a:rPr lang="en-US" sz="2000">
                <a:solidFill>
                  <a:srgbClr val="000000"/>
                </a:solidFill>
                <a:latin typeface="Arimo"/>
                <a:ea typeface="Arimo"/>
                <a:cs typeface="Arimo"/>
                <a:sym typeface="Arimo"/>
              </a:rPr>
              <a:t>matriks jarak &amp; waktu tempuh → estimasi biaya </a:t>
            </a:r>
          </a:p>
        </p:txBody>
      </p:sp>
      <p:sp>
        <p:nvSpPr>
          <p:cNvPr name="TextBox 82" id="82"/>
          <p:cNvSpPr txBox="true"/>
          <p:nvPr/>
        </p:nvSpPr>
        <p:spPr>
          <a:xfrm rot="0">
            <a:off x="14658917" y="5207430"/>
            <a:ext cx="2375257" cy="619125"/>
          </a:xfrm>
          <a:prstGeom prst="rect">
            <a:avLst/>
          </a:prstGeom>
        </p:spPr>
        <p:txBody>
          <a:bodyPr anchor="t" rtlCol="false" tIns="0" lIns="0" bIns="0" rIns="0">
            <a:spAutoFit/>
          </a:bodyPr>
          <a:lstStyle/>
          <a:p>
            <a:pPr algn="ctr">
              <a:lnSpc>
                <a:spcPts val="2400"/>
              </a:lnSpc>
            </a:pPr>
            <a:r>
              <a:rPr lang="en-US" sz="2000">
                <a:solidFill>
                  <a:srgbClr val="000000"/>
                </a:solidFill>
                <a:latin typeface="Arimo"/>
                <a:ea typeface="Arimo"/>
                <a:cs typeface="Arimo"/>
                <a:sym typeface="Arimo"/>
              </a:rPr>
              <a:t>total biaya dan total durasi</a:t>
            </a:r>
          </a:p>
        </p:txBody>
      </p:sp>
      <p:sp>
        <p:nvSpPr>
          <p:cNvPr name="TextBox 83" id="83"/>
          <p:cNvSpPr txBox="true"/>
          <p:nvPr/>
        </p:nvSpPr>
        <p:spPr>
          <a:xfrm rot="0">
            <a:off x="4823018" y="7157545"/>
            <a:ext cx="3240157" cy="9239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2^201 ≈ 3,2 × 10^60 kemungkinan kombinasi dari 201 destinasi</a:t>
            </a:r>
          </a:p>
        </p:txBody>
      </p:sp>
      <p:sp>
        <p:nvSpPr>
          <p:cNvPr name="TextBox 84" id="84"/>
          <p:cNvSpPr txBox="true"/>
          <p:nvPr/>
        </p:nvSpPr>
        <p:spPr>
          <a:xfrm rot="0">
            <a:off x="9144000" y="7167070"/>
            <a:ext cx="3601609" cy="419100"/>
          </a:xfrm>
          <a:prstGeom prst="rect">
            <a:avLst/>
          </a:prstGeom>
        </p:spPr>
        <p:txBody>
          <a:bodyPr anchor="t" rtlCol="false" tIns="0" lIns="0" bIns="0" rIns="0">
            <a:spAutoFit/>
          </a:bodyPr>
          <a:lstStyle/>
          <a:p>
            <a:pPr algn="ctr">
              <a:lnSpc>
                <a:spcPts val="3000"/>
              </a:lnSpc>
            </a:pPr>
            <a:r>
              <a:rPr lang="en-US" sz="3000" b="true">
                <a:solidFill>
                  <a:srgbClr val="FFFFFF"/>
                </a:solidFill>
                <a:latin typeface="Arimo Bold"/>
                <a:ea typeface="Arimo Bold"/>
                <a:cs typeface="Arimo Bold"/>
                <a:sym typeface="Arimo Bold"/>
              </a:rPr>
              <a:t>Pilih Kombinasi</a:t>
            </a:r>
          </a:p>
        </p:txBody>
      </p:sp>
      <p:sp>
        <p:nvSpPr>
          <p:cNvPr name="TextBox 85" id="85"/>
          <p:cNvSpPr txBox="true"/>
          <p:nvPr/>
        </p:nvSpPr>
        <p:spPr>
          <a:xfrm rot="0">
            <a:off x="13267722" y="7195645"/>
            <a:ext cx="3601609" cy="419100"/>
          </a:xfrm>
          <a:prstGeom prst="rect">
            <a:avLst/>
          </a:prstGeom>
        </p:spPr>
        <p:txBody>
          <a:bodyPr anchor="t" rtlCol="false" tIns="0" lIns="0" bIns="0" rIns="0">
            <a:spAutoFit/>
          </a:bodyPr>
          <a:lstStyle/>
          <a:p>
            <a:pPr algn="ctr">
              <a:lnSpc>
                <a:spcPts val="3000"/>
              </a:lnSpc>
            </a:pPr>
            <a:r>
              <a:rPr lang="en-US" sz="3000" b="true">
                <a:solidFill>
                  <a:srgbClr val="FFFFFF"/>
                </a:solidFill>
                <a:latin typeface="Arimo Bold"/>
                <a:ea typeface="Arimo Bold"/>
                <a:cs typeface="Arimo Bold"/>
                <a:sym typeface="Arimo Bold"/>
              </a:rPr>
              <a:t>Urutan Rute</a:t>
            </a:r>
          </a:p>
        </p:txBody>
      </p:sp>
      <p:sp>
        <p:nvSpPr>
          <p:cNvPr name="TextBox 86" id="86"/>
          <p:cNvSpPr txBox="true"/>
          <p:nvPr/>
        </p:nvSpPr>
        <p:spPr>
          <a:xfrm rot="0">
            <a:off x="9371074" y="7530275"/>
            <a:ext cx="2860841" cy="314325"/>
          </a:xfrm>
          <a:prstGeom prst="rect">
            <a:avLst/>
          </a:prstGeom>
        </p:spPr>
        <p:txBody>
          <a:bodyPr anchor="t" rtlCol="false" tIns="0" lIns="0" bIns="0" rIns="0">
            <a:spAutoFit/>
          </a:bodyPr>
          <a:lstStyle/>
          <a:p>
            <a:pPr algn="ctr">
              <a:lnSpc>
                <a:spcPts val="2400"/>
              </a:lnSpc>
            </a:pPr>
            <a:r>
              <a:rPr lang="en-US" sz="2000">
                <a:solidFill>
                  <a:srgbClr val="FFFFFF"/>
                </a:solidFill>
                <a:latin typeface="Arimo"/>
                <a:ea typeface="Arimo"/>
                <a:cs typeface="Arimo"/>
                <a:sym typeface="Arimo"/>
              </a:rPr>
              <a:t>mirip Knapsack</a:t>
            </a:r>
          </a:p>
        </p:txBody>
      </p:sp>
      <p:sp>
        <p:nvSpPr>
          <p:cNvPr name="TextBox 87" id="87"/>
          <p:cNvSpPr txBox="true"/>
          <p:nvPr/>
        </p:nvSpPr>
        <p:spPr>
          <a:xfrm rot="0">
            <a:off x="13638106" y="7530275"/>
            <a:ext cx="2860841" cy="314325"/>
          </a:xfrm>
          <a:prstGeom prst="rect">
            <a:avLst/>
          </a:prstGeom>
        </p:spPr>
        <p:txBody>
          <a:bodyPr anchor="t" rtlCol="false" tIns="0" lIns="0" bIns="0" rIns="0">
            <a:spAutoFit/>
          </a:bodyPr>
          <a:lstStyle/>
          <a:p>
            <a:pPr algn="ctr">
              <a:lnSpc>
                <a:spcPts val="2400"/>
              </a:lnSpc>
            </a:pPr>
            <a:r>
              <a:rPr lang="en-US" sz="2000">
                <a:solidFill>
                  <a:srgbClr val="FFFFFF"/>
                </a:solidFill>
                <a:latin typeface="Arimo"/>
                <a:ea typeface="Arimo"/>
                <a:cs typeface="Arimo"/>
                <a:sym typeface="Arimo"/>
              </a:rPr>
              <a:t>mirip TSP</a:t>
            </a:r>
          </a:p>
        </p:txBody>
      </p:sp>
      <p:grpSp>
        <p:nvGrpSpPr>
          <p:cNvPr name="Group 88" id="88"/>
          <p:cNvGrpSpPr/>
          <p:nvPr/>
        </p:nvGrpSpPr>
        <p:grpSpPr>
          <a:xfrm rot="0">
            <a:off x="9144000" y="8319595"/>
            <a:ext cx="7757353" cy="841025"/>
            <a:chOff x="0" y="0"/>
            <a:chExt cx="1596163" cy="173050"/>
          </a:xfrm>
        </p:grpSpPr>
        <p:sp>
          <p:nvSpPr>
            <p:cNvPr name="Freeform 89" id="89"/>
            <p:cNvSpPr/>
            <p:nvPr/>
          </p:nvSpPr>
          <p:spPr>
            <a:xfrm flipH="false" flipV="false" rot="0">
              <a:off x="0" y="0"/>
              <a:ext cx="1596163" cy="173050"/>
            </a:xfrm>
            <a:custGeom>
              <a:avLst/>
              <a:gdLst/>
              <a:ahLst/>
              <a:cxnLst/>
              <a:rect r="r" b="b" t="t" l="l"/>
              <a:pathLst>
                <a:path h="173050" w="1596163">
                  <a:moveTo>
                    <a:pt x="7017" y="0"/>
                  </a:moveTo>
                  <a:lnTo>
                    <a:pt x="1589146" y="0"/>
                  </a:lnTo>
                  <a:cubicBezTo>
                    <a:pt x="1591007" y="0"/>
                    <a:pt x="1592792" y="739"/>
                    <a:pt x="1594108" y="2055"/>
                  </a:cubicBezTo>
                  <a:cubicBezTo>
                    <a:pt x="1595424" y="3371"/>
                    <a:pt x="1596163" y="5156"/>
                    <a:pt x="1596163" y="7017"/>
                  </a:cubicBezTo>
                  <a:lnTo>
                    <a:pt x="1596163" y="166033"/>
                  </a:lnTo>
                  <a:cubicBezTo>
                    <a:pt x="1596163" y="167894"/>
                    <a:pt x="1595424" y="169679"/>
                    <a:pt x="1594108" y="170995"/>
                  </a:cubicBezTo>
                  <a:cubicBezTo>
                    <a:pt x="1592792" y="172311"/>
                    <a:pt x="1591007" y="173050"/>
                    <a:pt x="1589146" y="173050"/>
                  </a:cubicBezTo>
                  <a:lnTo>
                    <a:pt x="7017" y="173050"/>
                  </a:lnTo>
                  <a:cubicBezTo>
                    <a:pt x="5156" y="173050"/>
                    <a:pt x="3371" y="172311"/>
                    <a:pt x="2055" y="170995"/>
                  </a:cubicBezTo>
                  <a:cubicBezTo>
                    <a:pt x="739" y="169679"/>
                    <a:pt x="0" y="167894"/>
                    <a:pt x="0" y="166033"/>
                  </a:cubicBezTo>
                  <a:lnTo>
                    <a:pt x="0" y="7017"/>
                  </a:lnTo>
                  <a:cubicBezTo>
                    <a:pt x="0" y="5156"/>
                    <a:pt x="739" y="3371"/>
                    <a:pt x="2055" y="2055"/>
                  </a:cubicBezTo>
                  <a:cubicBezTo>
                    <a:pt x="3371" y="739"/>
                    <a:pt x="5156" y="0"/>
                    <a:pt x="7017" y="0"/>
                  </a:cubicBezTo>
                  <a:close/>
                </a:path>
              </a:pathLst>
            </a:custGeom>
            <a:ln w="38100" cap="sq">
              <a:solidFill>
                <a:srgbClr val="01416B"/>
              </a:solidFill>
              <a:prstDash val="dash"/>
              <a:miter/>
            </a:ln>
          </p:spPr>
        </p:sp>
        <p:sp>
          <p:nvSpPr>
            <p:cNvPr name="TextBox 90" id="90"/>
            <p:cNvSpPr txBox="true"/>
            <p:nvPr/>
          </p:nvSpPr>
          <p:spPr>
            <a:xfrm>
              <a:off x="0" y="-123825"/>
              <a:ext cx="1596163" cy="296875"/>
            </a:xfrm>
            <a:prstGeom prst="rect">
              <a:avLst/>
            </a:prstGeom>
          </p:spPr>
          <p:txBody>
            <a:bodyPr anchor="ctr" rtlCol="false" tIns="50800" lIns="50800" bIns="50800" rIns="50800"/>
            <a:lstStyle/>
            <a:p>
              <a:pPr algn="ctr">
                <a:lnSpc>
                  <a:spcPts val="3780"/>
                </a:lnSpc>
              </a:pPr>
            </a:p>
          </p:txBody>
        </p:sp>
      </p:grpSp>
      <p:sp>
        <p:nvSpPr>
          <p:cNvPr name="TextBox 91" id="91"/>
          <p:cNvSpPr txBox="true"/>
          <p:nvPr/>
        </p:nvSpPr>
        <p:spPr>
          <a:xfrm rot="0">
            <a:off x="9371074" y="8402809"/>
            <a:ext cx="7316577" cy="721995"/>
          </a:xfrm>
          <a:prstGeom prst="rect">
            <a:avLst/>
          </a:prstGeom>
        </p:spPr>
        <p:txBody>
          <a:bodyPr anchor="t" rtlCol="false" tIns="0" lIns="0" bIns="0" rIns="0">
            <a:spAutoFit/>
          </a:bodyPr>
          <a:lstStyle/>
          <a:p>
            <a:pPr algn="just">
              <a:lnSpc>
                <a:spcPts val="1800"/>
              </a:lnSpc>
            </a:pPr>
            <a:r>
              <a:rPr lang="en-US" sz="1800">
                <a:solidFill>
                  <a:srgbClr val="000000"/>
                </a:solidFill>
                <a:latin typeface="Arimo"/>
                <a:ea typeface="Arimo"/>
                <a:cs typeface="Arimo"/>
                <a:sym typeface="Arimo"/>
              </a:rPr>
              <a:t>Pendekatan </a:t>
            </a:r>
            <a:r>
              <a:rPr lang="en-US" sz="1800" i="true">
                <a:solidFill>
                  <a:srgbClr val="000000"/>
                </a:solidFill>
                <a:latin typeface="Arimo Italics"/>
                <a:ea typeface="Arimo Italics"/>
                <a:cs typeface="Arimo Italics"/>
                <a:sym typeface="Arimo Italics"/>
              </a:rPr>
              <a:t>greedy </a:t>
            </a:r>
            <a:r>
              <a:rPr lang="en-US" sz="1800">
                <a:solidFill>
                  <a:srgbClr val="000000"/>
                </a:solidFill>
                <a:latin typeface="Arimo"/>
                <a:ea typeface="Arimo"/>
                <a:cs typeface="Arimo"/>
                <a:sym typeface="Arimo"/>
              </a:rPr>
              <a:t>(pilih termurah atau terdekat dulu) mudah terjebak pada pilihan yang tampak baik secara lokal, tapi kurang optimal untuk kombinasi keseluruhan</a:t>
            </a:r>
          </a:p>
        </p:txBody>
      </p:sp>
      <p:sp>
        <p:nvSpPr>
          <p:cNvPr name="Freeform 92" id="92"/>
          <p:cNvSpPr/>
          <p:nvPr/>
        </p:nvSpPr>
        <p:spPr>
          <a:xfrm flipH="true" flipV="true" rot="0">
            <a:off x="12475342" y="7481395"/>
            <a:ext cx="1520715" cy="577872"/>
          </a:xfrm>
          <a:custGeom>
            <a:avLst/>
            <a:gdLst/>
            <a:ahLst/>
            <a:cxnLst/>
            <a:rect r="r" b="b" t="t" l="l"/>
            <a:pathLst>
              <a:path h="577872" w="1520715">
                <a:moveTo>
                  <a:pt x="1520715" y="577871"/>
                </a:moveTo>
                <a:lnTo>
                  <a:pt x="0" y="577871"/>
                </a:lnTo>
                <a:lnTo>
                  <a:pt x="0" y="0"/>
                </a:lnTo>
                <a:lnTo>
                  <a:pt x="1520715" y="0"/>
                </a:lnTo>
                <a:lnTo>
                  <a:pt x="1520715" y="57787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93" id="93"/>
          <p:cNvSpPr txBox="true"/>
          <p:nvPr/>
        </p:nvSpPr>
        <p:spPr>
          <a:xfrm rot="0">
            <a:off x="4832249" y="8071945"/>
            <a:ext cx="2737568" cy="247650"/>
          </a:xfrm>
          <a:prstGeom prst="rect">
            <a:avLst/>
          </a:prstGeom>
        </p:spPr>
        <p:txBody>
          <a:bodyPr anchor="t" rtlCol="false" tIns="0" lIns="0" bIns="0" rIns="0">
            <a:spAutoFit/>
          </a:bodyPr>
          <a:lstStyle/>
          <a:p>
            <a:pPr algn="ctr">
              <a:lnSpc>
                <a:spcPts val="1800"/>
              </a:lnSpc>
            </a:pPr>
            <a:r>
              <a:rPr lang="en-US" sz="1500" i="true">
                <a:solidFill>
                  <a:srgbClr val="A6A6A6"/>
                </a:solidFill>
                <a:latin typeface="Arimo Italics"/>
                <a:ea typeface="Arimo Italics"/>
                <a:cs typeface="Arimo Italics"/>
                <a:sym typeface="Arimo Italics"/>
              </a:rPr>
              <a:t>Turunan Matematis dari N = 201</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grpSp>
        <p:nvGrpSpPr>
          <p:cNvPr name="Group 3" id="3"/>
          <p:cNvGrpSpPr/>
          <p:nvPr/>
        </p:nvGrpSpPr>
        <p:grpSpPr>
          <a:xfrm rot="0">
            <a:off x="1028700" y="2321407"/>
            <a:ext cx="7886003" cy="880728"/>
            <a:chOff x="0" y="0"/>
            <a:chExt cx="1622634" cy="181220"/>
          </a:xfrm>
        </p:grpSpPr>
        <p:sp>
          <p:nvSpPr>
            <p:cNvPr name="Freeform 4" id="4"/>
            <p:cNvSpPr/>
            <p:nvPr/>
          </p:nvSpPr>
          <p:spPr>
            <a:xfrm flipH="false" flipV="false" rot="0">
              <a:off x="0" y="0"/>
              <a:ext cx="1622634" cy="181220"/>
            </a:xfrm>
            <a:custGeom>
              <a:avLst/>
              <a:gdLst/>
              <a:ahLst/>
              <a:cxnLst/>
              <a:rect r="r" b="b" t="t" l="l"/>
              <a:pathLst>
                <a:path h="181220" w="1622634">
                  <a:moveTo>
                    <a:pt x="6903" y="0"/>
                  </a:moveTo>
                  <a:lnTo>
                    <a:pt x="1615732" y="0"/>
                  </a:lnTo>
                  <a:cubicBezTo>
                    <a:pt x="1619544" y="0"/>
                    <a:pt x="1622634" y="3090"/>
                    <a:pt x="1622634" y="6903"/>
                  </a:cubicBezTo>
                  <a:lnTo>
                    <a:pt x="1622634" y="174317"/>
                  </a:lnTo>
                  <a:cubicBezTo>
                    <a:pt x="1622634" y="176148"/>
                    <a:pt x="1621907" y="177904"/>
                    <a:pt x="1620613" y="179198"/>
                  </a:cubicBezTo>
                  <a:cubicBezTo>
                    <a:pt x="1619318" y="180493"/>
                    <a:pt x="1617562" y="181220"/>
                    <a:pt x="1615732" y="181220"/>
                  </a:cubicBezTo>
                  <a:lnTo>
                    <a:pt x="6903" y="181220"/>
                  </a:lnTo>
                  <a:cubicBezTo>
                    <a:pt x="3090" y="181220"/>
                    <a:pt x="0" y="178129"/>
                    <a:pt x="0" y="174317"/>
                  </a:cubicBezTo>
                  <a:lnTo>
                    <a:pt x="0" y="6903"/>
                  </a:lnTo>
                  <a:cubicBezTo>
                    <a:pt x="0" y="3090"/>
                    <a:pt x="3090" y="0"/>
                    <a:pt x="6903" y="0"/>
                  </a:cubicBezTo>
                  <a:close/>
                </a:path>
              </a:pathLst>
            </a:custGeom>
            <a:ln w="38100" cap="sq">
              <a:solidFill>
                <a:srgbClr val="01416B"/>
              </a:solidFill>
              <a:prstDash val="solid"/>
              <a:miter/>
            </a:ln>
          </p:spPr>
        </p:sp>
        <p:sp>
          <p:nvSpPr>
            <p:cNvPr name="TextBox 5" id="5"/>
            <p:cNvSpPr txBox="true"/>
            <p:nvPr/>
          </p:nvSpPr>
          <p:spPr>
            <a:xfrm>
              <a:off x="0" y="-123825"/>
              <a:ext cx="1622634" cy="305045"/>
            </a:xfrm>
            <a:prstGeom prst="rect">
              <a:avLst/>
            </a:prstGeom>
          </p:spPr>
          <p:txBody>
            <a:bodyPr anchor="ctr" rtlCol="false" tIns="50800" lIns="50800" bIns="50800" rIns="50800"/>
            <a:lstStyle/>
            <a:p>
              <a:pPr algn="ctr">
                <a:lnSpc>
                  <a:spcPts val="3780"/>
                </a:lnSpc>
              </a:pPr>
            </a:p>
          </p:txBody>
        </p:sp>
      </p:grpSp>
      <p:grpSp>
        <p:nvGrpSpPr>
          <p:cNvPr name="Group 6" id="6"/>
          <p:cNvGrpSpPr/>
          <p:nvPr/>
        </p:nvGrpSpPr>
        <p:grpSpPr>
          <a:xfrm rot="0">
            <a:off x="1028700" y="1744781"/>
            <a:ext cx="7886003" cy="458910"/>
            <a:chOff x="0" y="0"/>
            <a:chExt cx="1622634" cy="94426"/>
          </a:xfrm>
        </p:grpSpPr>
        <p:sp>
          <p:nvSpPr>
            <p:cNvPr name="Freeform 7" id="7"/>
            <p:cNvSpPr/>
            <p:nvPr/>
          </p:nvSpPr>
          <p:spPr>
            <a:xfrm flipH="false" flipV="false" rot="0">
              <a:off x="0" y="0"/>
              <a:ext cx="1622634" cy="94426"/>
            </a:xfrm>
            <a:custGeom>
              <a:avLst/>
              <a:gdLst/>
              <a:ahLst/>
              <a:cxnLst/>
              <a:rect r="r" b="b" t="t" l="l"/>
              <a:pathLst>
                <a:path h="94426" w="1622634">
                  <a:moveTo>
                    <a:pt x="6903" y="0"/>
                  </a:moveTo>
                  <a:lnTo>
                    <a:pt x="1615732" y="0"/>
                  </a:lnTo>
                  <a:cubicBezTo>
                    <a:pt x="1619544" y="0"/>
                    <a:pt x="1622634" y="3090"/>
                    <a:pt x="1622634" y="6903"/>
                  </a:cubicBezTo>
                  <a:lnTo>
                    <a:pt x="1622634" y="87523"/>
                  </a:lnTo>
                  <a:cubicBezTo>
                    <a:pt x="1622634" y="91335"/>
                    <a:pt x="1619544" y="94426"/>
                    <a:pt x="1615732" y="94426"/>
                  </a:cubicBezTo>
                  <a:lnTo>
                    <a:pt x="6903" y="94426"/>
                  </a:lnTo>
                  <a:cubicBezTo>
                    <a:pt x="3090" y="94426"/>
                    <a:pt x="0" y="91335"/>
                    <a:pt x="0" y="87523"/>
                  </a:cubicBezTo>
                  <a:lnTo>
                    <a:pt x="0" y="6903"/>
                  </a:lnTo>
                  <a:cubicBezTo>
                    <a:pt x="0" y="3090"/>
                    <a:pt x="3090" y="0"/>
                    <a:pt x="6903" y="0"/>
                  </a:cubicBezTo>
                  <a:close/>
                </a:path>
              </a:pathLst>
            </a:custGeom>
            <a:solidFill>
              <a:srgbClr val="01416B"/>
            </a:solidFill>
          </p:spPr>
        </p:sp>
        <p:sp>
          <p:nvSpPr>
            <p:cNvPr name="TextBox 8" id="8"/>
            <p:cNvSpPr txBox="true"/>
            <p:nvPr/>
          </p:nvSpPr>
          <p:spPr>
            <a:xfrm>
              <a:off x="0" y="-123825"/>
              <a:ext cx="1622634" cy="218251"/>
            </a:xfrm>
            <a:prstGeom prst="rect">
              <a:avLst/>
            </a:prstGeom>
          </p:spPr>
          <p:txBody>
            <a:bodyPr anchor="ctr" rtlCol="false" tIns="50800" lIns="50800" bIns="50800" rIns="50800"/>
            <a:lstStyle/>
            <a:p>
              <a:pPr algn="ctr">
                <a:lnSpc>
                  <a:spcPts val="3780"/>
                </a:lnSpc>
              </a:pPr>
            </a:p>
          </p:txBody>
        </p:sp>
      </p:grpSp>
      <p:grpSp>
        <p:nvGrpSpPr>
          <p:cNvPr name="Group 9" id="9"/>
          <p:cNvGrpSpPr/>
          <p:nvPr/>
        </p:nvGrpSpPr>
        <p:grpSpPr>
          <a:xfrm rot="0">
            <a:off x="9373297" y="2321407"/>
            <a:ext cx="7886003" cy="880728"/>
            <a:chOff x="0" y="0"/>
            <a:chExt cx="1622634" cy="181220"/>
          </a:xfrm>
        </p:grpSpPr>
        <p:sp>
          <p:nvSpPr>
            <p:cNvPr name="Freeform 10" id="10"/>
            <p:cNvSpPr/>
            <p:nvPr/>
          </p:nvSpPr>
          <p:spPr>
            <a:xfrm flipH="false" flipV="false" rot="0">
              <a:off x="0" y="0"/>
              <a:ext cx="1622634" cy="181220"/>
            </a:xfrm>
            <a:custGeom>
              <a:avLst/>
              <a:gdLst/>
              <a:ahLst/>
              <a:cxnLst/>
              <a:rect r="r" b="b" t="t" l="l"/>
              <a:pathLst>
                <a:path h="181220" w="1622634">
                  <a:moveTo>
                    <a:pt x="6903" y="0"/>
                  </a:moveTo>
                  <a:lnTo>
                    <a:pt x="1615732" y="0"/>
                  </a:lnTo>
                  <a:cubicBezTo>
                    <a:pt x="1619544" y="0"/>
                    <a:pt x="1622634" y="3090"/>
                    <a:pt x="1622634" y="6903"/>
                  </a:cubicBezTo>
                  <a:lnTo>
                    <a:pt x="1622634" y="174317"/>
                  </a:lnTo>
                  <a:cubicBezTo>
                    <a:pt x="1622634" y="176148"/>
                    <a:pt x="1621907" y="177904"/>
                    <a:pt x="1620613" y="179198"/>
                  </a:cubicBezTo>
                  <a:cubicBezTo>
                    <a:pt x="1619318" y="180493"/>
                    <a:pt x="1617562" y="181220"/>
                    <a:pt x="1615732" y="181220"/>
                  </a:cubicBezTo>
                  <a:lnTo>
                    <a:pt x="6903" y="181220"/>
                  </a:lnTo>
                  <a:cubicBezTo>
                    <a:pt x="3090" y="181220"/>
                    <a:pt x="0" y="178129"/>
                    <a:pt x="0" y="174317"/>
                  </a:cubicBezTo>
                  <a:lnTo>
                    <a:pt x="0" y="6903"/>
                  </a:lnTo>
                  <a:cubicBezTo>
                    <a:pt x="0" y="3090"/>
                    <a:pt x="3090" y="0"/>
                    <a:pt x="6903" y="0"/>
                  </a:cubicBezTo>
                  <a:close/>
                </a:path>
              </a:pathLst>
            </a:custGeom>
            <a:ln w="38100" cap="sq">
              <a:solidFill>
                <a:srgbClr val="FDD402"/>
              </a:solidFill>
              <a:prstDash val="solid"/>
              <a:miter/>
            </a:ln>
          </p:spPr>
        </p:sp>
        <p:sp>
          <p:nvSpPr>
            <p:cNvPr name="TextBox 11" id="11"/>
            <p:cNvSpPr txBox="true"/>
            <p:nvPr/>
          </p:nvSpPr>
          <p:spPr>
            <a:xfrm>
              <a:off x="0" y="-123825"/>
              <a:ext cx="1622634" cy="305045"/>
            </a:xfrm>
            <a:prstGeom prst="rect">
              <a:avLst/>
            </a:prstGeom>
          </p:spPr>
          <p:txBody>
            <a:bodyPr anchor="ctr" rtlCol="false" tIns="50800" lIns="50800" bIns="50800" rIns="50800"/>
            <a:lstStyle/>
            <a:p>
              <a:pPr algn="ctr">
                <a:lnSpc>
                  <a:spcPts val="3780"/>
                </a:lnSpc>
              </a:pPr>
            </a:p>
          </p:txBody>
        </p:sp>
      </p:grpSp>
      <p:grpSp>
        <p:nvGrpSpPr>
          <p:cNvPr name="Group 12" id="12"/>
          <p:cNvGrpSpPr/>
          <p:nvPr/>
        </p:nvGrpSpPr>
        <p:grpSpPr>
          <a:xfrm rot="0">
            <a:off x="9373297" y="1746491"/>
            <a:ext cx="7886003" cy="458910"/>
            <a:chOff x="0" y="0"/>
            <a:chExt cx="1622634" cy="94426"/>
          </a:xfrm>
        </p:grpSpPr>
        <p:sp>
          <p:nvSpPr>
            <p:cNvPr name="Freeform 13" id="13"/>
            <p:cNvSpPr/>
            <p:nvPr/>
          </p:nvSpPr>
          <p:spPr>
            <a:xfrm flipH="false" flipV="false" rot="0">
              <a:off x="0" y="0"/>
              <a:ext cx="1622634" cy="94426"/>
            </a:xfrm>
            <a:custGeom>
              <a:avLst/>
              <a:gdLst/>
              <a:ahLst/>
              <a:cxnLst/>
              <a:rect r="r" b="b" t="t" l="l"/>
              <a:pathLst>
                <a:path h="94426" w="1622634">
                  <a:moveTo>
                    <a:pt x="6903" y="0"/>
                  </a:moveTo>
                  <a:lnTo>
                    <a:pt x="1615732" y="0"/>
                  </a:lnTo>
                  <a:cubicBezTo>
                    <a:pt x="1619544" y="0"/>
                    <a:pt x="1622634" y="3090"/>
                    <a:pt x="1622634" y="6903"/>
                  </a:cubicBezTo>
                  <a:lnTo>
                    <a:pt x="1622634" y="87523"/>
                  </a:lnTo>
                  <a:cubicBezTo>
                    <a:pt x="1622634" y="91335"/>
                    <a:pt x="1619544" y="94426"/>
                    <a:pt x="1615732" y="94426"/>
                  </a:cubicBezTo>
                  <a:lnTo>
                    <a:pt x="6903" y="94426"/>
                  </a:lnTo>
                  <a:cubicBezTo>
                    <a:pt x="3090" y="94426"/>
                    <a:pt x="0" y="91335"/>
                    <a:pt x="0" y="87523"/>
                  </a:cubicBezTo>
                  <a:lnTo>
                    <a:pt x="0" y="6903"/>
                  </a:lnTo>
                  <a:cubicBezTo>
                    <a:pt x="0" y="3090"/>
                    <a:pt x="3090" y="0"/>
                    <a:pt x="6903" y="0"/>
                  </a:cubicBezTo>
                  <a:close/>
                </a:path>
              </a:pathLst>
            </a:custGeom>
            <a:solidFill>
              <a:srgbClr val="FDD402"/>
            </a:solidFill>
          </p:spPr>
        </p:sp>
        <p:sp>
          <p:nvSpPr>
            <p:cNvPr name="TextBox 14" id="14"/>
            <p:cNvSpPr txBox="true"/>
            <p:nvPr/>
          </p:nvSpPr>
          <p:spPr>
            <a:xfrm>
              <a:off x="0" y="-123825"/>
              <a:ext cx="1622634" cy="218251"/>
            </a:xfrm>
            <a:prstGeom prst="rect">
              <a:avLst/>
            </a:prstGeom>
          </p:spPr>
          <p:txBody>
            <a:bodyPr anchor="ctr" rtlCol="false" tIns="50800" lIns="50800" bIns="50800" rIns="50800"/>
            <a:lstStyle/>
            <a:p>
              <a:pPr algn="ctr">
                <a:lnSpc>
                  <a:spcPts val="3780"/>
                </a:lnSpc>
              </a:pPr>
            </a:p>
          </p:txBody>
        </p:sp>
      </p:grpSp>
      <p:grpSp>
        <p:nvGrpSpPr>
          <p:cNvPr name="Group 15" id="15"/>
          <p:cNvGrpSpPr/>
          <p:nvPr/>
        </p:nvGrpSpPr>
        <p:grpSpPr>
          <a:xfrm rot="0">
            <a:off x="1016258" y="3440260"/>
            <a:ext cx="7886003" cy="880728"/>
            <a:chOff x="0" y="0"/>
            <a:chExt cx="1622634" cy="181220"/>
          </a:xfrm>
        </p:grpSpPr>
        <p:sp>
          <p:nvSpPr>
            <p:cNvPr name="Freeform 16" id="16"/>
            <p:cNvSpPr/>
            <p:nvPr/>
          </p:nvSpPr>
          <p:spPr>
            <a:xfrm flipH="false" flipV="false" rot="0">
              <a:off x="0" y="0"/>
              <a:ext cx="1622634" cy="181220"/>
            </a:xfrm>
            <a:custGeom>
              <a:avLst/>
              <a:gdLst/>
              <a:ahLst/>
              <a:cxnLst/>
              <a:rect r="r" b="b" t="t" l="l"/>
              <a:pathLst>
                <a:path h="181220" w="1622634">
                  <a:moveTo>
                    <a:pt x="6903" y="0"/>
                  </a:moveTo>
                  <a:lnTo>
                    <a:pt x="1615732" y="0"/>
                  </a:lnTo>
                  <a:cubicBezTo>
                    <a:pt x="1619544" y="0"/>
                    <a:pt x="1622634" y="3090"/>
                    <a:pt x="1622634" y="6903"/>
                  </a:cubicBezTo>
                  <a:lnTo>
                    <a:pt x="1622634" y="174317"/>
                  </a:lnTo>
                  <a:cubicBezTo>
                    <a:pt x="1622634" y="176148"/>
                    <a:pt x="1621907" y="177904"/>
                    <a:pt x="1620613" y="179198"/>
                  </a:cubicBezTo>
                  <a:cubicBezTo>
                    <a:pt x="1619318" y="180493"/>
                    <a:pt x="1617562" y="181220"/>
                    <a:pt x="1615732" y="181220"/>
                  </a:cubicBezTo>
                  <a:lnTo>
                    <a:pt x="6903" y="181220"/>
                  </a:lnTo>
                  <a:cubicBezTo>
                    <a:pt x="3090" y="181220"/>
                    <a:pt x="0" y="178129"/>
                    <a:pt x="0" y="174317"/>
                  </a:cubicBezTo>
                  <a:lnTo>
                    <a:pt x="0" y="6903"/>
                  </a:lnTo>
                  <a:cubicBezTo>
                    <a:pt x="0" y="3090"/>
                    <a:pt x="3090" y="0"/>
                    <a:pt x="6903" y="0"/>
                  </a:cubicBezTo>
                  <a:close/>
                </a:path>
              </a:pathLst>
            </a:custGeom>
            <a:ln w="38100" cap="sq">
              <a:solidFill>
                <a:srgbClr val="01416B"/>
              </a:solidFill>
              <a:prstDash val="solid"/>
              <a:miter/>
            </a:ln>
          </p:spPr>
        </p:sp>
        <p:sp>
          <p:nvSpPr>
            <p:cNvPr name="TextBox 17" id="17"/>
            <p:cNvSpPr txBox="true"/>
            <p:nvPr/>
          </p:nvSpPr>
          <p:spPr>
            <a:xfrm>
              <a:off x="0" y="-123825"/>
              <a:ext cx="1622634" cy="305045"/>
            </a:xfrm>
            <a:prstGeom prst="rect">
              <a:avLst/>
            </a:prstGeom>
          </p:spPr>
          <p:txBody>
            <a:bodyPr anchor="ctr" rtlCol="false" tIns="50800" lIns="50800" bIns="50800" rIns="50800"/>
            <a:lstStyle/>
            <a:p>
              <a:pPr algn="ctr">
                <a:lnSpc>
                  <a:spcPts val="3780"/>
                </a:lnSpc>
              </a:pPr>
            </a:p>
          </p:txBody>
        </p:sp>
      </p:grpSp>
      <p:grpSp>
        <p:nvGrpSpPr>
          <p:cNvPr name="Group 18" id="18"/>
          <p:cNvGrpSpPr/>
          <p:nvPr/>
        </p:nvGrpSpPr>
        <p:grpSpPr>
          <a:xfrm rot="0">
            <a:off x="9360855" y="3440260"/>
            <a:ext cx="7886003" cy="880728"/>
            <a:chOff x="0" y="0"/>
            <a:chExt cx="1622634" cy="181220"/>
          </a:xfrm>
        </p:grpSpPr>
        <p:sp>
          <p:nvSpPr>
            <p:cNvPr name="Freeform 19" id="19"/>
            <p:cNvSpPr/>
            <p:nvPr/>
          </p:nvSpPr>
          <p:spPr>
            <a:xfrm flipH="false" flipV="false" rot="0">
              <a:off x="0" y="0"/>
              <a:ext cx="1622634" cy="181220"/>
            </a:xfrm>
            <a:custGeom>
              <a:avLst/>
              <a:gdLst/>
              <a:ahLst/>
              <a:cxnLst/>
              <a:rect r="r" b="b" t="t" l="l"/>
              <a:pathLst>
                <a:path h="181220" w="1622634">
                  <a:moveTo>
                    <a:pt x="6903" y="0"/>
                  </a:moveTo>
                  <a:lnTo>
                    <a:pt x="1615732" y="0"/>
                  </a:lnTo>
                  <a:cubicBezTo>
                    <a:pt x="1619544" y="0"/>
                    <a:pt x="1622634" y="3090"/>
                    <a:pt x="1622634" y="6903"/>
                  </a:cubicBezTo>
                  <a:lnTo>
                    <a:pt x="1622634" y="174317"/>
                  </a:lnTo>
                  <a:cubicBezTo>
                    <a:pt x="1622634" y="176148"/>
                    <a:pt x="1621907" y="177904"/>
                    <a:pt x="1620613" y="179198"/>
                  </a:cubicBezTo>
                  <a:cubicBezTo>
                    <a:pt x="1619318" y="180493"/>
                    <a:pt x="1617562" y="181220"/>
                    <a:pt x="1615732" y="181220"/>
                  </a:cubicBezTo>
                  <a:lnTo>
                    <a:pt x="6903" y="181220"/>
                  </a:lnTo>
                  <a:cubicBezTo>
                    <a:pt x="3090" y="181220"/>
                    <a:pt x="0" y="178129"/>
                    <a:pt x="0" y="174317"/>
                  </a:cubicBezTo>
                  <a:lnTo>
                    <a:pt x="0" y="6903"/>
                  </a:lnTo>
                  <a:cubicBezTo>
                    <a:pt x="0" y="3090"/>
                    <a:pt x="3090" y="0"/>
                    <a:pt x="6903" y="0"/>
                  </a:cubicBezTo>
                  <a:close/>
                </a:path>
              </a:pathLst>
            </a:custGeom>
            <a:ln w="38100" cap="sq">
              <a:solidFill>
                <a:srgbClr val="FDD402"/>
              </a:solidFill>
              <a:prstDash val="solid"/>
              <a:miter/>
            </a:ln>
          </p:spPr>
        </p:sp>
        <p:sp>
          <p:nvSpPr>
            <p:cNvPr name="TextBox 20" id="20"/>
            <p:cNvSpPr txBox="true"/>
            <p:nvPr/>
          </p:nvSpPr>
          <p:spPr>
            <a:xfrm>
              <a:off x="0" y="-123825"/>
              <a:ext cx="1622634" cy="305045"/>
            </a:xfrm>
            <a:prstGeom prst="rect">
              <a:avLst/>
            </a:prstGeom>
          </p:spPr>
          <p:txBody>
            <a:bodyPr anchor="ctr" rtlCol="false" tIns="50800" lIns="50800" bIns="50800" rIns="50800"/>
            <a:lstStyle/>
            <a:p>
              <a:pPr algn="ctr">
                <a:lnSpc>
                  <a:spcPts val="3780"/>
                </a:lnSpc>
              </a:pPr>
            </a:p>
          </p:txBody>
        </p:sp>
      </p:grpSp>
      <p:grpSp>
        <p:nvGrpSpPr>
          <p:cNvPr name="Group 21" id="21"/>
          <p:cNvGrpSpPr/>
          <p:nvPr/>
        </p:nvGrpSpPr>
        <p:grpSpPr>
          <a:xfrm rot="0">
            <a:off x="1028700" y="4559114"/>
            <a:ext cx="7886003" cy="880728"/>
            <a:chOff x="0" y="0"/>
            <a:chExt cx="1622634" cy="181220"/>
          </a:xfrm>
        </p:grpSpPr>
        <p:sp>
          <p:nvSpPr>
            <p:cNvPr name="Freeform 22" id="22"/>
            <p:cNvSpPr/>
            <p:nvPr/>
          </p:nvSpPr>
          <p:spPr>
            <a:xfrm flipH="false" flipV="false" rot="0">
              <a:off x="0" y="0"/>
              <a:ext cx="1622634" cy="181220"/>
            </a:xfrm>
            <a:custGeom>
              <a:avLst/>
              <a:gdLst/>
              <a:ahLst/>
              <a:cxnLst/>
              <a:rect r="r" b="b" t="t" l="l"/>
              <a:pathLst>
                <a:path h="181220" w="1622634">
                  <a:moveTo>
                    <a:pt x="6903" y="0"/>
                  </a:moveTo>
                  <a:lnTo>
                    <a:pt x="1615732" y="0"/>
                  </a:lnTo>
                  <a:cubicBezTo>
                    <a:pt x="1619544" y="0"/>
                    <a:pt x="1622634" y="3090"/>
                    <a:pt x="1622634" y="6903"/>
                  </a:cubicBezTo>
                  <a:lnTo>
                    <a:pt x="1622634" y="174317"/>
                  </a:lnTo>
                  <a:cubicBezTo>
                    <a:pt x="1622634" y="176148"/>
                    <a:pt x="1621907" y="177904"/>
                    <a:pt x="1620613" y="179198"/>
                  </a:cubicBezTo>
                  <a:cubicBezTo>
                    <a:pt x="1619318" y="180493"/>
                    <a:pt x="1617562" y="181220"/>
                    <a:pt x="1615732" y="181220"/>
                  </a:cubicBezTo>
                  <a:lnTo>
                    <a:pt x="6903" y="181220"/>
                  </a:lnTo>
                  <a:cubicBezTo>
                    <a:pt x="3090" y="181220"/>
                    <a:pt x="0" y="178129"/>
                    <a:pt x="0" y="174317"/>
                  </a:cubicBezTo>
                  <a:lnTo>
                    <a:pt x="0" y="6903"/>
                  </a:lnTo>
                  <a:cubicBezTo>
                    <a:pt x="0" y="3090"/>
                    <a:pt x="3090" y="0"/>
                    <a:pt x="6903" y="0"/>
                  </a:cubicBezTo>
                  <a:close/>
                </a:path>
              </a:pathLst>
            </a:custGeom>
            <a:ln w="38100" cap="sq">
              <a:solidFill>
                <a:srgbClr val="01416B"/>
              </a:solidFill>
              <a:prstDash val="solid"/>
              <a:miter/>
            </a:ln>
          </p:spPr>
        </p:sp>
        <p:sp>
          <p:nvSpPr>
            <p:cNvPr name="TextBox 23" id="23"/>
            <p:cNvSpPr txBox="true"/>
            <p:nvPr/>
          </p:nvSpPr>
          <p:spPr>
            <a:xfrm>
              <a:off x="0" y="-123825"/>
              <a:ext cx="1622634" cy="305045"/>
            </a:xfrm>
            <a:prstGeom prst="rect">
              <a:avLst/>
            </a:prstGeom>
          </p:spPr>
          <p:txBody>
            <a:bodyPr anchor="ctr" rtlCol="false" tIns="50800" lIns="50800" bIns="50800" rIns="50800"/>
            <a:lstStyle/>
            <a:p>
              <a:pPr algn="ctr">
                <a:lnSpc>
                  <a:spcPts val="3780"/>
                </a:lnSpc>
              </a:pPr>
            </a:p>
          </p:txBody>
        </p:sp>
      </p:grpSp>
      <p:grpSp>
        <p:nvGrpSpPr>
          <p:cNvPr name="Group 24" id="24"/>
          <p:cNvGrpSpPr/>
          <p:nvPr/>
        </p:nvGrpSpPr>
        <p:grpSpPr>
          <a:xfrm rot="0">
            <a:off x="9373297" y="4559114"/>
            <a:ext cx="7886003" cy="880728"/>
            <a:chOff x="0" y="0"/>
            <a:chExt cx="1622634" cy="181220"/>
          </a:xfrm>
        </p:grpSpPr>
        <p:sp>
          <p:nvSpPr>
            <p:cNvPr name="Freeform 25" id="25"/>
            <p:cNvSpPr/>
            <p:nvPr/>
          </p:nvSpPr>
          <p:spPr>
            <a:xfrm flipH="false" flipV="false" rot="0">
              <a:off x="0" y="0"/>
              <a:ext cx="1622634" cy="181220"/>
            </a:xfrm>
            <a:custGeom>
              <a:avLst/>
              <a:gdLst/>
              <a:ahLst/>
              <a:cxnLst/>
              <a:rect r="r" b="b" t="t" l="l"/>
              <a:pathLst>
                <a:path h="181220" w="1622634">
                  <a:moveTo>
                    <a:pt x="6903" y="0"/>
                  </a:moveTo>
                  <a:lnTo>
                    <a:pt x="1615732" y="0"/>
                  </a:lnTo>
                  <a:cubicBezTo>
                    <a:pt x="1619544" y="0"/>
                    <a:pt x="1622634" y="3090"/>
                    <a:pt x="1622634" y="6903"/>
                  </a:cubicBezTo>
                  <a:lnTo>
                    <a:pt x="1622634" y="174317"/>
                  </a:lnTo>
                  <a:cubicBezTo>
                    <a:pt x="1622634" y="176148"/>
                    <a:pt x="1621907" y="177904"/>
                    <a:pt x="1620613" y="179198"/>
                  </a:cubicBezTo>
                  <a:cubicBezTo>
                    <a:pt x="1619318" y="180493"/>
                    <a:pt x="1617562" y="181220"/>
                    <a:pt x="1615732" y="181220"/>
                  </a:cubicBezTo>
                  <a:lnTo>
                    <a:pt x="6903" y="181220"/>
                  </a:lnTo>
                  <a:cubicBezTo>
                    <a:pt x="3090" y="181220"/>
                    <a:pt x="0" y="178129"/>
                    <a:pt x="0" y="174317"/>
                  </a:cubicBezTo>
                  <a:lnTo>
                    <a:pt x="0" y="6903"/>
                  </a:lnTo>
                  <a:cubicBezTo>
                    <a:pt x="0" y="3090"/>
                    <a:pt x="3090" y="0"/>
                    <a:pt x="6903" y="0"/>
                  </a:cubicBezTo>
                  <a:close/>
                </a:path>
              </a:pathLst>
            </a:custGeom>
            <a:ln w="38100" cap="sq">
              <a:solidFill>
                <a:srgbClr val="FDD402"/>
              </a:solidFill>
              <a:prstDash val="solid"/>
              <a:miter/>
            </a:ln>
          </p:spPr>
        </p:sp>
        <p:sp>
          <p:nvSpPr>
            <p:cNvPr name="TextBox 26" id="26"/>
            <p:cNvSpPr txBox="true"/>
            <p:nvPr/>
          </p:nvSpPr>
          <p:spPr>
            <a:xfrm>
              <a:off x="0" y="-123825"/>
              <a:ext cx="1622634" cy="305045"/>
            </a:xfrm>
            <a:prstGeom prst="rect">
              <a:avLst/>
            </a:prstGeom>
          </p:spPr>
          <p:txBody>
            <a:bodyPr anchor="ctr" rtlCol="false" tIns="50800" lIns="50800" bIns="50800" rIns="50800"/>
            <a:lstStyle/>
            <a:p>
              <a:pPr algn="ctr">
                <a:lnSpc>
                  <a:spcPts val="3780"/>
                </a:lnSpc>
              </a:pPr>
            </a:p>
          </p:txBody>
        </p:sp>
      </p:grpSp>
      <p:grpSp>
        <p:nvGrpSpPr>
          <p:cNvPr name="Group 27" id="27"/>
          <p:cNvGrpSpPr/>
          <p:nvPr/>
        </p:nvGrpSpPr>
        <p:grpSpPr>
          <a:xfrm rot="0">
            <a:off x="1028700" y="5677967"/>
            <a:ext cx="7886003" cy="880728"/>
            <a:chOff x="0" y="0"/>
            <a:chExt cx="1622634" cy="181220"/>
          </a:xfrm>
        </p:grpSpPr>
        <p:sp>
          <p:nvSpPr>
            <p:cNvPr name="Freeform 28" id="28"/>
            <p:cNvSpPr/>
            <p:nvPr/>
          </p:nvSpPr>
          <p:spPr>
            <a:xfrm flipH="false" flipV="false" rot="0">
              <a:off x="0" y="0"/>
              <a:ext cx="1622634" cy="181220"/>
            </a:xfrm>
            <a:custGeom>
              <a:avLst/>
              <a:gdLst/>
              <a:ahLst/>
              <a:cxnLst/>
              <a:rect r="r" b="b" t="t" l="l"/>
              <a:pathLst>
                <a:path h="181220" w="1622634">
                  <a:moveTo>
                    <a:pt x="6903" y="0"/>
                  </a:moveTo>
                  <a:lnTo>
                    <a:pt x="1615732" y="0"/>
                  </a:lnTo>
                  <a:cubicBezTo>
                    <a:pt x="1619544" y="0"/>
                    <a:pt x="1622634" y="3090"/>
                    <a:pt x="1622634" y="6903"/>
                  </a:cubicBezTo>
                  <a:lnTo>
                    <a:pt x="1622634" y="174317"/>
                  </a:lnTo>
                  <a:cubicBezTo>
                    <a:pt x="1622634" y="176148"/>
                    <a:pt x="1621907" y="177904"/>
                    <a:pt x="1620613" y="179198"/>
                  </a:cubicBezTo>
                  <a:cubicBezTo>
                    <a:pt x="1619318" y="180493"/>
                    <a:pt x="1617562" y="181220"/>
                    <a:pt x="1615732" y="181220"/>
                  </a:cubicBezTo>
                  <a:lnTo>
                    <a:pt x="6903" y="181220"/>
                  </a:lnTo>
                  <a:cubicBezTo>
                    <a:pt x="3090" y="181220"/>
                    <a:pt x="0" y="178129"/>
                    <a:pt x="0" y="174317"/>
                  </a:cubicBezTo>
                  <a:lnTo>
                    <a:pt x="0" y="6903"/>
                  </a:lnTo>
                  <a:cubicBezTo>
                    <a:pt x="0" y="3090"/>
                    <a:pt x="3090" y="0"/>
                    <a:pt x="6903" y="0"/>
                  </a:cubicBezTo>
                  <a:close/>
                </a:path>
              </a:pathLst>
            </a:custGeom>
            <a:ln w="38100" cap="sq">
              <a:solidFill>
                <a:srgbClr val="01416B"/>
              </a:solidFill>
              <a:prstDash val="solid"/>
              <a:miter/>
            </a:ln>
          </p:spPr>
        </p:sp>
        <p:sp>
          <p:nvSpPr>
            <p:cNvPr name="TextBox 29" id="29"/>
            <p:cNvSpPr txBox="true"/>
            <p:nvPr/>
          </p:nvSpPr>
          <p:spPr>
            <a:xfrm>
              <a:off x="0" y="-123825"/>
              <a:ext cx="1622634" cy="305045"/>
            </a:xfrm>
            <a:prstGeom prst="rect">
              <a:avLst/>
            </a:prstGeom>
          </p:spPr>
          <p:txBody>
            <a:bodyPr anchor="ctr" rtlCol="false" tIns="50800" lIns="50800" bIns="50800" rIns="50800"/>
            <a:lstStyle/>
            <a:p>
              <a:pPr algn="ctr">
                <a:lnSpc>
                  <a:spcPts val="3780"/>
                </a:lnSpc>
              </a:pPr>
            </a:p>
          </p:txBody>
        </p:sp>
      </p:grpSp>
      <p:grpSp>
        <p:nvGrpSpPr>
          <p:cNvPr name="Group 30" id="30"/>
          <p:cNvGrpSpPr/>
          <p:nvPr/>
        </p:nvGrpSpPr>
        <p:grpSpPr>
          <a:xfrm rot="0">
            <a:off x="9373297" y="5677967"/>
            <a:ext cx="7886003" cy="880728"/>
            <a:chOff x="0" y="0"/>
            <a:chExt cx="1622634" cy="181220"/>
          </a:xfrm>
        </p:grpSpPr>
        <p:sp>
          <p:nvSpPr>
            <p:cNvPr name="Freeform 31" id="31"/>
            <p:cNvSpPr/>
            <p:nvPr/>
          </p:nvSpPr>
          <p:spPr>
            <a:xfrm flipH="false" flipV="false" rot="0">
              <a:off x="0" y="0"/>
              <a:ext cx="1622634" cy="181220"/>
            </a:xfrm>
            <a:custGeom>
              <a:avLst/>
              <a:gdLst/>
              <a:ahLst/>
              <a:cxnLst/>
              <a:rect r="r" b="b" t="t" l="l"/>
              <a:pathLst>
                <a:path h="181220" w="1622634">
                  <a:moveTo>
                    <a:pt x="6903" y="0"/>
                  </a:moveTo>
                  <a:lnTo>
                    <a:pt x="1615732" y="0"/>
                  </a:lnTo>
                  <a:cubicBezTo>
                    <a:pt x="1619544" y="0"/>
                    <a:pt x="1622634" y="3090"/>
                    <a:pt x="1622634" y="6903"/>
                  </a:cubicBezTo>
                  <a:lnTo>
                    <a:pt x="1622634" y="174317"/>
                  </a:lnTo>
                  <a:cubicBezTo>
                    <a:pt x="1622634" y="176148"/>
                    <a:pt x="1621907" y="177904"/>
                    <a:pt x="1620613" y="179198"/>
                  </a:cubicBezTo>
                  <a:cubicBezTo>
                    <a:pt x="1619318" y="180493"/>
                    <a:pt x="1617562" y="181220"/>
                    <a:pt x="1615732" y="181220"/>
                  </a:cubicBezTo>
                  <a:lnTo>
                    <a:pt x="6903" y="181220"/>
                  </a:lnTo>
                  <a:cubicBezTo>
                    <a:pt x="3090" y="181220"/>
                    <a:pt x="0" y="178129"/>
                    <a:pt x="0" y="174317"/>
                  </a:cubicBezTo>
                  <a:lnTo>
                    <a:pt x="0" y="6903"/>
                  </a:lnTo>
                  <a:cubicBezTo>
                    <a:pt x="0" y="3090"/>
                    <a:pt x="3090" y="0"/>
                    <a:pt x="6903" y="0"/>
                  </a:cubicBezTo>
                  <a:close/>
                </a:path>
              </a:pathLst>
            </a:custGeom>
            <a:ln w="38100" cap="sq">
              <a:solidFill>
                <a:srgbClr val="FDD402"/>
              </a:solidFill>
              <a:prstDash val="solid"/>
              <a:miter/>
            </a:ln>
          </p:spPr>
        </p:sp>
        <p:sp>
          <p:nvSpPr>
            <p:cNvPr name="TextBox 32" id="32"/>
            <p:cNvSpPr txBox="true"/>
            <p:nvPr/>
          </p:nvSpPr>
          <p:spPr>
            <a:xfrm>
              <a:off x="0" y="-123825"/>
              <a:ext cx="1622634" cy="305045"/>
            </a:xfrm>
            <a:prstGeom prst="rect">
              <a:avLst/>
            </a:prstGeom>
          </p:spPr>
          <p:txBody>
            <a:bodyPr anchor="ctr" rtlCol="false" tIns="50800" lIns="50800" bIns="50800" rIns="50800"/>
            <a:lstStyle/>
            <a:p>
              <a:pPr algn="ctr">
                <a:lnSpc>
                  <a:spcPts val="3780"/>
                </a:lnSpc>
              </a:pPr>
            </a:p>
          </p:txBody>
        </p:sp>
      </p:grpSp>
      <p:grpSp>
        <p:nvGrpSpPr>
          <p:cNvPr name="Group 33" id="33"/>
          <p:cNvGrpSpPr/>
          <p:nvPr/>
        </p:nvGrpSpPr>
        <p:grpSpPr>
          <a:xfrm rot="0">
            <a:off x="1028700" y="6787296"/>
            <a:ext cx="16218158" cy="2761052"/>
            <a:chOff x="0" y="0"/>
            <a:chExt cx="3337069" cy="568118"/>
          </a:xfrm>
        </p:grpSpPr>
        <p:sp>
          <p:nvSpPr>
            <p:cNvPr name="Freeform 34" id="34"/>
            <p:cNvSpPr/>
            <p:nvPr/>
          </p:nvSpPr>
          <p:spPr>
            <a:xfrm flipH="false" flipV="false" rot="0">
              <a:off x="0" y="0"/>
              <a:ext cx="3337070" cy="568118"/>
            </a:xfrm>
            <a:custGeom>
              <a:avLst/>
              <a:gdLst/>
              <a:ahLst/>
              <a:cxnLst/>
              <a:rect r="r" b="b" t="t" l="l"/>
              <a:pathLst>
                <a:path h="568118" w="3337070">
                  <a:moveTo>
                    <a:pt x="3356" y="0"/>
                  </a:moveTo>
                  <a:lnTo>
                    <a:pt x="3333713" y="0"/>
                  </a:lnTo>
                  <a:cubicBezTo>
                    <a:pt x="3334603" y="0"/>
                    <a:pt x="3335457" y="354"/>
                    <a:pt x="3336087" y="983"/>
                  </a:cubicBezTo>
                  <a:cubicBezTo>
                    <a:pt x="3336716" y="1613"/>
                    <a:pt x="3337070" y="2466"/>
                    <a:pt x="3337070" y="3356"/>
                  </a:cubicBezTo>
                  <a:lnTo>
                    <a:pt x="3337070" y="564761"/>
                  </a:lnTo>
                  <a:cubicBezTo>
                    <a:pt x="3337070" y="565651"/>
                    <a:pt x="3336716" y="566505"/>
                    <a:pt x="3336087" y="567135"/>
                  </a:cubicBezTo>
                  <a:cubicBezTo>
                    <a:pt x="3335457" y="567764"/>
                    <a:pt x="3334603" y="568118"/>
                    <a:pt x="3333713" y="568118"/>
                  </a:cubicBezTo>
                  <a:lnTo>
                    <a:pt x="3356" y="568118"/>
                  </a:lnTo>
                  <a:cubicBezTo>
                    <a:pt x="2466" y="568118"/>
                    <a:pt x="1613" y="567764"/>
                    <a:pt x="983" y="567135"/>
                  </a:cubicBezTo>
                  <a:cubicBezTo>
                    <a:pt x="354" y="566505"/>
                    <a:pt x="0" y="565651"/>
                    <a:pt x="0" y="564761"/>
                  </a:cubicBezTo>
                  <a:lnTo>
                    <a:pt x="0" y="3356"/>
                  </a:lnTo>
                  <a:cubicBezTo>
                    <a:pt x="0" y="2466"/>
                    <a:pt x="354" y="1613"/>
                    <a:pt x="983" y="983"/>
                  </a:cubicBezTo>
                  <a:cubicBezTo>
                    <a:pt x="1613" y="354"/>
                    <a:pt x="2466" y="0"/>
                    <a:pt x="3356" y="0"/>
                  </a:cubicBezTo>
                  <a:close/>
                </a:path>
              </a:pathLst>
            </a:custGeom>
            <a:ln w="38100" cap="sq">
              <a:solidFill>
                <a:srgbClr val="01416B"/>
              </a:solidFill>
              <a:prstDash val="solid"/>
              <a:miter/>
            </a:ln>
          </p:spPr>
        </p:sp>
        <p:sp>
          <p:nvSpPr>
            <p:cNvPr name="TextBox 35" id="35"/>
            <p:cNvSpPr txBox="true"/>
            <p:nvPr/>
          </p:nvSpPr>
          <p:spPr>
            <a:xfrm>
              <a:off x="0" y="-123825"/>
              <a:ext cx="3337069" cy="691943"/>
            </a:xfrm>
            <a:prstGeom prst="rect">
              <a:avLst/>
            </a:prstGeom>
          </p:spPr>
          <p:txBody>
            <a:bodyPr anchor="ctr" rtlCol="false" tIns="50800" lIns="50800" bIns="50800" rIns="50800"/>
            <a:lstStyle/>
            <a:p>
              <a:pPr algn="ctr">
                <a:lnSpc>
                  <a:spcPts val="3780"/>
                </a:lnSpc>
              </a:pPr>
            </a:p>
          </p:txBody>
        </p:sp>
      </p:grpSp>
      <p:grpSp>
        <p:nvGrpSpPr>
          <p:cNvPr name="Group 36" id="36"/>
          <p:cNvGrpSpPr/>
          <p:nvPr/>
        </p:nvGrpSpPr>
        <p:grpSpPr>
          <a:xfrm rot="0">
            <a:off x="1016258" y="6787296"/>
            <a:ext cx="16230600" cy="601785"/>
            <a:chOff x="0" y="0"/>
            <a:chExt cx="3339630" cy="123824"/>
          </a:xfrm>
        </p:grpSpPr>
        <p:sp>
          <p:nvSpPr>
            <p:cNvPr name="Freeform 37" id="37"/>
            <p:cNvSpPr/>
            <p:nvPr/>
          </p:nvSpPr>
          <p:spPr>
            <a:xfrm flipH="false" flipV="false" rot="0">
              <a:off x="0" y="0"/>
              <a:ext cx="3339629" cy="123824"/>
            </a:xfrm>
            <a:custGeom>
              <a:avLst/>
              <a:gdLst/>
              <a:ahLst/>
              <a:cxnLst/>
              <a:rect r="r" b="b" t="t" l="l"/>
              <a:pathLst>
                <a:path h="123824" w="3339629">
                  <a:moveTo>
                    <a:pt x="3354" y="0"/>
                  </a:moveTo>
                  <a:lnTo>
                    <a:pt x="3336276" y="0"/>
                  </a:lnTo>
                  <a:cubicBezTo>
                    <a:pt x="3338128" y="0"/>
                    <a:pt x="3339629" y="1502"/>
                    <a:pt x="3339629" y="3354"/>
                  </a:cubicBezTo>
                  <a:lnTo>
                    <a:pt x="3339629" y="120470"/>
                  </a:lnTo>
                  <a:cubicBezTo>
                    <a:pt x="3339629" y="122323"/>
                    <a:pt x="3338128" y="123824"/>
                    <a:pt x="3336276" y="123824"/>
                  </a:cubicBezTo>
                  <a:lnTo>
                    <a:pt x="3354" y="123824"/>
                  </a:lnTo>
                  <a:cubicBezTo>
                    <a:pt x="1502" y="123824"/>
                    <a:pt x="0" y="122323"/>
                    <a:pt x="0" y="120470"/>
                  </a:cubicBezTo>
                  <a:lnTo>
                    <a:pt x="0" y="3354"/>
                  </a:lnTo>
                  <a:cubicBezTo>
                    <a:pt x="0" y="1502"/>
                    <a:pt x="1502" y="0"/>
                    <a:pt x="3354" y="0"/>
                  </a:cubicBezTo>
                  <a:close/>
                </a:path>
              </a:pathLst>
            </a:custGeom>
            <a:solidFill>
              <a:srgbClr val="01416B"/>
            </a:solidFill>
          </p:spPr>
        </p:sp>
        <p:sp>
          <p:nvSpPr>
            <p:cNvPr name="TextBox 38" id="38"/>
            <p:cNvSpPr txBox="true"/>
            <p:nvPr/>
          </p:nvSpPr>
          <p:spPr>
            <a:xfrm>
              <a:off x="0" y="-123825"/>
              <a:ext cx="3339630" cy="247649"/>
            </a:xfrm>
            <a:prstGeom prst="rect">
              <a:avLst/>
            </a:prstGeom>
          </p:spPr>
          <p:txBody>
            <a:bodyPr anchor="ctr" rtlCol="false" tIns="50800" lIns="50800" bIns="50800" rIns="50800"/>
            <a:lstStyle/>
            <a:p>
              <a:pPr algn="ctr">
                <a:lnSpc>
                  <a:spcPts val="3780"/>
                </a:lnSpc>
              </a:pPr>
            </a:p>
          </p:txBody>
        </p:sp>
      </p:grpSp>
      <p:sp>
        <p:nvSpPr>
          <p:cNvPr name="Freeform 39" id="39"/>
          <p:cNvSpPr/>
          <p:nvPr/>
        </p:nvSpPr>
        <p:spPr>
          <a:xfrm flipH="false" flipV="false" rot="0">
            <a:off x="1219792" y="7415163"/>
            <a:ext cx="3626622" cy="2056985"/>
          </a:xfrm>
          <a:custGeom>
            <a:avLst/>
            <a:gdLst/>
            <a:ahLst/>
            <a:cxnLst/>
            <a:rect r="r" b="b" t="t" l="l"/>
            <a:pathLst>
              <a:path h="2056985" w="3626622">
                <a:moveTo>
                  <a:pt x="0" y="0"/>
                </a:moveTo>
                <a:lnTo>
                  <a:pt x="3626622" y="0"/>
                </a:lnTo>
                <a:lnTo>
                  <a:pt x="3626622" y="2056984"/>
                </a:lnTo>
                <a:lnTo>
                  <a:pt x="0" y="2056984"/>
                </a:lnTo>
                <a:lnTo>
                  <a:pt x="0" y="0"/>
                </a:lnTo>
                <a:close/>
              </a:path>
            </a:pathLst>
          </a:custGeom>
          <a:blipFill>
            <a:blip r:embed="rId3"/>
            <a:stretch>
              <a:fillRect l="0" t="0" r="0" b="0"/>
            </a:stretch>
          </a:blipFill>
        </p:spPr>
      </p:sp>
      <p:sp>
        <p:nvSpPr>
          <p:cNvPr name="Freeform 40" id="40"/>
          <p:cNvSpPr/>
          <p:nvPr/>
        </p:nvSpPr>
        <p:spPr>
          <a:xfrm flipH="false" flipV="false" rot="0">
            <a:off x="5050542" y="8282122"/>
            <a:ext cx="3704257" cy="841877"/>
          </a:xfrm>
          <a:custGeom>
            <a:avLst/>
            <a:gdLst/>
            <a:ahLst/>
            <a:cxnLst/>
            <a:rect r="r" b="b" t="t" l="l"/>
            <a:pathLst>
              <a:path h="841877" w="3704257">
                <a:moveTo>
                  <a:pt x="0" y="0"/>
                </a:moveTo>
                <a:lnTo>
                  <a:pt x="3704257" y="0"/>
                </a:lnTo>
                <a:lnTo>
                  <a:pt x="3704257" y="841876"/>
                </a:lnTo>
                <a:lnTo>
                  <a:pt x="0" y="841876"/>
                </a:lnTo>
                <a:lnTo>
                  <a:pt x="0" y="0"/>
                </a:lnTo>
                <a:close/>
              </a:path>
            </a:pathLst>
          </a:custGeom>
          <a:blipFill>
            <a:blip r:embed="rId4"/>
            <a:stretch>
              <a:fillRect l="0" t="0" r="0" b="0"/>
            </a:stretch>
          </a:blipFill>
        </p:spPr>
      </p:sp>
      <p:sp>
        <p:nvSpPr>
          <p:cNvPr name="Freeform 41" id="41"/>
          <p:cNvSpPr/>
          <p:nvPr/>
        </p:nvSpPr>
        <p:spPr>
          <a:xfrm flipH="false" flipV="false" rot="0">
            <a:off x="9131558" y="7503381"/>
            <a:ext cx="3114174" cy="1882536"/>
          </a:xfrm>
          <a:custGeom>
            <a:avLst/>
            <a:gdLst/>
            <a:ahLst/>
            <a:cxnLst/>
            <a:rect r="r" b="b" t="t" l="l"/>
            <a:pathLst>
              <a:path h="1882536" w="3114174">
                <a:moveTo>
                  <a:pt x="0" y="0"/>
                </a:moveTo>
                <a:lnTo>
                  <a:pt x="3114174" y="0"/>
                </a:lnTo>
                <a:lnTo>
                  <a:pt x="3114174" y="1882536"/>
                </a:lnTo>
                <a:lnTo>
                  <a:pt x="0" y="1882536"/>
                </a:lnTo>
                <a:lnTo>
                  <a:pt x="0" y="0"/>
                </a:lnTo>
                <a:close/>
              </a:path>
            </a:pathLst>
          </a:custGeom>
          <a:blipFill>
            <a:blip r:embed="rId5"/>
            <a:stretch>
              <a:fillRect l="0" t="0" r="0" b="0"/>
            </a:stretch>
          </a:blipFill>
        </p:spPr>
      </p:sp>
      <p:sp>
        <p:nvSpPr>
          <p:cNvPr name="Freeform 42" id="42"/>
          <p:cNvSpPr/>
          <p:nvPr/>
        </p:nvSpPr>
        <p:spPr>
          <a:xfrm flipH="false" flipV="false" rot="0">
            <a:off x="8902260" y="2548473"/>
            <a:ext cx="471037" cy="430999"/>
          </a:xfrm>
          <a:custGeom>
            <a:avLst/>
            <a:gdLst/>
            <a:ahLst/>
            <a:cxnLst/>
            <a:rect r="r" b="b" t="t" l="l"/>
            <a:pathLst>
              <a:path h="430999" w="471037">
                <a:moveTo>
                  <a:pt x="0" y="0"/>
                </a:moveTo>
                <a:lnTo>
                  <a:pt x="471037" y="0"/>
                </a:lnTo>
                <a:lnTo>
                  <a:pt x="471037" y="430999"/>
                </a:lnTo>
                <a:lnTo>
                  <a:pt x="0" y="4309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43" id="4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Permasalahan Ini Cocok Diselesaikan Menggunakan GA</a:t>
            </a:r>
          </a:p>
        </p:txBody>
      </p:sp>
      <p:sp>
        <p:nvSpPr>
          <p:cNvPr name="TextBox 44" id="44"/>
          <p:cNvSpPr txBox="true"/>
          <p:nvPr/>
        </p:nvSpPr>
        <p:spPr>
          <a:xfrm rot="0">
            <a:off x="1100985" y="1727441"/>
            <a:ext cx="7728322" cy="476250"/>
          </a:xfrm>
          <a:prstGeom prst="rect">
            <a:avLst/>
          </a:prstGeom>
        </p:spPr>
        <p:txBody>
          <a:bodyPr anchor="t" rtlCol="false" tIns="0" lIns="0" bIns="0" rIns="0">
            <a:spAutoFit/>
          </a:bodyPr>
          <a:lstStyle/>
          <a:p>
            <a:pPr algn="ctr">
              <a:lnSpc>
                <a:spcPts val="3600"/>
              </a:lnSpc>
            </a:pPr>
            <a:r>
              <a:rPr lang="en-US" sz="3000" b="true">
                <a:solidFill>
                  <a:srgbClr val="FFFFFF"/>
                </a:solidFill>
                <a:latin typeface="Arimo Bold"/>
                <a:ea typeface="Arimo Bold"/>
                <a:cs typeface="Arimo Bold"/>
                <a:sym typeface="Arimo Bold"/>
              </a:rPr>
              <a:t>Karakteristik Masalah</a:t>
            </a:r>
          </a:p>
        </p:txBody>
      </p:sp>
      <p:sp>
        <p:nvSpPr>
          <p:cNvPr name="TextBox 45" id="45"/>
          <p:cNvSpPr txBox="true"/>
          <p:nvPr/>
        </p:nvSpPr>
        <p:spPr>
          <a:xfrm rot="0">
            <a:off x="9445582" y="1729151"/>
            <a:ext cx="7728322" cy="476250"/>
          </a:xfrm>
          <a:prstGeom prst="rect">
            <a:avLst/>
          </a:prstGeom>
        </p:spPr>
        <p:txBody>
          <a:bodyPr anchor="t" rtlCol="false" tIns="0" lIns="0" bIns="0" rIns="0">
            <a:spAutoFit/>
          </a:bodyPr>
          <a:lstStyle/>
          <a:p>
            <a:pPr algn="ctr">
              <a:lnSpc>
                <a:spcPts val="3600"/>
              </a:lnSpc>
            </a:pPr>
            <a:r>
              <a:rPr lang="en-US" b="true" sz="3000">
                <a:solidFill>
                  <a:srgbClr val="01416B"/>
                </a:solidFill>
                <a:latin typeface="Arimo Bold"/>
                <a:ea typeface="Arimo Bold"/>
                <a:cs typeface="Arimo Bold"/>
                <a:sym typeface="Arimo Bold"/>
              </a:rPr>
              <a:t>Kekuatan Algoritma Genetika</a:t>
            </a:r>
          </a:p>
        </p:txBody>
      </p:sp>
      <p:sp>
        <p:nvSpPr>
          <p:cNvPr name="TextBox 46" id="46"/>
          <p:cNvSpPr txBox="true"/>
          <p:nvPr/>
        </p:nvSpPr>
        <p:spPr>
          <a:xfrm rot="0">
            <a:off x="1100985" y="2568710"/>
            <a:ext cx="7728322" cy="381000"/>
          </a:xfrm>
          <a:prstGeom prst="rect">
            <a:avLst/>
          </a:prstGeom>
        </p:spPr>
        <p:txBody>
          <a:bodyPr anchor="t" rtlCol="false" tIns="0" lIns="0" bIns="0" rIns="0">
            <a:spAutoFit/>
          </a:bodyPr>
          <a:lstStyle/>
          <a:p>
            <a:pPr algn="ctr">
              <a:lnSpc>
                <a:spcPts val="2999"/>
              </a:lnSpc>
            </a:pPr>
            <a:r>
              <a:rPr lang="en-US" sz="2499">
                <a:solidFill>
                  <a:srgbClr val="000000"/>
                </a:solidFill>
                <a:latin typeface="Arimo"/>
                <a:ea typeface="Arimo"/>
                <a:cs typeface="Arimo"/>
                <a:sym typeface="Arimo"/>
              </a:rPr>
              <a:t>Ruang Kombinasi sangat besar dan diskrit (2^201)</a:t>
            </a:r>
          </a:p>
        </p:txBody>
      </p:sp>
      <p:sp>
        <p:nvSpPr>
          <p:cNvPr name="TextBox 47" id="47"/>
          <p:cNvSpPr txBox="true"/>
          <p:nvPr/>
        </p:nvSpPr>
        <p:spPr>
          <a:xfrm rot="0">
            <a:off x="1095098" y="3687910"/>
            <a:ext cx="7728322" cy="381000"/>
          </a:xfrm>
          <a:prstGeom prst="rect">
            <a:avLst/>
          </a:prstGeom>
        </p:spPr>
        <p:txBody>
          <a:bodyPr anchor="t" rtlCol="false" tIns="0" lIns="0" bIns="0" rIns="0">
            <a:spAutoFit/>
          </a:bodyPr>
          <a:lstStyle/>
          <a:p>
            <a:pPr algn="ctr">
              <a:lnSpc>
                <a:spcPts val="2999"/>
              </a:lnSpc>
            </a:pPr>
            <a:r>
              <a:rPr lang="en-US" sz="2499">
                <a:solidFill>
                  <a:srgbClr val="000000"/>
                </a:solidFill>
                <a:latin typeface="Arimo"/>
                <a:ea typeface="Arimo"/>
                <a:cs typeface="Arimo"/>
                <a:sym typeface="Arimo"/>
              </a:rPr>
              <a:t>Ada ukuran kualitas yang jelas (</a:t>
            </a:r>
            <a:r>
              <a:rPr lang="en-US" sz="2499" i="true">
                <a:solidFill>
                  <a:srgbClr val="000000"/>
                </a:solidFill>
                <a:latin typeface="Arimo Italics"/>
                <a:ea typeface="Arimo Italics"/>
                <a:cs typeface="Arimo Italics"/>
                <a:sym typeface="Arimo Italics"/>
              </a:rPr>
              <a:t>fitness</a:t>
            </a:r>
            <a:r>
              <a:rPr lang="en-US" sz="2499">
                <a:solidFill>
                  <a:srgbClr val="000000"/>
                </a:solidFill>
                <a:latin typeface="Arimo"/>
                <a:ea typeface="Arimo"/>
                <a:cs typeface="Arimo"/>
                <a:sym typeface="Arimo"/>
              </a:rPr>
              <a:t>)</a:t>
            </a:r>
          </a:p>
        </p:txBody>
      </p:sp>
      <p:sp>
        <p:nvSpPr>
          <p:cNvPr name="TextBox 48" id="48"/>
          <p:cNvSpPr txBox="true"/>
          <p:nvPr/>
        </p:nvSpPr>
        <p:spPr>
          <a:xfrm rot="0">
            <a:off x="1089211" y="4807110"/>
            <a:ext cx="7728322" cy="381000"/>
          </a:xfrm>
          <a:prstGeom prst="rect">
            <a:avLst/>
          </a:prstGeom>
        </p:spPr>
        <p:txBody>
          <a:bodyPr anchor="t" rtlCol="false" tIns="0" lIns="0" bIns="0" rIns="0">
            <a:spAutoFit/>
          </a:bodyPr>
          <a:lstStyle/>
          <a:p>
            <a:pPr algn="ctr">
              <a:lnSpc>
                <a:spcPts val="2999"/>
              </a:lnSpc>
            </a:pPr>
            <a:r>
              <a:rPr lang="en-US" sz="2499">
                <a:solidFill>
                  <a:srgbClr val="000000"/>
                </a:solidFill>
                <a:latin typeface="Arimo"/>
                <a:ea typeface="Arimo"/>
                <a:cs typeface="Arimo"/>
                <a:sym typeface="Arimo"/>
              </a:rPr>
              <a:t>Constraint saling terkait (biaya vs durasi)</a:t>
            </a:r>
          </a:p>
        </p:txBody>
      </p:sp>
      <p:sp>
        <p:nvSpPr>
          <p:cNvPr name="TextBox 49" id="49"/>
          <p:cNvSpPr txBox="true"/>
          <p:nvPr/>
        </p:nvSpPr>
        <p:spPr>
          <a:xfrm rot="0">
            <a:off x="1083324" y="5926310"/>
            <a:ext cx="7728322" cy="381000"/>
          </a:xfrm>
          <a:prstGeom prst="rect">
            <a:avLst/>
          </a:prstGeom>
        </p:spPr>
        <p:txBody>
          <a:bodyPr anchor="t" rtlCol="false" tIns="0" lIns="0" bIns="0" rIns="0">
            <a:spAutoFit/>
          </a:bodyPr>
          <a:lstStyle/>
          <a:p>
            <a:pPr algn="ctr">
              <a:lnSpc>
                <a:spcPts val="2999"/>
              </a:lnSpc>
            </a:pPr>
            <a:r>
              <a:rPr lang="en-US" sz="2499">
                <a:solidFill>
                  <a:srgbClr val="000000"/>
                </a:solidFill>
                <a:latin typeface="Arimo"/>
                <a:ea typeface="Arimo"/>
                <a:cs typeface="Arimo"/>
                <a:sym typeface="Arimo"/>
              </a:rPr>
              <a:t>Butuh jawaban cepat, cukup “sangat baik”</a:t>
            </a:r>
          </a:p>
        </p:txBody>
      </p:sp>
      <p:sp>
        <p:nvSpPr>
          <p:cNvPr name="TextBox 50" id="50"/>
          <p:cNvSpPr txBox="true"/>
          <p:nvPr/>
        </p:nvSpPr>
        <p:spPr>
          <a:xfrm rot="0">
            <a:off x="9445582" y="2421085"/>
            <a:ext cx="7728322" cy="752475"/>
          </a:xfrm>
          <a:prstGeom prst="rect">
            <a:avLst/>
          </a:prstGeom>
        </p:spPr>
        <p:txBody>
          <a:bodyPr anchor="t" rtlCol="false" tIns="0" lIns="0" bIns="0" rIns="0">
            <a:spAutoFit/>
          </a:bodyPr>
          <a:lstStyle/>
          <a:p>
            <a:pPr algn="ctr">
              <a:lnSpc>
                <a:spcPts val="2999"/>
              </a:lnSpc>
            </a:pPr>
            <a:r>
              <a:rPr lang="en-US" sz="2499">
                <a:solidFill>
                  <a:srgbClr val="000000"/>
                </a:solidFill>
                <a:latin typeface="Arimo"/>
                <a:ea typeface="Arimo"/>
                <a:cs typeface="Arimo"/>
                <a:sym typeface="Arimo"/>
              </a:rPr>
              <a:t>Menjelajahi banyak solusi sekaligus lewat populasi kromosom</a:t>
            </a:r>
          </a:p>
        </p:txBody>
      </p:sp>
      <p:sp>
        <p:nvSpPr>
          <p:cNvPr name="TextBox 51" id="51"/>
          <p:cNvSpPr txBox="true"/>
          <p:nvPr/>
        </p:nvSpPr>
        <p:spPr>
          <a:xfrm rot="0">
            <a:off x="9452137" y="3687910"/>
            <a:ext cx="7728322" cy="381000"/>
          </a:xfrm>
          <a:prstGeom prst="rect">
            <a:avLst/>
          </a:prstGeom>
        </p:spPr>
        <p:txBody>
          <a:bodyPr anchor="t" rtlCol="false" tIns="0" lIns="0" bIns="0" rIns="0">
            <a:spAutoFit/>
          </a:bodyPr>
          <a:lstStyle/>
          <a:p>
            <a:pPr algn="ctr">
              <a:lnSpc>
                <a:spcPts val="2999"/>
              </a:lnSpc>
            </a:pPr>
            <a:r>
              <a:rPr lang="en-US" sz="2499">
                <a:solidFill>
                  <a:srgbClr val="000000"/>
                </a:solidFill>
                <a:latin typeface="Arimo"/>
                <a:ea typeface="Arimo"/>
                <a:cs typeface="Arimo"/>
                <a:sym typeface="Arimo"/>
              </a:rPr>
              <a:t>Pencarian diarahkan langsung oleh </a:t>
            </a:r>
            <a:r>
              <a:rPr lang="en-US" sz="2499" i="true">
                <a:solidFill>
                  <a:srgbClr val="000000"/>
                </a:solidFill>
                <a:latin typeface="Arimo Italics"/>
                <a:ea typeface="Arimo Italics"/>
                <a:cs typeface="Arimo Italics"/>
                <a:sym typeface="Arimo Italics"/>
              </a:rPr>
              <a:t>fitness function</a:t>
            </a:r>
          </a:p>
        </p:txBody>
      </p:sp>
      <p:sp>
        <p:nvSpPr>
          <p:cNvPr name="TextBox 52" id="52"/>
          <p:cNvSpPr txBox="true"/>
          <p:nvPr/>
        </p:nvSpPr>
        <p:spPr>
          <a:xfrm rot="0">
            <a:off x="9458693" y="4621373"/>
            <a:ext cx="7728322" cy="752475"/>
          </a:xfrm>
          <a:prstGeom prst="rect">
            <a:avLst/>
          </a:prstGeom>
        </p:spPr>
        <p:txBody>
          <a:bodyPr anchor="t" rtlCol="false" tIns="0" lIns="0" bIns="0" rIns="0">
            <a:spAutoFit/>
          </a:bodyPr>
          <a:lstStyle/>
          <a:p>
            <a:pPr algn="ctr">
              <a:lnSpc>
                <a:spcPts val="2999"/>
              </a:lnSpc>
            </a:pPr>
            <a:r>
              <a:rPr lang="en-US" sz="2499">
                <a:solidFill>
                  <a:srgbClr val="000000"/>
                </a:solidFill>
                <a:latin typeface="Arimo"/>
                <a:ea typeface="Arimo"/>
                <a:cs typeface="Arimo"/>
                <a:sym typeface="Arimo"/>
              </a:rPr>
              <a:t>Seleksi dan crossover menyaring kombinasi yang saling melengkapi</a:t>
            </a:r>
          </a:p>
        </p:txBody>
      </p:sp>
      <p:sp>
        <p:nvSpPr>
          <p:cNvPr name="TextBox 53" id="53"/>
          <p:cNvSpPr txBox="true"/>
          <p:nvPr/>
        </p:nvSpPr>
        <p:spPr>
          <a:xfrm rot="0">
            <a:off x="9458693" y="5773217"/>
            <a:ext cx="7728322" cy="752475"/>
          </a:xfrm>
          <a:prstGeom prst="rect">
            <a:avLst/>
          </a:prstGeom>
        </p:spPr>
        <p:txBody>
          <a:bodyPr anchor="t" rtlCol="false" tIns="0" lIns="0" bIns="0" rIns="0">
            <a:spAutoFit/>
          </a:bodyPr>
          <a:lstStyle/>
          <a:p>
            <a:pPr algn="ctr">
              <a:lnSpc>
                <a:spcPts val="2999"/>
              </a:lnSpc>
            </a:pPr>
            <a:r>
              <a:rPr lang="en-US" sz="2499">
                <a:solidFill>
                  <a:srgbClr val="000000"/>
                </a:solidFill>
                <a:latin typeface="Arimo"/>
                <a:ea typeface="Arimo"/>
                <a:cs typeface="Arimo"/>
                <a:sym typeface="Arimo"/>
              </a:rPr>
              <a:t>Konvergen ke solusi </a:t>
            </a:r>
            <a:r>
              <a:rPr lang="en-US" sz="2499" i="true">
                <a:solidFill>
                  <a:srgbClr val="000000"/>
                </a:solidFill>
                <a:latin typeface="Arimo Italics"/>
                <a:ea typeface="Arimo Italics"/>
                <a:cs typeface="Arimo Italics"/>
                <a:sym typeface="Arimo Italics"/>
              </a:rPr>
              <a:t>near-optimal </a:t>
            </a:r>
            <a:r>
              <a:rPr lang="en-US" sz="2499">
                <a:solidFill>
                  <a:srgbClr val="000000"/>
                </a:solidFill>
                <a:latin typeface="Arimo"/>
                <a:ea typeface="Arimo"/>
                <a:cs typeface="Arimo"/>
                <a:sym typeface="Arimo"/>
              </a:rPr>
              <a:t>dalam iterasi terbatas</a:t>
            </a:r>
          </a:p>
        </p:txBody>
      </p:sp>
      <p:sp>
        <p:nvSpPr>
          <p:cNvPr name="TextBox 54" id="54"/>
          <p:cNvSpPr txBox="true"/>
          <p:nvPr/>
        </p:nvSpPr>
        <p:spPr>
          <a:xfrm rot="0">
            <a:off x="5050542" y="6825396"/>
            <a:ext cx="7728322" cy="476250"/>
          </a:xfrm>
          <a:prstGeom prst="rect">
            <a:avLst/>
          </a:prstGeom>
        </p:spPr>
        <p:txBody>
          <a:bodyPr anchor="t" rtlCol="false" tIns="0" lIns="0" bIns="0" rIns="0">
            <a:spAutoFit/>
          </a:bodyPr>
          <a:lstStyle/>
          <a:p>
            <a:pPr algn="ctr">
              <a:lnSpc>
                <a:spcPts val="3600"/>
              </a:lnSpc>
            </a:pPr>
            <a:r>
              <a:rPr lang="en-US" sz="3000" b="true">
                <a:solidFill>
                  <a:srgbClr val="FFFFFF"/>
                </a:solidFill>
                <a:latin typeface="Arimo Bold"/>
                <a:ea typeface="Arimo Bold"/>
                <a:cs typeface="Arimo Bold"/>
                <a:sym typeface="Arimo Bold"/>
              </a:rPr>
              <a:t>Apa yang Dioptimasi?</a:t>
            </a:r>
          </a:p>
        </p:txBody>
      </p:sp>
      <p:sp>
        <p:nvSpPr>
          <p:cNvPr name="TextBox 55" id="55"/>
          <p:cNvSpPr txBox="true"/>
          <p:nvPr/>
        </p:nvSpPr>
        <p:spPr>
          <a:xfrm rot="0">
            <a:off x="5050542" y="7608156"/>
            <a:ext cx="3298930" cy="6191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Skor Kesalahan (Error) yang diminimalkan</a:t>
            </a:r>
          </a:p>
        </p:txBody>
      </p:sp>
      <p:sp>
        <p:nvSpPr>
          <p:cNvPr name="TextBox 56" id="56"/>
          <p:cNvSpPr txBox="true"/>
          <p:nvPr/>
        </p:nvSpPr>
        <p:spPr>
          <a:xfrm rot="0">
            <a:off x="13026782" y="7520724"/>
            <a:ext cx="3927744" cy="1838325"/>
          </a:xfrm>
          <a:prstGeom prst="rect">
            <a:avLst/>
          </a:prstGeom>
        </p:spPr>
        <p:txBody>
          <a:bodyPr anchor="t" rtlCol="false" tIns="0" lIns="0" bIns="0" rIns="0">
            <a:spAutoFit/>
          </a:bodyPr>
          <a:lstStyle/>
          <a:p>
            <a:pPr algn="just">
              <a:lnSpc>
                <a:spcPts val="2400"/>
              </a:lnSpc>
            </a:pPr>
            <a:r>
              <a:rPr lang="en-US" sz="2000">
                <a:solidFill>
                  <a:srgbClr val="000000"/>
                </a:solidFill>
                <a:latin typeface="Arimo"/>
                <a:ea typeface="Arimo"/>
                <a:cs typeface="Arimo"/>
                <a:sym typeface="Arimo"/>
              </a:rPr>
              <a:t>Error biaya dan error durasi bisa saling tarik-menarik, bagus di satu sisi belum tentu bagus di sisi lain, sehingga dibutuhkan algoritma yang bisa mencari titik paling seimbang di antara keduanya</a:t>
            </a:r>
          </a:p>
        </p:txBody>
      </p:sp>
      <p:sp>
        <p:nvSpPr>
          <p:cNvPr name="TextBox 57" id="57"/>
          <p:cNvSpPr txBox="true"/>
          <p:nvPr/>
        </p:nvSpPr>
        <p:spPr>
          <a:xfrm rot="0">
            <a:off x="5331223" y="9104948"/>
            <a:ext cx="2737568" cy="247650"/>
          </a:xfrm>
          <a:prstGeom prst="rect">
            <a:avLst/>
          </a:prstGeom>
        </p:spPr>
        <p:txBody>
          <a:bodyPr anchor="t" rtlCol="false" tIns="0" lIns="0" bIns="0" rIns="0">
            <a:spAutoFit/>
          </a:bodyPr>
          <a:lstStyle/>
          <a:p>
            <a:pPr algn="ctr">
              <a:lnSpc>
                <a:spcPts val="1800"/>
              </a:lnSpc>
            </a:pPr>
            <a:r>
              <a:rPr lang="en-US" sz="1500" i="true">
                <a:solidFill>
                  <a:srgbClr val="A6A6A6"/>
                </a:solidFill>
                <a:latin typeface="Arimo Italics"/>
                <a:ea typeface="Arimo Italics"/>
                <a:cs typeface="Arimo Italics"/>
                <a:sym typeface="Arimo Italics"/>
              </a:rPr>
              <a:t>Q</a:t>
            </a:r>
            <a:r>
              <a:rPr lang="en-US" sz="1500" i="true">
                <a:solidFill>
                  <a:srgbClr val="A6A6A6"/>
                </a:solidFill>
                <a:latin typeface="Arimo Italics"/>
                <a:ea typeface="Arimo Italics"/>
                <a:cs typeface="Arimo Italics"/>
                <a:sym typeface="Arimo Italics"/>
              </a:rPr>
              <a:t>omariyah &amp; Kazakov (2021)</a:t>
            </a:r>
          </a:p>
        </p:txBody>
      </p:sp>
      <p:sp>
        <p:nvSpPr>
          <p:cNvPr name="TextBox 58" id="58"/>
          <p:cNvSpPr txBox="true"/>
          <p:nvPr/>
        </p:nvSpPr>
        <p:spPr>
          <a:xfrm rot="0">
            <a:off x="9595923" y="7396899"/>
            <a:ext cx="2273397" cy="247650"/>
          </a:xfrm>
          <a:prstGeom prst="rect">
            <a:avLst/>
          </a:prstGeom>
        </p:spPr>
        <p:txBody>
          <a:bodyPr anchor="t" rtlCol="false" tIns="0" lIns="0" bIns="0" rIns="0">
            <a:spAutoFit/>
          </a:bodyPr>
          <a:lstStyle/>
          <a:p>
            <a:pPr algn="ctr">
              <a:lnSpc>
                <a:spcPts val="1800"/>
              </a:lnSpc>
            </a:pPr>
            <a:r>
              <a:rPr lang="en-US" sz="1500" i="true">
                <a:solidFill>
                  <a:srgbClr val="A6A6A6"/>
                </a:solidFill>
                <a:latin typeface="Arimo Italics"/>
                <a:ea typeface="Arimo Italics"/>
                <a:cs typeface="Arimo Italics"/>
                <a:sym typeface="Arimo Italics"/>
              </a:rPr>
              <a:t>Ilustrasi Konseptual</a:t>
            </a:r>
          </a:p>
        </p:txBody>
      </p:sp>
      <p:sp>
        <p:nvSpPr>
          <p:cNvPr name="Freeform 59" id="59"/>
          <p:cNvSpPr/>
          <p:nvPr/>
        </p:nvSpPr>
        <p:spPr>
          <a:xfrm flipH="false" flipV="false" rot="0">
            <a:off x="8896039" y="3697435"/>
            <a:ext cx="471037" cy="430999"/>
          </a:xfrm>
          <a:custGeom>
            <a:avLst/>
            <a:gdLst/>
            <a:ahLst/>
            <a:cxnLst/>
            <a:rect r="r" b="b" t="t" l="l"/>
            <a:pathLst>
              <a:path h="430999" w="471037">
                <a:moveTo>
                  <a:pt x="0" y="0"/>
                </a:moveTo>
                <a:lnTo>
                  <a:pt x="471037" y="0"/>
                </a:lnTo>
                <a:lnTo>
                  <a:pt x="471037" y="430999"/>
                </a:lnTo>
                <a:lnTo>
                  <a:pt x="0" y="4309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0" id="60"/>
          <p:cNvSpPr/>
          <p:nvPr/>
        </p:nvSpPr>
        <p:spPr>
          <a:xfrm flipH="false" flipV="false" rot="0">
            <a:off x="8902594" y="4846397"/>
            <a:ext cx="471037" cy="430999"/>
          </a:xfrm>
          <a:custGeom>
            <a:avLst/>
            <a:gdLst/>
            <a:ahLst/>
            <a:cxnLst/>
            <a:rect r="r" b="b" t="t" l="l"/>
            <a:pathLst>
              <a:path h="430999" w="471037">
                <a:moveTo>
                  <a:pt x="0" y="0"/>
                </a:moveTo>
                <a:lnTo>
                  <a:pt x="471037" y="0"/>
                </a:lnTo>
                <a:lnTo>
                  <a:pt x="471037" y="430999"/>
                </a:lnTo>
                <a:lnTo>
                  <a:pt x="0" y="4309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1" id="61"/>
          <p:cNvSpPr/>
          <p:nvPr/>
        </p:nvSpPr>
        <p:spPr>
          <a:xfrm flipH="false" flipV="false" rot="0">
            <a:off x="8908482" y="5995359"/>
            <a:ext cx="471037" cy="430999"/>
          </a:xfrm>
          <a:custGeom>
            <a:avLst/>
            <a:gdLst/>
            <a:ahLst/>
            <a:cxnLst/>
            <a:rect r="r" b="b" t="t" l="l"/>
            <a:pathLst>
              <a:path h="430999" w="471037">
                <a:moveTo>
                  <a:pt x="0" y="0"/>
                </a:moveTo>
                <a:lnTo>
                  <a:pt x="471036" y="0"/>
                </a:lnTo>
                <a:lnTo>
                  <a:pt x="471036" y="430999"/>
                </a:lnTo>
                <a:lnTo>
                  <a:pt x="0" y="43099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Data: 201 Destinasi Nyata dari Paper Acuan</a:t>
            </a:r>
          </a:p>
        </p:txBody>
      </p:sp>
      <p:sp>
        <p:nvSpPr>
          <p:cNvPr id="4" name="Rectangle 3"/>
          <p:cNvSpPr/>
          <p:nvPr/>
        </p:nvSpPr>
        <p:spPr>
          <a:xfrm>
            <a:off x="1024128" y="1783080"/>
            <a:ext cx="16230600" cy="502920"/>
          </a:xfrm>
          <a:prstGeom prst="rect">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24128" y="1783080"/>
            <a:ext cx="16230600" cy="502920"/>
          </a:xfrm>
          <a:prstGeom prst="rect">
            <a:avLst/>
          </a:prstGeom>
          <a:noFill/>
        </p:spPr>
        <p:txBody>
          <a:bodyPr wrap="square" anchor="ctr" lIns="45720" rIns="45720">
            <a:spAutoFit/>
          </a:bodyPr>
          <a:lstStyle/>
          <a:p>
            <a:pPr algn="ctr">
              <a:spcAft>
                <a:spcPts val="600"/>
              </a:spcAft>
            </a:pPr>
            <a:r>
              <a:rPr sz="2800" b="1" i="0">
                <a:solidFill>
                  <a:srgbClr val="FFFFFF"/>
                </a:solidFill>
                <a:latin typeface="Arimo"/>
              </a:rPr>
              <a:t>Dataset Asli, Dipakai Apa Adanya</a:t>
            </a:r>
          </a:p>
        </p:txBody>
      </p:sp>
      <p:sp>
        <p:nvSpPr>
          <p:cNvPr id="6" name="Rectangle 5"/>
          <p:cNvSpPr/>
          <p:nvPr/>
        </p:nvSpPr>
        <p:spPr>
          <a:xfrm>
            <a:off x="1024128" y="2514600"/>
            <a:ext cx="3840480" cy="1965960"/>
          </a:xfrm>
          <a:prstGeom prst="rect">
            <a:avLst/>
          </a:prstGeom>
          <a:solidFill>
            <a:srgbClr val="FFFFFF"/>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2728" y="2606040"/>
            <a:ext cx="3383280" cy="914400"/>
          </a:xfrm>
          <a:prstGeom prst="rect">
            <a:avLst/>
          </a:prstGeom>
          <a:noFill/>
        </p:spPr>
        <p:txBody>
          <a:bodyPr wrap="square" anchor="t" lIns="45720" rIns="45720">
            <a:spAutoFit/>
          </a:bodyPr>
          <a:lstStyle/>
          <a:p>
            <a:pPr algn="l">
              <a:spcAft>
                <a:spcPts val="600"/>
              </a:spcAft>
            </a:pPr>
            <a:r>
              <a:rPr sz="5000" b="1" i="0">
                <a:solidFill>
                  <a:srgbClr val="01416B"/>
                </a:solidFill>
                <a:latin typeface="Arimo"/>
              </a:rPr>
              <a:t>201</a:t>
            </a:r>
          </a:p>
        </p:txBody>
      </p:sp>
      <p:sp>
        <p:nvSpPr>
          <p:cNvPr id="8" name="TextBox 7"/>
          <p:cNvSpPr txBox="1"/>
          <p:nvPr/>
        </p:nvSpPr>
        <p:spPr>
          <a:xfrm>
            <a:off x="1252728" y="3520440"/>
            <a:ext cx="3383280" cy="868680"/>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destinasi wisata di Jabodetabek</a:t>
            </a:r>
          </a:p>
        </p:txBody>
      </p:sp>
      <p:sp>
        <p:nvSpPr>
          <p:cNvPr id="9" name="Rectangle 8"/>
          <p:cNvSpPr/>
          <p:nvPr/>
        </p:nvSpPr>
        <p:spPr>
          <a:xfrm>
            <a:off x="5154168" y="2514600"/>
            <a:ext cx="3840480" cy="1965960"/>
          </a:xfrm>
          <a:prstGeom prst="rect">
            <a:avLst/>
          </a:prstGeom>
          <a:solidFill>
            <a:srgbClr val="FFFFFF"/>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382768" y="2606040"/>
            <a:ext cx="3383280" cy="914400"/>
          </a:xfrm>
          <a:prstGeom prst="rect">
            <a:avLst/>
          </a:prstGeom>
          <a:noFill/>
        </p:spPr>
        <p:txBody>
          <a:bodyPr wrap="square" anchor="t" lIns="45720" rIns="45720">
            <a:spAutoFit/>
          </a:bodyPr>
          <a:lstStyle/>
          <a:p>
            <a:pPr algn="l">
              <a:spcAft>
                <a:spcPts val="600"/>
              </a:spcAft>
            </a:pPr>
            <a:r>
              <a:rPr sz="5000" b="1" i="0">
                <a:solidFill>
                  <a:srgbClr val="01416B"/>
                </a:solidFill>
                <a:latin typeface="Arimo"/>
              </a:rPr>
              <a:t>202 × 202</a:t>
            </a:r>
          </a:p>
        </p:txBody>
      </p:sp>
      <p:sp>
        <p:nvSpPr>
          <p:cNvPr id="11" name="TextBox 10"/>
          <p:cNvSpPr txBox="1"/>
          <p:nvPr/>
        </p:nvSpPr>
        <p:spPr>
          <a:xfrm>
            <a:off x="5382768" y="3520440"/>
            <a:ext cx="3383280" cy="868680"/>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matriks jarak &amp; waktu tempuh (Google Maps)</a:t>
            </a:r>
          </a:p>
        </p:txBody>
      </p:sp>
      <p:sp>
        <p:nvSpPr>
          <p:cNvPr id="12" name="Rectangle 11"/>
          <p:cNvSpPr/>
          <p:nvPr/>
        </p:nvSpPr>
        <p:spPr>
          <a:xfrm>
            <a:off x="9284208" y="2514600"/>
            <a:ext cx="3840480" cy="1965960"/>
          </a:xfrm>
          <a:prstGeom prst="rect">
            <a:avLst/>
          </a:prstGeom>
          <a:solidFill>
            <a:srgbClr val="FFFFFF"/>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512808" y="2606040"/>
            <a:ext cx="3383280" cy="914400"/>
          </a:xfrm>
          <a:prstGeom prst="rect">
            <a:avLst/>
          </a:prstGeom>
          <a:noFill/>
        </p:spPr>
        <p:txBody>
          <a:bodyPr wrap="square" anchor="t" lIns="45720" rIns="45720">
            <a:spAutoFit/>
          </a:bodyPr>
          <a:lstStyle/>
          <a:p>
            <a:pPr algn="l">
              <a:spcAft>
                <a:spcPts val="600"/>
              </a:spcAft>
            </a:pPr>
            <a:r>
              <a:rPr sz="5000" b="1" i="0">
                <a:solidFill>
                  <a:srgbClr val="01416B"/>
                </a:solidFill>
                <a:latin typeface="Arimo"/>
              </a:rPr>
              <a:t>8</a:t>
            </a:r>
          </a:p>
        </p:txBody>
      </p:sp>
      <p:sp>
        <p:nvSpPr>
          <p:cNvPr id="14" name="TextBox 13"/>
          <p:cNvSpPr txBox="1"/>
          <p:nvPr/>
        </p:nvSpPr>
        <p:spPr>
          <a:xfrm>
            <a:off x="9512808" y="3520440"/>
            <a:ext cx="3383280" cy="868680"/>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kategori minat (alam, museum, sejarah, …)</a:t>
            </a:r>
          </a:p>
        </p:txBody>
      </p:sp>
      <p:sp>
        <p:nvSpPr>
          <p:cNvPr id="15" name="Rectangle 14"/>
          <p:cNvSpPr/>
          <p:nvPr/>
        </p:nvSpPr>
        <p:spPr>
          <a:xfrm>
            <a:off x="13414248" y="2514600"/>
            <a:ext cx="3840480" cy="1965960"/>
          </a:xfrm>
          <a:prstGeom prst="rect">
            <a:avLst/>
          </a:prstGeom>
          <a:solidFill>
            <a:srgbClr val="FFFFFF"/>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13642848" y="2606040"/>
            <a:ext cx="3383280" cy="914400"/>
          </a:xfrm>
          <a:prstGeom prst="rect">
            <a:avLst/>
          </a:prstGeom>
          <a:noFill/>
        </p:spPr>
        <p:txBody>
          <a:bodyPr wrap="square" anchor="t" lIns="45720" rIns="45720">
            <a:spAutoFit/>
          </a:bodyPr>
          <a:lstStyle/>
          <a:p>
            <a:pPr algn="l">
              <a:spcAft>
                <a:spcPts val="600"/>
              </a:spcAft>
            </a:pPr>
            <a:r>
              <a:rPr sz="5000" b="1" i="0">
                <a:solidFill>
                  <a:srgbClr val="01416B"/>
                </a:solidFill>
                <a:latin typeface="Arimo"/>
              </a:rPr>
              <a:t>92</a:t>
            </a:r>
          </a:p>
        </p:txBody>
      </p:sp>
      <p:sp>
        <p:nvSpPr>
          <p:cNvPr id="17" name="TextBox 16"/>
          <p:cNvSpPr txBox="1"/>
          <p:nvPr/>
        </p:nvSpPr>
        <p:spPr>
          <a:xfrm>
            <a:off x="13642848" y="3520440"/>
            <a:ext cx="3383280" cy="868680"/>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destinasi gratis (tiket Rp0)</a:t>
            </a:r>
          </a:p>
        </p:txBody>
      </p:sp>
      <p:sp>
        <p:nvSpPr>
          <p:cNvPr id="18" name="Rectangle 17"/>
          <p:cNvSpPr/>
          <p:nvPr/>
        </p:nvSpPr>
        <p:spPr>
          <a:xfrm>
            <a:off x="1024128" y="4754880"/>
            <a:ext cx="7882127" cy="4617720"/>
          </a:xfrm>
          <a:prstGeom prst="rect">
            <a:avLst/>
          </a:prstGeom>
          <a:solidFill>
            <a:srgbClr val="FFFFFF"/>
          </a:solidFill>
          <a:ln w="3175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ectangle 18"/>
          <p:cNvSpPr/>
          <p:nvPr/>
        </p:nvSpPr>
        <p:spPr>
          <a:xfrm>
            <a:off x="1024128" y="4754880"/>
            <a:ext cx="7882127" cy="502920"/>
          </a:xfrm>
          <a:prstGeom prst="rect">
            <a:avLst/>
          </a:prstGeom>
          <a:solidFill>
            <a:srgbClr val="FDD4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1024128" y="4754880"/>
            <a:ext cx="7882127" cy="502920"/>
          </a:xfrm>
          <a:prstGeom prst="rect">
            <a:avLst/>
          </a:prstGeom>
          <a:noFill/>
        </p:spPr>
        <p:txBody>
          <a:bodyPr wrap="square" anchor="ctr" lIns="45720" rIns="45720">
            <a:spAutoFit/>
          </a:bodyPr>
          <a:lstStyle/>
          <a:p>
            <a:pPr algn="ctr">
              <a:spcAft>
                <a:spcPts val="600"/>
              </a:spcAft>
            </a:pPr>
            <a:r>
              <a:rPr sz="2800" b="1" i="0">
                <a:solidFill>
                  <a:srgbClr val="01416B"/>
                </a:solidFill>
                <a:latin typeface="Arimo"/>
              </a:rPr>
              <a:t>Isi Data</a:t>
            </a:r>
          </a:p>
        </p:txBody>
      </p:sp>
      <p:sp>
        <p:nvSpPr>
          <p:cNvPr id="21" name="TextBox 20"/>
          <p:cNvSpPr txBox="1"/>
          <p:nvPr/>
        </p:nvSpPr>
        <p:spPr>
          <a:xfrm>
            <a:off x="1344168" y="5440680"/>
            <a:ext cx="7315200" cy="3840480"/>
          </a:xfrm>
          <a:prstGeom prst="rect">
            <a:avLst/>
          </a:prstGeom>
          <a:noFill/>
        </p:spPr>
        <p:txBody>
          <a:bodyPr wrap="square" anchor="t" lIns="45720" rIns="45720">
            <a:spAutoFit/>
          </a:bodyPr>
          <a:lstStyle/>
          <a:p>
            <a:pPr algn="l">
              <a:spcAft>
                <a:spcPts val="1400"/>
              </a:spcAft>
            </a:pPr>
            <a:r>
              <a:rPr sz="2200" b="1" i="0">
                <a:solidFill>
                  <a:srgbClr val="000000"/>
                </a:solidFill>
                <a:latin typeface="Arimo"/>
              </a:rPr>
              <a:t>Per destinasi: </a:t>
            </a:r>
            <a:r>
              <a:rPr sz="2200" b="0" i="0">
                <a:solidFill>
                  <a:srgbClr val="000000"/>
                </a:solidFill>
                <a:latin typeface="Arimo"/>
              </a:rPr>
              <a:t>harga tiket masuk per orang, lama kunjungan (jam), kategori, dan koordinat</a:t>
            </a:r>
          </a:p>
          <a:p>
            <a:pPr algn="l">
              <a:spcAft>
                <a:spcPts val="1400"/>
              </a:spcAft>
            </a:pPr>
            <a:r>
              <a:rPr sz="2200" b="1" i="0">
                <a:solidFill>
                  <a:srgbClr val="000000"/>
                </a:solidFill>
                <a:latin typeface="Arimo"/>
              </a:rPr>
              <a:t>Antardestinasi: </a:t>
            </a:r>
            <a:r>
              <a:rPr sz="2200" b="0" i="0">
                <a:solidFill>
                  <a:srgbClr val="000000"/>
                </a:solidFill>
                <a:latin typeface="Arimo"/>
              </a:rPr>
              <a:t>jarak (meter) dan waktu tempuh (detik) dari Google Distance Matrix</a:t>
            </a:r>
          </a:p>
          <a:p>
            <a:pPr algn="l">
              <a:spcAft>
                <a:spcPts val="1400"/>
              </a:spcAft>
            </a:pPr>
            <a:r>
              <a:rPr sz="2200" b="1" i="0">
                <a:solidFill>
                  <a:srgbClr val="000000"/>
                </a:solidFill>
                <a:latin typeface="Arimo"/>
              </a:rPr>
              <a:t>Sumber: </a:t>
            </a:r>
            <a:r>
              <a:rPr sz="2200" b="0" i="0">
                <a:solidFill>
                  <a:srgbClr val="000000"/>
                </a:solidFill>
                <a:latin typeface="Arimo"/>
              </a:rPr>
              <a:t>repositori kode Qomariyah &amp; Kazakov (2021)</a:t>
            </a:r>
          </a:p>
        </p:txBody>
      </p:sp>
      <p:sp>
        <p:nvSpPr>
          <p:cNvPr id="22" name="Rectangle 21"/>
          <p:cNvSpPr/>
          <p:nvPr/>
        </p:nvSpPr>
        <p:spPr>
          <a:xfrm>
            <a:off x="9372600" y="4754880"/>
            <a:ext cx="7882127" cy="461772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Rectangle 22"/>
          <p:cNvSpPr/>
          <p:nvPr/>
        </p:nvSpPr>
        <p:spPr>
          <a:xfrm>
            <a:off x="9372600" y="4754880"/>
            <a:ext cx="7882127" cy="502920"/>
          </a:xfrm>
          <a:prstGeom prst="rect">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372600" y="4754880"/>
            <a:ext cx="7882127" cy="502920"/>
          </a:xfrm>
          <a:prstGeom prst="rect">
            <a:avLst/>
          </a:prstGeom>
          <a:noFill/>
        </p:spPr>
        <p:txBody>
          <a:bodyPr wrap="square" anchor="ctr" lIns="45720" rIns="45720">
            <a:spAutoFit/>
          </a:bodyPr>
          <a:lstStyle/>
          <a:p>
            <a:pPr algn="ctr">
              <a:spcAft>
                <a:spcPts val="600"/>
              </a:spcAft>
            </a:pPr>
            <a:r>
              <a:rPr sz="2800" b="1" i="0">
                <a:solidFill>
                  <a:srgbClr val="FFFFFF"/>
                </a:solidFill>
                <a:latin typeface="Arimo"/>
              </a:rPr>
              <a:t>Audit Data</a:t>
            </a:r>
          </a:p>
        </p:txBody>
      </p:sp>
      <p:sp>
        <p:nvSpPr>
          <p:cNvPr id="25" name="TextBox 24"/>
          <p:cNvSpPr txBox="1"/>
          <p:nvPr/>
        </p:nvSpPr>
        <p:spPr>
          <a:xfrm>
            <a:off x="9692640" y="5440680"/>
            <a:ext cx="7315200" cy="3840480"/>
          </a:xfrm>
          <a:prstGeom prst="rect">
            <a:avLst/>
          </a:prstGeom>
          <a:noFill/>
        </p:spPr>
        <p:txBody>
          <a:bodyPr wrap="square" anchor="t" lIns="45720" rIns="45720">
            <a:spAutoFit/>
          </a:bodyPr>
          <a:lstStyle/>
          <a:p>
            <a:pPr algn="l">
              <a:spcAft>
                <a:spcPts val="1400"/>
              </a:spcAft>
            </a:pPr>
            <a:r>
              <a:rPr sz="2200" b="1" i="0">
                <a:solidFill>
                  <a:srgbClr val="000000"/>
                </a:solidFill>
                <a:latin typeface="Arimo"/>
              </a:rPr>
              <a:t>7 destinasi </a:t>
            </a:r>
            <a:r>
              <a:rPr sz="2200" b="0" i="0">
                <a:solidFill>
                  <a:srgbClr val="000000"/>
                </a:solidFill>
                <a:latin typeface="Arimo"/>
              </a:rPr>
              <a:t>jaraknya tidak wajar (&gt; 100 km, salah geokode)</a:t>
            </a:r>
          </a:p>
          <a:p>
            <a:pPr algn="l">
              <a:spcAft>
                <a:spcPts val="1400"/>
              </a:spcAft>
            </a:pPr>
            <a:r>
              <a:rPr sz="2200" b="1" i="0">
                <a:solidFill>
                  <a:srgbClr val="000000"/>
                </a:solidFill>
                <a:latin typeface="Arimo"/>
              </a:rPr>
              <a:t>1 destinasi </a:t>
            </a:r>
            <a:r>
              <a:rPr sz="2200" b="0" i="0">
                <a:solidFill>
                  <a:srgbClr val="000000"/>
                </a:solidFill>
                <a:latin typeface="Arimo"/>
              </a:rPr>
              <a:t>tidak punya rute sama sekali</a:t>
            </a:r>
          </a:p>
          <a:p>
            <a:pPr algn="l">
              <a:spcAft>
                <a:spcPts val="1400"/>
              </a:spcAft>
            </a:pPr>
            <a:r>
              <a:rPr sz="2200" b="0" i="0">
                <a:solidFill>
                  <a:srgbClr val="000000"/>
                </a:solidFill>
                <a:latin typeface="Arimo"/>
              </a:rPr>
              <a:t>→ dikeluarkan, </a:t>
            </a:r>
            <a:r>
              <a:rPr sz="2200" b="1" i="0">
                <a:solidFill>
                  <a:srgbClr val="000000"/>
                </a:solidFill>
                <a:latin typeface="Arimo"/>
              </a:rPr>
              <a:t>193 kandidat</a:t>
            </a:r>
            <a:r>
              <a:rPr sz="2200" b="0" i="0">
                <a:solidFill>
                  <a:srgbClr val="000000"/>
                </a:solidFill>
                <a:latin typeface="Arimo"/>
              </a:rPr>
              <a:t> dipakai GA</a:t>
            </a:r>
          </a:p>
          <a:p>
            <a:pPr algn="l">
              <a:spcAft>
                <a:spcPts val="1400"/>
              </a:spcAft>
            </a:pPr>
            <a:r>
              <a:rPr sz="2200" b="0" i="0">
                <a:solidFill>
                  <a:srgbClr val="000000"/>
                </a:solidFill>
                <a:latin typeface="Arimo"/>
              </a:rPr>
              <a:t>Dataset kota lain bisa diunggah dengan format yang sama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Satu Kromosom Menyimpan Pilihan dan Urutan</a:t>
            </a:r>
          </a:p>
        </p:txBody>
      </p:sp>
      <p:sp>
        <p:nvSpPr>
          <p:cNvPr id="4" name="Rectangle 3"/>
          <p:cNvSpPr/>
          <p:nvPr/>
        </p:nvSpPr>
        <p:spPr>
          <a:xfrm>
            <a:off x="1024128" y="1783080"/>
            <a:ext cx="9829800" cy="758952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Rectangle 4"/>
          <p:cNvSpPr/>
          <p:nvPr/>
        </p:nvSpPr>
        <p:spPr>
          <a:xfrm>
            <a:off x="1024128" y="1783080"/>
            <a:ext cx="9829800" cy="502920"/>
          </a:xfrm>
          <a:prstGeom prst="rect">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1024128" y="1783080"/>
            <a:ext cx="9829800" cy="502920"/>
          </a:xfrm>
          <a:prstGeom prst="rect">
            <a:avLst/>
          </a:prstGeom>
          <a:noFill/>
        </p:spPr>
        <p:txBody>
          <a:bodyPr wrap="square" anchor="ctr" lIns="45720" rIns="45720">
            <a:spAutoFit/>
          </a:bodyPr>
          <a:lstStyle/>
          <a:p>
            <a:pPr algn="ctr">
              <a:spcAft>
                <a:spcPts val="600"/>
              </a:spcAft>
            </a:pPr>
            <a:r>
              <a:rPr sz="2800" b="1" i="0">
                <a:solidFill>
                  <a:srgbClr val="FFFFFF"/>
                </a:solidFill>
                <a:latin typeface="Arimo"/>
              </a:rPr>
              <a:t>Representasi Kromosom</a:t>
            </a:r>
          </a:p>
        </p:txBody>
      </p:sp>
      <p:sp>
        <p:nvSpPr>
          <p:cNvPr id="7" name="TextBox 6"/>
          <p:cNvSpPr txBox="1"/>
          <p:nvPr/>
        </p:nvSpPr>
        <p:spPr>
          <a:xfrm>
            <a:off x="3063240" y="2514600"/>
            <a:ext cx="960120" cy="365760"/>
          </a:xfrm>
          <a:prstGeom prst="rect">
            <a:avLst/>
          </a:prstGeom>
          <a:noFill/>
        </p:spPr>
        <p:txBody>
          <a:bodyPr wrap="square" anchor="t" lIns="45720" rIns="45720">
            <a:spAutoFit/>
          </a:bodyPr>
          <a:lstStyle/>
          <a:p>
            <a:pPr algn="ctr">
              <a:spcAft>
                <a:spcPts val="600"/>
              </a:spcAft>
            </a:pPr>
            <a:r>
              <a:rPr sz="1600" b="0" i="0">
                <a:solidFill>
                  <a:srgbClr val="7F7F7F"/>
                </a:solidFill>
                <a:latin typeface="Arimo"/>
              </a:rPr>
              <a:t>0</a:t>
            </a:r>
          </a:p>
        </p:txBody>
      </p:sp>
      <p:sp>
        <p:nvSpPr>
          <p:cNvPr id="8" name="TextBox 7"/>
          <p:cNvSpPr txBox="1"/>
          <p:nvPr/>
        </p:nvSpPr>
        <p:spPr>
          <a:xfrm>
            <a:off x="4270248" y="2514600"/>
            <a:ext cx="960120" cy="365760"/>
          </a:xfrm>
          <a:prstGeom prst="rect">
            <a:avLst/>
          </a:prstGeom>
          <a:noFill/>
        </p:spPr>
        <p:txBody>
          <a:bodyPr wrap="square" anchor="t" lIns="45720" rIns="45720">
            <a:spAutoFit/>
          </a:bodyPr>
          <a:lstStyle/>
          <a:p>
            <a:pPr algn="ctr">
              <a:spcAft>
                <a:spcPts val="600"/>
              </a:spcAft>
            </a:pPr>
            <a:r>
              <a:rPr sz="1600" b="0" i="0">
                <a:solidFill>
                  <a:srgbClr val="7F7F7F"/>
                </a:solidFill>
                <a:latin typeface="Arimo"/>
              </a:rPr>
              <a:t>1</a:t>
            </a:r>
          </a:p>
        </p:txBody>
      </p:sp>
      <p:sp>
        <p:nvSpPr>
          <p:cNvPr id="9" name="TextBox 8"/>
          <p:cNvSpPr txBox="1"/>
          <p:nvPr/>
        </p:nvSpPr>
        <p:spPr>
          <a:xfrm>
            <a:off x="5477256" y="2514600"/>
            <a:ext cx="960120" cy="365760"/>
          </a:xfrm>
          <a:prstGeom prst="rect">
            <a:avLst/>
          </a:prstGeom>
          <a:noFill/>
        </p:spPr>
        <p:txBody>
          <a:bodyPr wrap="square" anchor="t" lIns="45720" rIns="45720">
            <a:spAutoFit/>
          </a:bodyPr>
          <a:lstStyle/>
          <a:p>
            <a:pPr algn="ctr">
              <a:spcAft>
                <a:spcPts val="600"/>
              </a:spcAft>
            </a:pPr>
            <a:r>
              <a:rPr sz="1600" b="0" i="0">
                <a:solidFill>
                  <a:srgbClr val="7F7F7F"/>
                </a:solidFill>
                <a:latin typeface="Arimo"/>
              </a:rPr>
              <a:t>2</a:t>
            </a:r>
          </a:p>
        </p:txBody>
      </p:sp>
      <p:sp>
        <p:nvSpPr>
          <p:cNvPr id="10" name="TextBox 9"/>
          <p:cNvSpPr txBox="1"/>
          <p:nvPr/>
        </p:nvSpPr>
        <p:spPr>
          <a:xfrm>
            <a:off x="6684264" y="2514600"/>
            <a:ext cx="960120" cy="365760"/>
          </a:xfrm>
          <a:prstGeom prst="rect">
            <a:avLst/>
          </a:prstGeom>
          <a:noFill/>
        </p:spPr>
        <p:txBody>
          <a:bodyPr wrap="square" anchor="t" lIns="45720" rIns="45720">
            <a:spAutoFit/>
          </a:bodyPr>
          <a:lstStyle/>
          <a:p>
            <a:pPr algn="ctr">
              <a:spcAft>
                <a:spcPts val="600"/>
              </a:spcAft>
            </a:pPr>
            <a:r>
              <a:rPr sz="1600" b="0" i="0">
                <a:solidFill>
                  <a:srgbClr val="7F7F7F"/>
                </a:solidFill>
                <a:latin typeface="Arimo"/>
              </a:rPr>
              <a:t>3</a:t>
            </a:r>
          </a:p>
        </p:txBody>
      </p:sp>
      <p:sp>
        <p:nvSpPr>
          <p:cNvPr id="11" name="TextBox 10"/>
          <p:cNvSpPr txBox="1"/>
          <p:nvPr/>
        </p:nvSpPr>
        <p:spPr>
          <a:xfrm>
            <a:off x="7891272" y="2514600"/>
            <a:ext cx="960120" cy="365760"/>
          </a:xfrm>
          <a:prstGeom prst="rect">
            <a:avLst/>
          </a:prstGeom>
          <a:noFill/>
        </p:spPr>
        <p:txBody>
          <a:bodyPr wrap="square" anchor="t" lIns="45720" rIns="45720">
            <a:spAutoFit/>
          </a:bodyPr>
          <a:lstStyle/>
          <a:p>
            <a:pPr algn="ctr">
              <a:spcAft>
                <a:spcPts val="600"/>
              </a:spcAft>
            </a:pPr>
            <a:r>
              <a:rPr sz="1600" b="0" i="0">
                <a:solidFill>
                  <a:srgbClr val="7F7F7F"/>
                </a:solidFill>
                <a:latin typeface="Arimo"/>
              </a:rPr>
              <a:t>4</a:t>
            </a:r>
          </a:p>
        </p:txBody>
      </p:sp>
      <p:sp>
        <p:nvSpPr>
          <p:cNvPr id="12" name="TextBox 11"/>
          <p:cNvSpPr txBox="1"/>
          <p:nvPr/>
        </p:nvSpPr>
        <p:spPr>
          <a:xfrm>
            <a:off x="9098280" y="2514600"/>
            <a:ext cx="960120" cy="365760"/>
          </a:xfrm>
          <a:prstGeom prst="rect">
            <a:avLst/>
          </a:prstGeom>
          <a:noFill/>
        </p:spPr>
        <p:txBody>
          <a:bodyPr wrap="square" anchor="t" lIns="45720" rIns="45720">
            <a:spAutoFit/>
          </a:bodyPr>
          <a:lstStyle/>
          <a:p>
            <a:pPr algn="ctr">
              <a:spcAft>
                <a:spcPts val="600"/>
              </a:spcAft>
            </a:pPr>
            <a:r>
              <a:rPr sz="1600" b="0" i="0">
                <a:solidFill>
                  <a:srgbClr val="7F7F7F"/>
                </a:solidFill>
                <a:latin typeface="Arimo"/>
              </a:rPr>
              <a:t>5</a:t>
            </a:r>
          </a:p>
        </p:txBody>
      </p:sp>
      <p:sp>
        <p:nvSpPr>
          <p:cNvPr id="13" name="TextBox 12"/>
          <p:cNvSpPr txBox="1"/>
          <p:nvPr/>
        </p:nvSpPr>
        <p:spPr>
          <a:xfrm>
            <a:off x="1325880" y="2971800"/>
            <a:ext cx="1645920" cy="822960"/>
          </a:xfrm>
          <a:prstGeom prst="rect">
            <a:avLst/>
          </a:prstGeom>
          <a:noFill/>
        </p:spPr>
        <p:txBody>
          <a:bodyPr wrap="square" anchor="ctr" lIns="45720" rIns="45720">
            <a:spAutoFit/>
          </a:bodyPr>
          <a:lstStyle/>
          <a:p>
            <a:pPr algn="l">
              <a:spcAft>
                <a:spcPts val="600"/>
              </a:spcAft>
            </a:pPr>
            <a:r>
              <a:rPr sz="2400" b="1" i="0">
                <a:solidFill>
                  <a:srgbClr val="01416B"/>
                </a:solidFill>
                <a:latin typeface="Arimo"/>
              </a:rPr>
              <a:t>mask</a:t>
            </a:r>
          </a:p>
        </p:txBody>
      </p:sp>
      <p:sp>
        <p:nvSpPr>
          <p:cNvPr id="14" name="TextBox 13"/>
          <p:cNvSpPr txBox="1"/>
          <p:nvPr/>
        </p:nvSpPr>
        <p:spPr>
          <a:xfrm>
            <a:off x="1325880" y="4160520"/>
            <a:ext cx="1645920" cy="822960"/>
          </a:xfrm>
          <a:prstGeom prst="rect">
            <a:avLst/>
          </a:prstGeom>
          <a:noFill/>
        </p:spPr>
        <p:txBody>
          <a:bodyPr wrap="square" anchor="ctr" lIns="45720" rIns="45720">
            <a:spAutoFit/>
          </a:bodyPr>
          <a:lstStyle/>
          <a:p>
            <a:pPr algn="l">
              <a:spcAft>
                <a:spcPts val="600"/>
              </a:spcAft>
            </a:pPr>
            <a:r>
              <a:rPr sz="2400" b="1" i="0">
                <a:solidFill>
                  <a:srgbClr val="01416B"/>
                </a:solidFill>
                <a:latin typeface="Arimo"/>
              </a:rPr>
              <a:t>order</a:t>
            </a:r>
          </a:p>
        </p:txBody>
      </p:sp>
      <p:sp>
        <p:nvSpPr>
          <p:cNvPr id="15" name="Rectangle 14"/>
          <p:cNvSpPr/>
          <p:nvPr/>
        </p:nvSpPr>
        <p:spPr>
          <a:xfrm>
            <a:off x="3063240" y="2971800"/>
            <a:ext cx="960120" cy="822960"/>
          </a:xfrm>
          <a:prstGeom prst="rect">
            <a:avLst/>
          </a:prstGeom>
          <a:solidFill>
            <a:srgbClr val="FFFFFF"/>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3063240" y="297180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0</a:t>
            </a:r>
          </a:p>
        </p:txBody>
      </p:sp>
      <p:sp>
        <p:nvSpPr>
          <p:cNvPr id="17" name="Rectangle 16"/>
          <p:cNvSpPr/>
          <p:nvPr/>
        </p:nvSpPr>
        <p:spPr>
          <a:xfrm>
            <a:off x="3063240" y="4160520"/>
            <a:ext cx="960120" cy="822960"/>
          </a:xfrm>
          <a:prstGeom prst="rect">
            <a:avLst/>
          </a:prstGeom>
          <a:solidFill>
            <a:srgbClr val="FDD402"/>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3063240" y="416052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4</a:t>
            </a:r>
          </a:p>
        </p:txBody>
      </p:sp>
      <p:sp>
        <p:nvSpPr>
          <p:cNvPr id="19" name="Rectangle 18"/>
          <p:cNvSpPr/>
          <p:nvPr/>
        </p:nvSpPr>
        <p:spPr>
          <a:xfrm>
            <a:off x="4270248" y="2971800"/>
            <a:ext cx="960120" cy="822960"/>
          </a:xfrm>
          <a:prstGeom prst="rect">
            <a:avLst/>
          </a:prstGeom>
          <a:solidFill>
            <a:srgbClr val="FDD402"/>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4270248" y="297180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1</a:t>
            </a:r>
          </a:p>
        </p:txBody>
      </p:sp>
      <p:sp>
        <p:nvSpPr>
          <p:cNvPr id="21" name="Rectangle 20"/>
          <p:cNvSpPr/>
          <p:nvPr/>
        </p:nvSpPr>
        <p:spPr>
          <a:xfrm>
            <a:off x="4270248" y="4160520"/>
            <a:ext cx="960120" cy="822960"/>
          </a:xfrm>
          <a:prstGeom prst="rect">
            <a:avLst/>
          </a:prstGeom>
          <a:solidFill>
            <a:srgbClr val="FFFFFF"/>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270248" y="416052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0</a:t>
            </a:r>
          </a:p>
        </p:txBody>
      </p:sp>
      <p:sp>
        <p:nvSpPr>
          <p:cNvPr id="23" name="Rectangle 22"/>
          <p:cNvSpPr/>
          <p:nvPr/>
        </p:nvSpPr>
        <p:spPr>
          <a:xfrm>
            <a:off x="5477256" y="2971800"/>
            <a:ext cx="960120" cy="822960"/>
          </a:xfrm>
          <a:prstGeom prst="rect">
            <a:avLst/>
          </a:prstGeom>
          <a:solidFill>
            <a:srgbClr val="FFFFFF"/>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77256" y="297180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0</a:t>
            </a:r>
          </a:p>
        </p:txBody>
      </p:sp>
      <p:sp>
        <p:nvSpPr>
          <p:cNvPr id="25" name="Rectangle 24"/>
          <p:cNvSpPr/>
          <p:nvPr/>
        </p:nvSpPr>
        <p:spPr>
          <a:xfrm>
            <a:off x="5477256" y="4160520"/>
            <a:ext cx="960120" cy="822960"/>
          </a:xfrm>
          <a:prstGeom prst="rect">
            <a:avLst/>
          </a:prstGeom>
          <a:solidFill>
            <a:srgbClr val="FDD402"/>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5477256" y="416052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3</a:t>
            </a:r>
          </a:p>
        </p:txBody>
      </p:sp>
      <p:sp>
        <p:nvSpPr>
          <p:cNvPr id="27" name="Rectangle 26"/>
          <p:cNvSpPr/>
          <p:nvPr/>
        </p:nvSpPr>
        <p:spPr>
          <a:xfrm>
            <a:off x="6684264" y="2971800"/>
            <a:ext cx="960120" cy="822960"/>
          </a:xfrm>
          <a:prstGeom prst="rect">
            <a:avLst/>
          </a:prstGeom>
          <a:solidFill>
            <a:srgbClr val="FDD402"/>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6684264" y="297180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1</a:t>
            </a:r>
          </a:p>
        </p:txBody>
      </p:sp>
      <p:sp>
        <p:nvSpPr>
          <p:cNvPr id="29" name="Rectangle 28"/>
          <p:cNvSpPr/>
          <p:nvPr/>
        </p:nvSpPr>
        <p:spPr>
          <a:xfrm>
            <a:off x="6684264" y="4160520"/>
            <a:ext cx="960120" cy="822960"/>
          </a:xfrm>
          <a:prstGeom prst="rect">
            <a:avLst/>
          </a:prstGeom>
          <a:solidFill>
            <a:srgbClr val="FDD402"/>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684264" y="416052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1</a:t>
            </a:r>
          </a:p>
        </p:txBody>
      </p:sp>
      <p:sp>
        <p:nvSpPr>
          <p:cNvPr id="31" name="Rectangle 30"/>
          <p:cNvSpPr/>
          <p:nvPr/>
        </p:nvSpPr>
        <p:spPr>
          <a:xfrm>
            <a:off x="7891272" y="2971800"/>
            <a:ext cx="960120" cy="822960"/>
          </a:xfrm>
          <a:prstGeom prst="rect">
            <a:avLst/>
          </a:prstGeom>
          <a:solidFill>
            <a:srgbClr val="FDD402"/>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extBox 31"/>
          <p:cNvSpPr txBox="1"/>
          <p:nvPr/>
        </p:nvSpPr>
        <p:spPr>
          <a:xfrm>
            <a:off x="7891272" y="297180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1</a:t>
            </a:r>
          </a:p>
        </p:txBody>
      </p:sp>
      <p:sp>
        <p:nvSpPr>
          <p:cNvPr id="33" name="Rectangle 32"/>
          <p:cNvSpPr/>
          <p:nvPr/>
        </p:nvSpPr>
        <p:spPr>
          <a:xfrm>
            <a:off x="7891272" y="4160520"/>
            <a:ext cx="960120" cy="822960"/>
          </a:xfrm>
          <a:prstGeom prst="rect">
            <a:avLst/>
          </a:prstGeom>
          <a:solidFill>
            <a:srgbClr val="FFFFFF"/>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7891272" y="416052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2</a:t>
            </a:r>
          </a:p>
        </p:txBody>
      </p:sp>
      <p:sp>
        <p:nvSpPr>
          <p:cNvPr id="35" name="Rectangle 34"/>
          <p:cNvSpPr/>
          <p:nvPr/>
        </p:nvSpPr>
        <p:spPr>
          <a:xfrm>
            <a:off x="9098280" y="2971800"/>
            <a:ext cx="960120" cy="822960"/>
          </a:xfrm>
          <a:prstGeom prst="rect">
            <a:avLst/>
          </a:prstGeom>
          <a:solidFill>
            <a:srgbClr val="FFFFFF"/>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extBox 35"/>
          <p:cNvSpPr txBox="1"/>
          <p:nvPr/>
        </p:nvSpPr>
        <p:spPr>
          <a:xfrm>
            <a:off x="9098280" y="297180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0</a:t>
            </a:r>
          </a:p>
        </p:txBody>
      </p:sp>
      <p:sp>
        <p:nvSpPr>
          <p:cNvPr id="37" name="Rectangle 36"/>
          <p:cNvSpPr/>
          <p:nvPr/>
        </p:nvSpPr>
        <p:spPr>
          <a:xfrm>
            <a:off x="9098280" y="4160520"/>
            <a:ext cx="960120" cy="822960"/>
          </a:xfrm>
          <a:prstGeom prst="rect">
            <a:avLst/>
          </a:prstGeom>
          <a:solidFill>
            <a:srgbClr val="FFFFFF"/>
          </a:solidFill>
          <a:ln w="254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9098280" y="4160520"/>
            <a:ext cx="960120" cy="822960"/>
          </a:xfrm>
          <a:prstGeom prst="rect">
            <a:avLst/>
          </a:prstGeom>
          <a:noFill/>
        </p:spPr>
        <p:txBody>
          <a:bodyPr wrap="square" anchor="ctr" lIns="45720" rIns="45720">
            <a:spAutoFit/>
          </a:bodyPr>
          <a:lstStyle/>
          <a:p>
            <a:pPr algn="ctr">
              <a:spcAft>
                <a:spcPts val="600"/>
              </a:spcAft>
            </a:pPr>
            <a:r>
              <a:rPr sz="2600" b="1" i="0">
                <a:solidFill>
                  <a:srgbClr val="01416B"/>
                </a:solidFill>
                <a:latin typeface="Arimo"/>
              </a:rPr>
              <a:t>5</a:t>
            </a:r>
          </a:p>
        </p:txBody>
      </p:sp>
      <p:sp>
        <p:nvSpPr>
          <p:cNvPr id="39" name="TextBox 38"/>
          <p:cNvSpPr txBox="1"/>
          <p:nvPr/>
        </p:nvSpPr>
        <p:spPr>
          <a:xfrm>
            <a:off x="1325880" y="5257800"/>
            <a:ext cx="9144000" cy="457200"/>
          </a:xfrm>
          <a:prstGeom prst="rect">
            <a:avLst/>
          </a:prstGeom>
          <a:noFill/>
        </p:spPr>
        <p:txBody>
          <a:bodyPr wrap="square" anchor="t" lIns="45720" rIns="45720">
            <a:spAutoFit/>
          </a:bodyPr>
          <a:lstStyle/>
          <a:p>
            <a:pPr algn="ctr">
              <a:spcAft>
                <a:spcPts val="600"/>
              </a:spcAft>
            </a:pPr>
            <a:r>
              <a:rPr sz="2000" b="0" i="1">
                <a:solidFill>
                  <a:srgbClr val="7F7F7F"/>
                </a:solidFill>
                <a:latin typeface="Arimo"/>
              </a:rPr>
              <a:t>baca order dari kiri, ambil yang mask-nya 1</a:t>
            </a:r>
          </a:p>
        </p:txBody>
      </p:sp>
      <p:cxnSp>
        <p:nvCxnSpPr>
          <p:cNvPr id="40" name="Connector 39"/>
          <p:cNvCxnSpPr/>
          <p:nvPr/>
        </p:nvCxnSpPr>
        <p:spPr>
          <a:xfrm>
            <a:off x="5943600" y="5806440"/>
            <a:ext cx="0" cy="640080"/>
          </a:xfrm>
          <a:prstGeom prst="line">
            <a:avLst/>
          </a:prstGeom>
          <a:ln w="38100">
            <a:solidFill>
              <a:srgbClr val="0141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Oval 40"/>
          <p:cNvSpPr/>
          <p:nvPr/>
        </p:nvSpPr>
        <p:spPr>
          <a:xfrm>
            <a:off x="3291840" y="6629400"/>
            <a:ext cx="914400" cy="914400"/>
          </a:xfrm>
          <a:prstGeom prst="ellipse">
            <a:avLst/>
          </a:prstGeom>
          <a:solidFill>
            <a:srgbClr val="FDD402"/>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i="0">
                <a:solidFill>
                  <a:srgbClr val="01416B"/>
                </a:solidFill>
                <a:latin typeface="Arimo"/>
              </a:rPr>
              <a:t>4</a:t>
            </a:r>
          </a:p>
        </p:txBody>
      </p:sp>
      <p:cxnSp>
        <p:nvCxnSpPr>
          <p:cNvPr id="42" name="Connector 41"/>
          <p:cNvCxnSpPr/>
          <p:nvPr/>
        </p:nvCxnSpPr>
        <p:spPr>
          <a:xfrm>
            <a:off x="4251960" y="7086600"/>
            <a:ext cx="1188720" cy="0"/>
          </a:xfrm>
          <a:prstGeom prst="line">
            <a:avLst/>
          </a:prstGeom>
          <a:ln w="38100">
            <a:solidFill>
              <a:srgbClr val="0141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3" name="Oval 42"/>
          <p:cNvSpPr/>
          <p:nvPr/>
        </p:nvSpPr>
        <p:spPr>
          <a:xfrm>
            <a:off x="5486400" y="6629400"/>
            <a:ext cx="914400" cy="914400"/>
          </a:xfrm>
          <a:prstGeom prst="ellipse">
            <a:avLst/>
          </a:prstGeom>
          <a:solidFill>
            <a:srgbClr val="FDD402"/>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i="0">
                <a:solidFill>
                  <a:srgbClr val="01416B"/>
                </a:solidFill>
                <a:latin typeface="Arimo"/>
              </a:rPr>
              <a:t>3</a:t>
            </a:r>
          </a:p>
        </p:txBody>
      </p:sp>
      <p:cxnSp>
        <p:nvCxnSpPr>
          <p:cNvPr id="44" name="Connector 43"/>
          <p:cNvCxnSpPr/>
          <p:nvPr/>
        </p:nvCxnSpPr>
        <p:spPr>
          <a:xfrm>
            <a:off x="6446520" y="7086600"/>
            <a:ext cx="1188720" cy="0"/>
          </a:xfrm>
          <a:prstGeom prst="line">
            <a:avLst/>
          </a:prstGeom>
          <a:ln w="38100">
            <a:solidFill>
              <a:srgbClr val="01416B"/>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Oval 44"/>
          <p:cNvSpPr/>
          <p:nvPr/>
        </p:nvSpPr>
        <p:spPr>
          <a:xfrm>
            <a:off x="7680960" y="6629400"/>
            <a:ext cx="914400" cy="914400"/>
          </a:xfrm>
          <a:prstGeom prst="ellipse">
            <a:avLst/>
          </a:prstGeom>
          <a:solidFill>
            <a:srgbClr val="FDD402"/>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3000" b="1" i="0">
                <a:solidFill>
                  <a:srgbClr val="01416B"/>
                </a:solidFill>
                <a:latin typeface="Arimo"/>
              </a:rPr>
              <a:t>1</a:t>
            </a:r>
          </a:p>
        </p:txBody>
      </p:sp>
      <p:sp>
        <p:nvSpPr>
          <p:cNvPr id="46" name="TextBox 45"/>
          <p:cNvSpPr txBox="1"/>
          <p:nvPr/>
        </p:nvSpPr>
        <p:spPr>
          <a:xfrm>
            <a:off x="1325880" y="7772400"/>
            <a:ext cx="9144000" cy="548640"/>
          </a:xfrm>
          <a:prstGeom prst="rect">
            <a:avLst/>
          </a:prstGeom>
          <a:noFill/>
        </p:spPr>
        <p:txBody>
          <a:bodyPr wrap="square" anchor="t" lIns="45720" rIns="45720">
            <a:spAutoFit/>
          </a:bodyPr>
          <a:lstStyle/>
          <a:p>
            <a:pPr algn="ctr">
              <a:spcAft>
                <a:spcPts val="600"/>
              </a:spcAft>
            </a:pPr>
            <a:r>
              <a:rPr sz="2200" b="1" i="0">
                <a:solidFill>
                  <a:srgbClr val="01416B"/>
                </a:solidFill>
                <a:latin typeface="Arimo"/>
              </a:rPr>
              <a:t>Rute: kunjungi destinasi 4, lalu 3, lalu 1</a:t>
            </a:r>
          </a:p>
        </p:txBody>
      </p:sp>
      <p:sp>
        <p:nvSpPr>
          <p:cNvPr id="47" name="TextBox 46"/>
          <p:cNvSpPr txBox="1"/>
          <p:nvPr/>
        </p:nvSpPr>
        <p:spPr>
          <a:xfrm>
            <a:off x="1325880" y="8412480"/>
            <a:ext cx="9144000" cy="457200"/>
          </a:xfrm>
          <a:prstGeom prst="rect">
            <a:avLst/>
          </a:prstGeom>
          <a:noFill/>
        </p:spPr>
        <p:txBody>
          <a:bodyPr wrap="square" anchor="t" lIns="45720" rIns="45720">
            <a:spAutoFit/>
          </a:bodyPr>
          <a:lstStyle/>
          <a:p>
            <a:pPr algn="ctr">
              <a:spcAft>
                <a:spcPts val="600"/>
              </a:spcAft>
            </a:pPr>
            <a:r>
              <a:rPr sz="1800" b="0" i="1">
                <a:solidFill>
                  <a:srgbClr val="7F7F7F"/>
                </a:solidFill>
                <a:latin typeface="Arimo"/>
              </a:rPr>
              <a:t>Contoh dengan 6 kandidat; aplikasi memakai 193 kandidat</a:t>
            </a:r>
          </a:p>
        </p:txBody>
      </p:sp>
      <p:sp>
        <p:nvSpPr>
          <p:cNvPr id="48" name="Rectangle 47"/>
          <p:cNvSpPr/>
          <p:nvPr/>
        </p:nvSpPr>
        <p:spPr>
          <a:xfrm>
            <a:off x="11247120" y="1783080"/>
            <a:ext cx="6007608" cy="7589520"/>
          </a:xfrm>
          <a:prstGeom prst="rect">
            <a:avLst/>
          </a:prstGeom>
          <a:solidFill>
            <a:srgbClr val="FFFFFF"/>
          </a:solidFill>
          <a:ln w="3175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9" name="Rectangle 48"/>
          <p:cNvSpPr/>
          <p:nvPr/>
        </p:nvSpPr>
        <p:spPr>
          <a:xfrm>
            <a:off x="11247120" y="1783080"/>
            <a:ext cx="6007608" cy="502920"/>
          </a:xfrm>
          <a:prstGeom prst="rect">
            <a:avLst/>
          </a:prstGeom>
          <a:solidFill>
            <a:srgbClr val="FDD4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0" name="TextBox 49"/>
          <p:cNvSpPr txBox="1"/>
          <p:nvPr/>
        </p:nvSpPr>
        <p:spPr>
          <a:xfrm>
            <a:off x="11247120" y="1783080"/>
            <a:ext cx="6007608" cy="502920"/>
          </a:xfrm>
          <a:prstGeom prst="rect">
            <a:avLst/>
          </a:prstGeom>
          <a:noFill/>
        </p:spPr>
        <p:txBody>
          <a:bodyPr wrap="square" anchor="ctr" lIns="45720" rIns="45720">
            <a:spAutoFit/>
          </a:bodyPr>
          <a:lstStyle/>
          <a:p>
            <a:pPr algn="ctr">
              <a:spcAft>
                <a:spcPts val="600"/>
              </a:spcAft>
            </a:pPr>
            <a:r>
              <a:rPr sz="2800" b="1" i="0">
                <a:solidFill>
                  <a:srgbClr val="01416B"/>
                </a:solidFill>
                <a:latin typeface="Arimo"/>
              </a:rPr>
              <a:t>Kenapa Dua Bagian?</a:t>
            </a:r>
          </a:p>
        </p:txBody>
      </p:sp>
      <p:sp>
        <p:nvSpPr>
          <p:cNvPr id="51" name="Oval 50"/>
          <p:cNvSpPr/>
          <p:nvPr/>
        </p:nvSpPr>
        <p:spPr>
          <a:xfrm>
            <a:off x="11567160" y="2606040"/>
            <a:ext cx="685800" cy="68580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FFFFFF"/>
                </a:solidFill>
                <a:latin typeface="Arimo"/>
              </a:rPr>
              <a:t>1</a:t>
            </a:r>
          </a:p>
        </p:txBody>
      </p:sp>
      <p:sp>
        <p:nvSpPr>
          <p:cNvPr id="52" name="TextBox 51"/>
          <p:cNvSpPr txBox="1"/>
          <p:nvPr/>
        </p:nvSpPr>
        <p:spPr>
          <a:xfrm>
            <a:off x="12435840" y="2532888"/>
            <a:ext cx="4663440" cy="502920"/>
          </a:xfrm>
          <a:prstGeom prst="rect">
            <a:avLst/>
          </a:prstGeom>
          <a:noFill/>
        </p:spPr>
        <p:txBody>
          <a:bodyPr wrap="square" anchor="t" lIns="45720" rIns="45720">
            <a:spAutoFit/>
          </a:bodyPr>
          <a:lstStyle/>
          <a:p>
            <a:pPr algn="l">
              <a:spcAft>
                <a:spcPts val="600"/>
              </a:spcAft>
            </a:pPr>
            <a:r>
              <a:rPr sz="2200" b="1" i="0">
                <a:solidFill>
                  <a:srgbClr val="01416B"/>
                </a:solidFill>
                <a:latin typeface="Arimo"/>
              </a:rPr>
              <a:t>mask</a:t>
            </a:r>
          </a:p>
        </p:txBody>
      </p:sp>
      <p:sp>
        <p:nvSpPr>
          <p:cNvPr id="53" name="TextBox 52"/>
          <p:cNvSpPr txBox="1"/>
          <p:nvPr/>
        </p:nvSpPr>
        <p:spPr>
          <a:xfrm>
            <a:off x="12435840" y="3017520"/>
            <a:ext cx="4663440" cy="1097280"/>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memilih destinasi (mirip Knapsack)</a:t>
            </a:r>
          </a:p>
        </p:txBody>
      </p:sp>
      <p:sp>
        <p:nvSpPr>
          <p:cNvPr id="54" name="Oval 53"/>
          <p:cNvSpPr/>
          <p:nvPr/>
        </p:nvSpPr>
        <p:spPr>
          <a:xfrm>
            <a:off x="11567160" y="4270248"/>
            <a:ext cx="685800" cy="68580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FFFFFF"/>
                </a:solidFill>
                <a:latin typeface="Arimo"/>
              </a:rPr>
              <a:t>2</a:t>
            </a:r>
          </a:p>
        </p:txBody>
      </p:sp>
      <p:sp>
        <p:nvSpPr>
          <p:cNvPr id="55" name="TextBox 54"/>
          <p:cNvSpPr txBox="1"/>
          <p:nvPr/>
        </p:nvSpPr>
        <p:spPr>
          <a:xfrm>
            <a:off x="12435840" y="4197096"/>
            <a:ext cx="4663440" cy="502920"/>
          </a:xfrm>
          <a:prstGeom prst="rect">
            <a:avLst/>
          </a:prstGeom>
          <a:noFill/>
        </p:spPr>
        <p:txBody>
          <a:bodyPr wrap="square" anchor="t" lIns="45720" rIns="45720">
            <a:spAutoFit/>
          </a:bodyPr>
          <a:lstStyle/>
          <a:p>
            <a:pPr algn="l">
              <a:spcAft>
                <a:spcPts val="600"/>
              </a:spcAft>
            </a:pPr>
            <a:r>
              <a:rPr sz="2200" b="1" i="0">
                <a:solidFill>
                  <a:srgbClr val="01416B"/>
                </a:solidFill>
                <a:latin typeface="Arimo"/>
              </a:rPr>
              <a:t>order</a:t>
            </a:r>
          </a:p>
        </p:txBody>
      </p:sp>
      <p:sp>
        <p:nvSpPr>
          <p:cNvPr id="56" name="TextBox 55"/>
          <p:cNvSpPr txBox="1"/>
          <p:nvPr/>
        </p:nvSpPr>
        <p:spPr>
          <a:xfrm>
            <a:off x="12435840" y="4681728"/>
            <a:ext cx="4663440" cy="1097280"/>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menentukan urutan kunjungan (mirip TSP)</a:t>
            </a:r>
          </a:p>
        </p:txBody>
      </p:sp>
      <p:sp>
        <p:nvSpPr>
          <p:cNvPr id="57" name="Oval 56"/>
          <p:cNvSpPr/>
          <p:nvPr/>
        </p:nvSpPr>
        <p:spPr>
          <a:xfrm>
            <a:off x="11567160" y="5934456"/>
            <a:ext cx="685800" cy="68580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FFFFFF"/>
                </a:solidFill>
                <a:latin typeface="Arimo"/>
              </a:rPr>
              <a:t>3</a:t>
            </a:r>
          </a:p>
        </p:txBody>
      </p:sp>
      <p:sp>
        <p:nvSpPr>
          <p:cNvPr id="58" name="TextBox 57"/>
          <p:cNvSpPr txBox="1"/>
          <p:nvPr/>
        </p:nvSpPr>
        <p:spPr>
          <a:xfrm>
            <a:off x="12435840" y="5861304"/>
            <a:ext cx="4663440" cy="502920"/>
          </a:xfrm>
          <a:prstGeom prst="rect">
            <a:avLst/>
          </a:prstGeom>
          <a:noFill/>
        </p:spPr>
        <p:txBody>
          <a:bodyPr wrap="square" anchor="t" lIns="45720" rIns="45720">
            <a:spAutoFit/>
          </a:bodyPr>
          <a:lstStyle/>
          <a:p>
            <a:pPr algn="l">
              <a:spcAft>
                <a:spcPts val="600"/>
              </a:spcAft>
            </a:pPr>
            <a:r>
              <a:rPr sz="2200" b="1" i="0">
                <a:solidFill>
                  <a:srgbClr val="01416B"/>
                </a:solidFill>
                <a:latin typeface="Arimo"/>
              </a:rPr>
              <a:t>Selalu sah</a:t>
            </a:r>
          </a:p>
        </p:txBody>
      </p:sp>
      <p:sp>
        <p:nvSpPr>
          <p:cNvPr id="59" name="TextBox 58"/>
          <p:cNvSpPr txBox="1"/>
          <p:nvPr/>
        </p:nvSpPr>
        <p:spPr>
          <a:xfrm>
            <a:off x="12435840" y="6345936"/>
            <a:ext cx="4663440" cy="1097280"/>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tidak pernah ada destinasi ganda</a:t>
            </a:r>
          </a:p>
        </p:txBody>
      </p:sp>
      <p:sp>
        <p:nvSpPr>
          <p:cNvPr id="60" name="Oval 59"/>
          <p:cNvSpPr/>
          <p:nvPr/>
        </p:nvSpPr>
        <p:spPr>
          <a:xfrm>
            <a:off x="11567160" y="7598664"/>
            <a:ext cx="685800" cy="68580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b="1" i="0">
                <a:solidFill>
                  <a:srgbClr val="FFFFFF"/>
                </a:solidFill>
                <a:latin typeface="Arimo"/>
              </a:rPr>
              <a:t>4</a:t>
            </a:r>
          </a:p>
        </p:txBody>
      </p:sp>
      <p:sp>
        <p:nvSpPr>
          <p:cNvPr id="61" name="TextBox 60"/>
          <p:cNvSpPr txBox="1"/>
          <p:nvPr/>
        </p:nvSpPr>
        <p:spPr>
          <a:xfrm>
            <a:off x="12435840" y="7525512"/>
            <a:ext cx="4663440" cy="502920"/>
          </a:xfrm>
          <a:prstGeom prst="rect">
            <a:avLst/>
          </a:prstGeom>
          <a:noFill/>
        </p:spPr>
        <p:txBody>
          <a:bodyPr wrap="square" anchor="t" lIns="45720" rIns="45720">
            <a:spAutoFit/>
          </a:bodyPr>
          <a:lstStyle/>
          <a:p>
            <a:pPr algn="l">
              <a:spcAft>
                <a:spcPts val="600"/>
              </a:spcAft>
            </a:pPr>
            <a:r>
              <a:rPr sz="2200" b="1" i="0">
                <a:solidFill>
                  <a:srgbClr val="01416B"/>
                </a:solidFill>
                <a:latin typeface="Arimo"/>
              </a:rPr>
              <a:t>Operator langsung pakai</a:t>
            </a:r>
          </a:p>
        </p:txBody>
      </p:sp>
      <p:sp>
        <p:nvSpPr>
          <p:cNvPr id="62" name="TextBox 61"/>
          <p:cNvSpPr txBox="1"/>
          <p:nvPr/>
        </p:nvSpPr>
        <p:spPr>
          <a:xfrm>
            <a:off x="12435840" y="8010144"/>
            <a:ext cx="4663440" cy="1097280"/>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uniform/one-point pada mask, order crossover pada order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Fitness Mencari Titik Paling Seimbang</a:t>
            </a:r>
          </a:p>
        </p:txBody>
      </p:sp>
      <p:sp>
        <p:nvSpPr>
          <p:cNvPr id="4" name="Rectangle 3"/>
          <p:cNvSpPr/>
          <p:nvPr/>
        </p:nvSpPr>
        <p:spPr>
          <a:xfrm>
            <a:off x="1024128" y="1783080"/>
            <a:ext cx="16230600" cy="1417320"/>
          </a:xfrm>
          <a:prstGeom prst="rect">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24128" y="1783080"/>
            <a:ext cx="16230600" cy="1417320"/>
          </a:xfrm>
          <a:prstGeom prst="rect">
            <a:avLst/>
          </a:prstGeom>
          <a:noFill/>
        </p:spPr>
        <p:txBody>
          <a:bodyPr wrap="square" anchor="ctr" lIns="45720" rIns="45720">
            <a:spAutoFit/>
          </a:bodyPr>
          <a:lstStyle/>
          <a:p>
            <a:pPr algn="ctr">
              <a:spcAft>
                <a:spcPts val="600"/>
              </a:spcAft>
            </a:pPr>
            <a:r>
              <a:rPr sz="4400" b="1" i="0">
                <a:solidFill>
                  <a:srgbClr val="FFFFFF"/>
                </a:solidFill>
                <a:latin typeface="Arimo"/>
              </a:rPr>
              <a:t>Fitness  =  1  /  (cost_score  +  duration_score)</a:t>
            </a:r>
          </a:p>
        </p:txBody>
      </p:sp>
      <p:sp>
        <p:nvSpPr>
          <p:cNvPr id="6" name="TextBox 5"/>
          <p:cNvSpPr txBox="1"/>
          <p:nvPr/>
        </p:nvSpPr>
        <p:spPr>
          <a:xfrm>
            <a:off x="1024128" y="3246120"/>
            <a:ext cx="16230600" cy="365760"/>
          </a:xfrm>
          <a:prstGeom prst="rect">
            <a:avLst/>
          </a:prstGeom>
          <a:noFill/>
        </p:spPr>
        <p:txBody>
          <a:bodyPr wrap="square" anchor="t" lIns="45720" rIns="45720">
            <a:spAutoFit/>
          </a:bodyPr>
          <a:lstStyle/>
          <a:p>
            <a:pPr algn="r">
              <a:spcAft>
                <a:spcPts val="600"/>
              </a:spcAft>
            </a:pPr>
            <a:r>
              <a:rPr sz="1600" b="0" i="1">
                <a:solidFill>
                  <a:srgbClr val="7F7F7F"/>
                </a:solidFill>
                <a:latin typeface="Arimo"/>
              </a:rPr>
              <a:t>Qomariyah &amp; Kazakov (2021)</a:t>
            </a:r>
          </a:p>
        </p:txBody>
      </p:sp>
      <p:sp>
        <p:nvSpPr>
          <p:cNvPr id="7" name="Rectangle 6"/>
          <p:cNvSpPr/>
          <p:nvPr/>
        </p:nvSpPr>
        <p:spPr>
          <a:xfrm>
            <a:off x="1024128" y="3703320"/>
            <a:ext cx="7882127" cy="246888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1024128" y="3703320"/>
            <a:ext cx="7882127" cy="502920"/>
          </a:xfrm>
          <a:prstGeom prst="rect">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1024128" y="3703320"/>
            <a:ext cx="7882127" cy="502920"/>
          </a:xfrm>
          <a:prstGeom prst="rect">
            <a:avLst/>
          </a:prstGeom>
          <a:noFill/>
        </p:spPr>
        <p:txBody>
          <a:bodyPr wrap="square" anchor="ctr" lIns="45720" rIns="45720">
            <a:spAutoFit/>
          </a:bodyPr>
          <a:lstStyle/>
          <a:p>
            <a:pPr algn="ctr">
              <a:spcAft>
                <a:spcPts val="600"/>
              </a:spcAft>
            </a:pPr>
            <a:r>
              <a:rPr sz="2800" b="1" i="0">
                <a:solidFill>
                  <a:srgbClr val="FFFFFF"/>
                </a:solidFill>
                <a:latin typeface="Arimo"/>
              </a:rPr>
              <a:t>cost_score</a:t>
            </a:r>
          </a:p>
        </p:txBody>
      </p:sp>
      <p:sp>
        <p:nvSpPr>
          <p:cNvPr id="10" name="TextBox 9"/>
          <p:cNvSpPr txBox="1"/>
          <p:nvPr/>
        </p:nvSpPr>
        <p:spPr>
          <a:xfrm>
            <a:off x="1298448" y="4389120"/>
            <a:ext cx="7315200" cy="731520"/>
          </a:xfrm>
          <a:prstGeom prst="rect">
            <a:avLst/>
          </a:prstGeom>
          <a:noFill/>
        </p:spPr>
        <p:txBody>
          <a:bodyPr wrap="square" anchor="t" lIns="45720" rIns="45720">
            <a:spAutoFit/>
          </a:bodyPr>
          <a:lstStyle/>
          <a:p>
            <a:pPr algn="ctr">
              <a:spcAft>
                <a:spcPts val="600"/>
              </a:spcAft>
            </a:pPr>
            <a:r>
              <a:rPr sz="2800" b="1" i="0">
                <a:solidFill>
                  <a:srgbClr val="01416B"/>
                </a:solidFill>
                <a:latin typeface="Arimo"/>
              </a:rPr>
              <a:t>|biaya − anggaran| ÷ anggaran</a:t>
            </a:r>
          </a:p>
        </p:txBody>
      </p:sp>
      <p:sp>
        <p:nvSpPr>
          <p:cNvPr id="11" name="TextBox 10"/>
          <p:cNvSpPr txBox="1"/>
          <p:nvPr/>
        </p:nvSpPr>
        <p:spPr>
          <a:xfrm>
            <a:off x="1298448" y="5166360"/>
            <a:ext cx="7315200" cy="731520"/>
          </a:xfrm>
          <a:prstGeom prst="rect">
            <a:avLst/>
          </a:prstGeom>
          <a:noFill/>
        </p:spPr>
        <p:txBody>
          <a:bodyPr wrap="square" anchor="t" lIns="45720" rIns="45720">
            <a:spAutoFit/>
          </a:bodyPr>
          <a:lstStyle/>
          <a:p>
            <a:pPr algn="ctr">
              <a:spcAft>
                <a:spcPts val="600"/>
              </a:spcAft>
            </a:pPr>
            <a:r>
              <a:rPr sz="2000" b="0" i="0">
                <a:solidFill>
                  <a:srgbClr val="000000"/>
                </a:solidFill>
                <a:latin typeface="Arimo"/>
              </a:rPr>
              <a:t>biaya = tiket × orang + taksi Rp5.000/km</a:t>
            </a:r>
          </a:p>
        </p:txBody>
      </p:sp>
      <p:sp>
        <p:nvSpPr>
          <p:cNvPr id="12" name="Rectangle 11"/>
          <p:cNvSpPr/>
          <p:nvPr/>
        </p:nvSpPr>
        <p:spPr>
          <a:xfrm>
            <a:off x="9372600" y="3703320"/>
            <a:ext cx="7882127" cy="246888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ectangle 12"/>
          <p:cNvSpPr/>
          <p:nvPr/>
        </p:nvSpPr>
        <p:spPr>
          <a:xfrm>
            <a:off x="9372600" y="3703320"/>
            <a:ext cx="7882127" cy="502920"/>
          </a:xfrm>
          <a:prstGeom prst="rect">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372600" y="3703320"/>
            <a:ext cx="7882127" cy="502920"/>
          </a:xfrm>
          <a:prstGeom prst="rect">
            <a:avLst/>
          </a:prstGeom>
          <a:noFill/>
        </p:spPr>
        <p:txBody>
          <a:bodyPr wrap="square" anchor="ctr" lIns="45720" rIns="45720">
            <a:spAutoFit/>
          </a:bodyPr>
          <a:lstStyle/>
          <a:p>
            <a:pPr algn="ctr">
              <a:spcAft>
                <a:spcPts val="600"/>
              </a:spcAft>
            </a:pPr>
            <a:r>
              <a:rPr sz="2800" b="1" i="0">
                <a:solidFill>
                  <a:srgbClr val="FFFFFF"/>
                </a:solidFill>
                <a:latin typeface="Arimo"/>
              </a:rPr>
              <a:t>duration_score</a:t>
            </a:r>
          </a:p>
        </p:txBody>
      </p:sp>
      <p:sp>
        <p:nvSpPr>
          <p:cNvPr id="15" name="TextBox 14"/>
          <p:cNvSpPr txBox="1"/>
          <p:nvPr/>
        </p:nvSpPr>
        <p:spPr>
          <a:xfrm>
            <a:off x="9646920" y="4389120"/>
            <a:ext cx="7315200" cy="731520"/>
          </a:xfrm>
          <a:prstGeom prst="rect">
            <a:avLst/>
          </a:prstGeom>
          <a:noFill/>
        </p:spPr>
        <p:txBody>
          <a:bodyPr wrap="square" anchor="t" lIns="45720" rIns="45720">
            <a:spAutoFit/>
          </a:bodyPr>
          <a:lstStyle/>
          <a:p>
            <a:pPr algn="ctr">
              <a:spcAft>
                <a:spcPts val="600"/>
              </a:spcAft>
            </a:pPr>
            <a:r>
              <a:rPr sz="2800" b="1" i="0">
                <a:solidFill>
                  <a:srgbClr val="01416B"/>
                </a:solidFill>
                <a:latin typeface="Arimo"/>
              </a:rPr>
              <a:t>|durasi − batas jam| ÷ batas jam</a:t>
            </a:r>
          </a:p>
        </p:txBody>
      </p:sp>
      <p:sp>
        <p:nvSpPr>
          <p:cNvPr id="16" name="TextBox 15"/>
          <p:cNvSpPr txBox="1"/>
          <p:nvPr/>
        </p:nvSpPr>
        <p:spPr>
          <a:xfrm>
            <a:off x="9646920" y="5166360"/>
            <a:ext cx="7315200" cy="731520"/>
          </a:xfrm>
          <a:prstGeom prst="rect">
            <a:avLst/>
          </a:prstGeom>
          <a:noFill/>
        </p:spPr>
        <p:txBody>
          <a:bodyPr wrap="square" anchor="t" lIns="45720" rIns="45720">
            <a:spAutoFit/>
          </a:bodyPr>
          <a:lstStyle/>
          <a:p>
            <a:pPr algn="ctr">
              <a:spcAft>
                <a:spcPts val="600"/>
              </a:spcAft>
            </a:pPr>
            <a:r>
              <a:rPr sz="2000" b="0" i="0">
                <a:solidFill>
                  <a:srgbClr val="000000"/>
                </a:solidFill>
                <a:latin typeface="Arimo"/>
              </a:rPr>
              <a:t>durasi = lama kunjungan + waktu tempuh</a:t>
            </a:r>
          </a:p>
        </p:txBody>
      </p:sp>
      <p:sp>
        <p:nvSpPr>
          <p:cNvPr id="17" name="Rectangle 16"/>
          <p:cNvSpPr/>
          <p:nvPr/>
        </p:nvSpPr>
        <p:spPr>
          <a:xfrm>
            <a:off x="1024128" y="6446520"/>
            <a:ext cx="5166359" cy="2926080"/>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98448" y="6675120"/>
            <a:ext cx="4617720" cy="640080"/>
          </a:xfrm>
          <a:prstGeom prst="rect">
            <a:avLst/>
          </a:prstGeom>
          <a:noFill/>
        </p:spPr>
        <p:txBody>
          <a:bodyPr wrap="square" anchor="t" lIns="45720" rIns="45720">
            <a:spAutoFit/>
          </a:bodyPr>
          <a:lstStyle/>
          <a:p>
            <a:pPr algn="l">
              <a:spcAft>
                <a:spcPts val="600"/>
              </a:spcAft>
            </a:pPr>
            <a:r>
              <a:rPr sz="2800" b="1" i="0">
                <a:solidFill>
                  <a:srgbClr val="01416B"/>
                </a:solidFill>
                <a:latin typeface="Arimo"/>
              </a:rPr>
              <a:t>VALID</a:t>
            </a:r>
          </a:p>
        </p:txBody>
      </p:sp>
      <p:sp>
        <p:nvSpPr>
          <p:cNvPr id="19" name="TextBox 18"/>
          <p:cNvSpPr txBox="1"/>
          <p:nvPr/>
        </p:nvSpPr>
        <p:spPr>
          <a:xfrm>
            <a:off x="1298448" y="7406640"/>
            <a:ext cx="4617720" cy="1828800"/>
          </a:xfrm>
          <a:prstGeom prst="rect">
            <a:avLst/>
          </a:prstGeom>
          <a:noFill/>
        </p:spPr>
        <p:txBody>
          <a:bodyPr wrap="square" anchor="t" lIns="45720" rIns="45720">
            <a:spAutoFit/>
          </a:bodyPr>
          <a:lstStyle/>
          <a:p>
            <a:pPr algn="l">
              <a:spcAft>
                <a:spcPts val="600"/>
              </a:spcAft>
            </a:pPr>
            <a:r>
              <a:rPr sz="2100" b="0" i="0">
                <a:solidFill>
                  <a:srgbClr val="000000"/>
                </a:solidFill>
                <a:latin typeface="Arimo"/>
              </a:rPr>
              <a:t>biaya ≤ anggaran dan durasi ≤ hari × jam per hari</a:t>
            </a:r>
          </a:p>
        </p:txBody>
      </p:sp>
      <p:sp>
        <p:nvSpPr>
          <p:cNvPr id="20" name="Rectangle 19"/>
          <p:cNvSpPr/>
          <p:nvPr/>
        </p:nvSpPr>
        <p:spPr>
          <a:xfrm>
            <a:off x="6556248" y="6446520"/>
            <a:ext cx="5166359" cy="2926080"/>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830568" y="6675120"/>
            <a:ext cx="4617720" cy="640080"/>
          </a:xfrm>
          <a:prstGeom prst="rect">
            <a:avLst/>
          </a:prstGeom>
          <a:noFill/>
        </p:spPr>
        <p:txBody>
          <a:bodyPr wrap="square" anchor="t" lIns="45720" rIns="45720">
            <a:spAutoFit/>
          </a:bodyPr>
          <a:lstStyle/>
          <a:p>
            <a:pPr algn="l">
              <a:spcAft>
                <a:spcPts val="600"/>
              </a:spcAft>
            </a:pPr>
            <a:r>
              <a:rPr sz="2800" b="1" i="0">
                <a:solidFill>
                  <a:srgbClr val="01416B"/>
                </a:solidFill>
                <a:latin typeface="Arimo"/>
              </a:rPr>
              <a:t>Penalti × 10</a:t>
            </a:r>
          </a:p>
        </p:txBody>
      </p:sp>
      <p:sp>
        <p:nvSpPr>
          <p:cNvPr id="22" name="TextBox 21"/>
          <p:cNvSpPr txBox="1"/>
          <p:nvPr/>
        </p:nvSpPr>
        <p:spPr>
          <a:xfrm>
            <a:off x="6830568" y="7406640"/>
            <a:ext cx="4617720" cy="1828800"/>
          </a:xfrm>
          <a:prstGeom prst="rect">
            <a:avLst/>
          </a:prstGeom>
          <a:noFill/>
        </p:spPr>
        <p:txBody>
          <a:bodyPr wrap="square" anchor="t" lIns="45720" rIns="45720">
            <a:spAutoFit/>
          </a:bodyPr>
          <a:lstStyle/>
          <a:p>
            <a:pPr algn="l">
              <a:spcAft>
                <a:spcPts val="600"/>
              </a:spcAft>
            </a:pPr>
            <a:r>
              <a:rPr sz="2100" b="0" i="0">
                <a:solidFill>
                  <a:srgbClr val="000000"/>
                </a:solidFill>
                <a:latin typeface="Arimo"/>
              </a:rPr>
              <a:t>melanggar batas dihukum jauh lebih berat daripada kekurangan</a:t>
            </a:r>
          </a:p>
        </p:txBody>
      </p:sp>
      <p:sp>
        <p:nvSpPr>
          <p:cNvPr id="23" name="Rectangle 22"/>
          <p:cNvSpPr/>
          <p:nvPr/>
        </p:nvSpPr>
        <p:spPr>
          <a:xfrm>
            <a:off x="12088367" y="6446520"/>
            <a:ext cx="5166359" cy="2926080"/>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12362688" y="6675120"/>
            <a:ext cx="4617720" cy="640080"/>
          </a:xfrm>
          <a:prstGeom prst="rect">
            <a:avLst/>
          </a:prstGeom>
          <a:noFill/>
        </p:spPr>
        <p:txBody>
          <a:bodyPr wrap="square" anchor="t" lIns="45720" rIns="45720">
            <a:spAutoFit/>
          </a:bodyPr>
          <a:lstStyle/>
          <a:p>
            <a:pPr algn="l">
              <a:spcAft>
                <a:spcPts val="600"/>
              </a:spcAft>
            </a:pPr>
            <a:r>
              <a:rPr sz="2800" b="1" i="0">
                <a:solidFill>
                  <a:srgbClr val="01416B"/>
                </a:solidFill>
                <a:latin typeface="Arimo"/>
              </a:rPr>
              <a:t>Bonus Minat</a:t>
            </a:r>
          </a:p>
        </p:txBody>
      </p:sp>
      <p:sp>
        <p:nvSpPr>
          <p:cNvPr id="25" name="TextBox 24"/>
          <p:cNvSpPr txBox="1"/>
          <p:nvPr/>
        </p:nvSpPr>
        <p:spPr>
          <a:xfrm>
            <a:off x="12362688" y="7406640"/>
            <a:ext cx="4617720" cy="1828800"/>
          </a:xfrm>
          <a:prstGeom prst="rect">
            <a:avLst/>
          </a:prstGeom>
          <a:noFill/>
        </p:spPr>
        <p:txBody>
          <a:bodyPr wrap="square" anchor="t" lIns="45720" rIns="45720">
            <a:spAutoFit/>
          </a:bodyPr>
          <a:lstStyle/>
          <a:p>
            <a:pPr algn="l">
              <a:spcAft>
                <a:spcPts val="600"/>
              </a:spcAft>
            </a:pPr>
            <a:r>
              <a:rPr sz="2100" b="0" i="0">
                <a:solidFill>
                  <a:srgbClr val="000000"/>
                </a:solidFill>
                <a:latin typeface="Arimo"/>
              </a:rPr>
              <a:t>fitness dikali (1 + kecocokan dengan kategori pilihan)</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Alur Algoritma Genetika</a:t>
            </a:r>
          </a:p>
        </p:txBody>
      </p:sp>
      <p:sp>
        <p:nvSpPr>
          <p:cNvPr id="4" name="Rectangle 3"/>
          <p:cNvSpPr/>
          <p:nvPr/>
        </p:nvSpPr>
        <p:spPr>
          <a:xfrm>
            <a:off x="1024128" y="2103120"/>
            <a:ext cx="2377440" cy="420624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801368" y="2377440"/>
            <a:ext cx="822960" cy="82296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Arimo"/>
              </a:rPr>
              <a:t>1</a:t>
            </a:r>
          </a:p>
        </p:txBody>
      </p:sp>
      <p:sp>
        <p:nvSpPr>
          <p:cNvPr id="6" name="TextBox 5"/>
          <p:cNvSpPr txBox="1"/>
          <p:nvPr/>
        </p:nvSpPr>
        <p:spPr>
          <a:xfrm>
            <a:off x="1161288" y="3383280"/>
            <a:ext cx="2103120" cy="548640"/>
          </a:xfrm>
          <a:prstGeom prst="rect">
            <a:avLst/>
          </a:prstGeom>
          <a:noFill/>
        </p:spPr>
        <p:txBody>
          <a:bodyPr wrap="square" anchor="t" lIns="45720" rIns="45720">
            <a:spAutoFit/>
          </a:bodyPr>
          <a:lstStyle/>
          <a:p>
            <a:pPr algn="ctr">
              <a:spcAft>
                <a:spcPts val="600"/>
              </a:spcAft>
            </a:pPr>
            <a:r>
              <a:rPr sz="2300" b="1" i="0">
                <a:solidFill>
                  <a:srgbClr val="01416B"/>
                </a:solidFill>
                <a:latin typeface="Arimo"/>
              </a:rPr>
              <a:t>Populasi Awal</a:t>
            </a:r>
          </a:p>
        </p:txBody>
      </p:sp>
      <p:sp>
        <p:nvSpPr>
          <p:cNvPr id="7" name="TextBox 6"/>
          <p:cNvSpPr txBox="1"/>
          <p:nvPr/>
        </p:nvSpPr>
        <p:spPr>
          <a:xfrm>
            <a:off x="1207008" y="4069080"/>
            <a:ext cx="2011680" cy="2103120"/>
          </a:xfrm>
          <a:prstGeom prst="rect">
            <a:avLst/>
          </a:prstGeom>
          <a:noFill/>
        </p:spPr>
        <p:txBody>
          <a:bodyPr wrap="square" anchor="t" lIns="45720" rIns="45720">
            <a:spAutoFit/>
          </a:bodyPr>
          <a:lstStyle/>
          <a:p>
            <a:pPr algn="ctr">
              <a:spcAft>
                <a:spcPts val="600"/>
              </a:spcAft>
            </a:pPr>
            <a:r>
              <a:rPr sz="1900" b="0" i="0">
                <a:solidFill>
                  <a:srgbClr val="000000"/>
                </a:solidFill>
                <a:latin typeface="Arimo"/>
              </a:rPr>
              <a:t>100 individu, 20% dari greedy seeding</a:t>
            </a:r>
          </a:p>
        </p:txBody>
      </p:sp>
      <p:sp>
        <p:nvSpPr>
          <p:cNvPr id="8" name="Chevron 7"/>
          <p:cNvSpPr/>
          <p:nvPr/>
        </p:nvSpPr>
        <p:spPr>
          <a:xfrm>
            <a:off x="3424428" y="3977639"/>
            <a:ext cx="347472" cy="457200"/>
          </a:xfrm>
          <a:prstGeom prst="chevron">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794760" y="2103120"/>
            <a:ext cx="2377440" cy="420624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Oval 9"/>
          <p:cNvSpPr/>
          <p:nvPr/>
        </p:nvSpPr>
        <p:spPr>
          <a:xfrm>
            <a:off x="4572000" y="2377440"/>
            <a:ext cx="822960" cy="82296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Arimo"/>
              </a:rPr>
              <a:t>2</a:t>
            </a:r>
          </a:p>
        </p:txBody>
      </p:sp>
      <p:sp>
        <p:nvSpPr>
          <p:cNvPr id="11" name="TextBox 10"/>
          <p:cNvSpPr txBox="1"/>
          <p:nvPr/>
        </p:nvSpPr>
        <p:spPr>
          <a:xfrm>
            <a:off x="3931920" y="3383280"/>
            <a:ext cx="2103120" cy="548640"/>
          </a:xfrm>
          <a:prstGeom prst="rect">
            <a:avLst/>
          </a:prstGeom>
          <a:noFill/>
        </p:spPr>
        <p:txBody>
          <a:bodyPr wrap="square" anchor="t" lIns="45720" rIns="45720">
            <a:spAutoFit/>
          </a:bodyPr>
          <a:lstStyle/>
          <a:p>
            <a:pPr algn="ctr">
              <a:spcAft>
                <a:spcPts val="600"/>
              </a:spcAft>
            </a:pPr>
            <a:r>
              <a:rPr sz="2300" b="1" i="0">
                <a:solidFill>
                  <a:srgbClr val="01416B"/>
                </a:solidFill>
                <a:latin typeface="Arimo"/>
              </a:rPr>
              <a:t>Seleksi</a:t>
            </a:r>
          </a:p>
        </p:txBody>
      </p:sp>
      <p:sp>
        <p:nvSpPr>
          <p:cNvPr id="12" name="TextBox 11"/>
          <p:cNvSpPr txBox="1"/>
          <p:nvPr/>
        </p:nvSpPr>
        <p:spPr>
          <a:xfrm>
            <a:off x="3977640" y="4069080"/>
            <a:ext cx="2011680" cy="2103120"/>
          </a:xfrm>
          <a:prstGeom prst="rect">
            <a:avLst/>
          </a:prstGeom>
          <a:noFill/>
        </p:spPr>
        <p:txBody>
          <a:bodyPr wrap="square" anchor="t" lIns="45720" rIns="45720">
            <a:spAutoFit/>
          </a:bodyPr>
          <a:lstStyle/>
          <a:p>
            <a:pPr algn="ctr">
              <a:spcAft>
                <a:spcPts val="600"/>
              </a:spcAft>
            </a:pPr>
            <a:r>
              <a:rPr sz="1900" b="0" i="0">
                <a:solidFill>
                  <a:srgbClr val="000000"/>
                </a:solidFill>
                <a:latin typeface="Arimo"/>
              </a:rPr>
              <a:t>turnamen (k = 3) atau roulette wheel</a:t>
            </a:r>
          </a:p>
        </p:txBody>
      </p:sp>
      <p:sp>
        <p:nvSpPr>
          <p:cNvPr id="13" name="Chevron 12"/>
          <p:cNvSpPr/>
          <p:nvPr/>
        </p:nvSpPr>
        <p:spPr>
          <a:xfrm>
            <a:off x="6195059" y="3977639"/>
            <a:ext cx="347472" cy="457200"/>
          </a:xfrm>
          <a:prstGeom prst="chevron">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565392" y="2103120"/>
            <a:ext cx="2377440" cy="420624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Oval 14"/>
          <p:cNvSpPr/>
          <p:nvPr/>
        </p:nvSpPr>
        <p:spPr>
          <a:xfrm>
            <a:off x="7342632" y="2377440"/>
            <a:ext cx="822960" cy="82296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Arimo"/>
              </a:rPr>
              <a:t>3</a:t>
            </a:r>
          </a:p>
        </p:txBody>
      </p:sp>
      <p:sp>
        <p:nvSpPr>
          <p:cNvPr id="16" name="TextBox 15"/>
          <p:cNvSpPr txBox="1"/>
          <p:nvPr/>
        </p:nvSpPr>
        <p:spPr>
          <a:xfrm>
            <a:off x="6702552" y="3383280"/>
            <a:ext cx="2103120" cy="548640"/>
          </a:xfrm>
          <a:prstGeom prst="rect">
            <a:avLst/>
          </a:prstGeom>
          <a:noFill/>
        </p:spPr>
        <p:txBody>
          <a:bodyPr wrap="square" anchor="t" lIns="45720" rIns="45720">
            <a:spAutoFit/>
          </a:bodyPr>
          <a:lstStyle/>
          <a:p>
            <a:pPr algn="ctr">
              <a:spcAft>
                <a:spcPts val="600"/>
              </a:spcAft>
            </a:pPr>
            <a:r>
              <a:rPr sz="2300" b="1" i="0">
                <a:solidFill>
                  <a:srgbClr val="01416B"/>
                </a:solidFill>
                <a:latin typeface="Arimo"/>
              </a:rPr>
              <a:t>Crossover</a:t>
            </a:r>
          </a:p>
        </p:txBody>
      </p:sp>
      <p:sp>
        <p:nvSpPr>
          <p:cNvPr id="17" name="TextBox 16"/>
          <p:cNvSpPr txBox="1"/>
          <p:nvPr/>
        </p:nvSpPr>
        <p:spPr>
          <a:xfrm>
            <a:off x="6748272" y="4069080"/>
            <a:ext cx="2011680" cy="2103120"/>
          </a:xfrm>
          <a:prstGeom prst="rect">
            <a:avLst/>
          </a:prstGeom>
          <a:noFill/>
        </p:spPr>
        <p:txBody>
          <a:bodyPr wrap="square" anchor="t" lIns="45720" rIns="45720">
            <a:spAutoFit/>
          </a:bodyPr>
          <a:lstStyle/>
          <a:p>
            <a:pPr algn="ctr">
              <a:spcAft>
                <a:spcPts val="600"/>
              </a:spcAft>
            </a:pPr>
            <a:r>
              <a:rPr sz="1900" b="0" i="0">
                <a:solidFill>
                  <a:srgbClr val="000000"/>
                </a:solidFill>
                <a:latin typeface="Arimo"/>
              </a:rPr>
              <a:t>peluang 0,8: uniform + order crossover</a:t>
            </a:r>
          </a:p>
        </p:txBody>
      </p:sp>
      <p:sp>
        <p:nvSpPr>
          <p:cNvPr id="18" name="Chevron 17"/>
          <p:cNvSpPr/>
          <p:nvPr/>
        </p:nvSpPr>
        <p:spPr>
          <a:xfrm>
            <a:off x="8965692" y="3977639"/>
            <a:ext cx="347472" cy="457200"/>
          </a:xfrm>
          <a:prstGeom prst="chevron">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9336024" y="2103120"/>
            <a:ext cx="2377440" cy="420624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10113264" y="2377440"/>
            <a:ext cx="822960" cy="82296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Arimo"/>
              </a:rPr>
              <a:t>4</a:t>
            </a:r>
          </a:p>
        </p:txBody>
      </p:sp>
      <p:sp>
        <p:nvSpPr>
          <p:cNvPr id="21" name="TextBox 20"/>
          <p:cNvSpPr txBox="1"/>
          <p:nvPr/>
        </p:nvSpPr>
        <p:spPr>
          <a:xfrm>
            <a:off x="9473184" y="3383280"/>
            <a:ext cx="2103120" cy="548640"/>
          </a:xfrm>
          <a:prstGeom prst="rect">
            <a:avLst/>
          </a:prstGeom>
          <a:noFill/>
        </p:spPr>
        <p:txBody>
          <a:bodyPr wrap="square" anchor="t" lIns="45720" rIns="45720">
            <a:spAutoFit/>
          </a:bodyPr>
          <a:lstStyle/>
          <a:p>
            <a:pPr algn="ctr">
              <a:spcAft>
                <a:spcPts val="600"/>
              </a:spcAft>
            </a:pPr>
            <a:r>
              <a:rPr sz="2300" b="1" i="0">
                <a:solidFill>
                  <a:srgbClr val="01416B"/>
                </a:solidFill>
                <a:latin typeface="Arimo"/>
              </a:rPr>
              <a:t>Mutasi</a:t>
            </a:r>
          </a:p>
        </p:txBody>
      </p:sp>
      <p:sp>
        <p:nvSpPr>
          <p:cNvPr id="22" name="TextBox 21"/>
          <p:cNvSpPr txBox="1"/>
          <p:nvPr/>
        </p:nvSpPr>
        <p:spPr>
          <a:xfrm>
            <a:off x="9518904" y="4069080"/>
            <a:ext cx="2011680" cy="2103120"/>
          </a:xfrm>
          <a:prstGeom prst="rect">
            <a:avLst/>
          </a:prstGeom>
          <a:noFill/>
        </p:spPr>
        <p:txBody>
          <a:bodyPr wrap="square" anchor="t" lIns="45720" rIns="45720">
            <a:spAutoFit/>
          </a:bodyPr>
          <a:lstStyle/>
          <a:p>
            <a:pPr algn="ctr">
              <a:spcAft>
                <a:spcPts val="600"/>
              </a:spcAft>
            </a:pPr>
            <a:r>
              <a:rPr sz="1900" b="0" i="0">
                <a:solidFill>
                  <a:srgbClr val="000000"/>
                </a:solidFill>
                <a:latin typeface="Arimo"/>
              </a:rPr>
              <a:t>peluang 0,05: swap, insert, tambah, hapus</a:t>
            </a:r>
          </a:p>
        </p:txBody>
      </p:sp>
      <p:sp>
        <p:nvSpPr>
          <p:cNvPr id="23" name="Chevron 22"/>
          <p:cNvSpPr/>
          <p:nvPr/>
        </p:nvSpPr>
        <p:spPr>
          <a:xfrm>
            <a:off x="11736324" y="3977639"/>
            <a:ext cx="347472" cy="457200"/>
          </a:xfrm>
          <a:prstGeom prst="chevron">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2106655" y="2103120"/>
            <a:ext cx="2377440" cy="420624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12883896" y="2377440"/>
            <a:ext cx="822960" cy="82296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Arimo"/>
              </a:rPr>
              <a:t>5</a:t>
            </a:r>
          </a:p>
        </p:txBody>
      </p:sp>
      <p:sp>
        <p:nvSpPr>
          <p:cNvPr id="26" name="TextBox 25"/>
          <p:cNvSpPr txBox="1"/>
          <p:nvPr/>
        </p:nvSpPr>
        <p:spPr>
          <a:xfrm>
            <a:off x="12243815" y="3383280"/>
            <a:ext cx="2103120" cy="548640"/>
          </a:xfrm>
          <a:prstGeom prst="rect">
            <a:avLst/>
          </a:prstGeom>
          <a:noFill/>
        </p:spPr>
        <p:txBody>
          <a:bodyPr wrap="square" anchor="t" lIns="45720" rIns="45720">
            <a:spAutoFit/>
          </a:bodyPr>
          <a:lstStyle/>
          <a:p>
            <a:pPr algn="ctr">
              <a:spcAft>
                <a:spcPts val="600"/>
              </a:spcAft>
            </a:pPr>
            <a:r>
              <a:rPr sz="2300" b="1" i="0">
                <a:solidFill>
                  <a:srgbClr val="01416B"/>
                </a:solidFill>
                <a:latin typeface="Arimo"/>
              </a:rPr>
              <a:t>Elitisme</a:t>
            </a:r>
          </a:p>
        </p:txBody>
      </p:sp>
      <p:sp>
        <p:nvSpPr>
          <p:cNvPr id="27" name="TextBox 26"/>
          <p:cNvSpPr txBox="1"/>
          <p:nvPr/>
        </p:nvSpPr>
        <p:spPr>
          <a:xfrm>
            <a:off x="12289535" y="4069080"/>
            <a:ext cx="2011680" cy="2103120"/>
          </a:xfrm>
          <a:prstGeom prst="rect">
            <a:avLst/>
          </a:prstGeom>
          <a:noFill/>
        </p:spPr>
        <p:txBody>
          <a:bodyPr wrap="square" anchor="t" lIns="45720" rIns="45720">
            <a:spAutoFit/>
          </a:bodyPr>
          <a:lstStyle/>
          <a:p>
            <a:pPr algn="ctr">
              <a:spcAft>
                <a:spcPts val="600"/>
              </a:spcAft>
            </a:pPr>
            <a:r>
              <a:rPr sz="1900" b="0" i="0">
                <a:solidFill>
                  <a:srgbClr val="000000"/>
                </a:solidFill>
                <a:latin typeface="Arimo"/>
              </a:rPr>
              <a:t>2 individu terbaik disalin utuh</a:t>
            </a:r>
          </a:p>
        </p:txBody>
      </p:sp>
      <p:sp>
        <p:nvSpPr>
          <p:cNvPr id="28" name="Chevron 27"/>
          <p:cNvSpPr/>
          <p:nvPr/>
        </p:nvSpPr>
        <p:spPr>
          <a:xfrm>
            <a:off x="14506956" y="3977639"/>
            <a:ext cx="347472" cy="457200"/>
          </a:xfrm>
          <a:prstGeom prst="chevron">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4877288" y="2103120"/>
            <a:ext cx="2377440" cy="420624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15654528" y="2377440"/>
            <a:ext cx="822960" cy="82296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Arimo"/>
              </a:rPr>
              <a:t>6</a:t>
            </a:r>
          </a:p>
        </p:txBody>
      </p:sp>
      <p:sp>
        <p:nvSpPr>
          <p:cNvPr id="31" name="TextBox 30"/>
          <p:cNvSpPr txBox="1"/>
          <p:nvPr/>
        </p:nvSpPr>
        <p:spPr>
          <a:xfrm>
            <a:off x="15014447" y="3383280"/>
            <a:ext cx="2103120" cy="548640"/>
          </a:xfrm>
          <a:prstGeom prst="rect">
            <a:avLst/>
          </a:prstGeom>
          <a:noFill/>
        </p:spPr>
        <p:txBody>
          <a:bodyPr wrap="square" anchor="t" lIns="45720" rIns="45720">
            <a:spAutoFit/>
          </a:bodyPr>
          <a:lstStyle/>
          <a:p>
            <a:pPr algn="ctr">
              <a:spcAft>
                <a:spcPts val="600"/>
              </a:spcAft>
            </a:pPr>
            <a:r>
              <a:rPr sz="2300" b="1" i="0">
                <a:solidFill>
                  <a:srgbClr val="01416B"/>
                </a:solidFill>
                <a:latin typeface="Arimo"/>
              </a:rPr>
              <a:t>Berhenti</a:t>
            </a:r>
          </a:p>
        </p:txBody>
      </p:sp>
      <p:sp>
        <p:nvSpPr>
          <p:cNvPr id="32" name="TextBox 31"/>
          <p:cNvSpPr txBox="1"/>
          <p:nvPr/>
        </p:nvSpPr>
        <p:spPr>
          <a:xfrm>
            <a:off x="15060167" y="4069080"/>
            <a:ext cx="2011680" cy="2103120"/>
          </a:xfrm>
          <a:prstGeom prst="rect">
            <a:avLst/>
          </a:prstGeom>
          <a:noFill/>
        </p:spPr>
        <p:txBody>
          <a:bodyPr wrap="square" anchor="t" lIns="45720" rIns="45720">
            <a:spAutoFit/>
          </a:bodyPr>
          <a:lstStyle/>
          <a:p>
            <a:pPr algn="ctr">
              <a:spcAft>
                <a:spcPts val="600"/>
              </a:spcAft>
            </a:pPr>
            <a:r>
              <a:rPr sz="1900" b="0" i="0">
                <a:solidFill>
                  <a:srgbClr val="000000"/>
                </a:solidFill>
                <a:latin typeface="Arimo"/>
              </a:rPr>
              <a:t>200 generasi atau 100 generasi stagnan</a:t>
            </a:r>
          </a:p>
        </p:txBody>
      </p:sp>
      <p:sp>
        <p:nvSpPr>
          <p:cNvPr id="33" name="Rectangle 32"/>
          <p:cNvSpPr/>
          <p:nvPr/>
        </p:nvSpPr>
        <p:spPr>
          <a:xfrm>
            <a:off x="3794760" y="6537960"/>
            <a:ext cx="10689336" cy="548640"/>
          </a:xfrm>
          <a:prstGeom prst="rect">
            <a:avLst/>
          </a:prstGeom>
          <a:solidFill>
            <a:srgbClr val="FDD4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3794760" y="6537960"/>
            <a:ext cx="10689336" cy="548640"/>
          </a:xfrm>
          <a:prstGeom prst="rect">
            <a:avLst/>
          </a:prstGeom>
          <a:noFill/>
        </p:spPr>
        <p:txBody>
          <a:bodyPr wrap="square" anchor="ctr" lIns="45720" rIns="45720">
            <a:spAutoFit/>
          </a:bodyPr>
          <a:lstStyle/>
          <a:p>
            <a:pPr algn="ctr">
              <a:spcAft>
                <a:spcPts val="600"/>
              </a:spcAft>
            </a:pPr>
            <a:r>
              <a:rPr sz="2200" b="1" i="0">
                <a:solidFill>
                  <a:srgbClr val="01416B"/>
                </a:solidFill>
                <a:latin typeface="Arimo"/>
              </a:rPr>
              <a:t>↻  diulang setiap generasi</a:t>
            </a:r>
          </a:p>
        </p:txBody>
      </p:sp>
      <p:sp>
        <p:nvSpPr>
          <p:cNvPr id="35" name="Rectangle 34"/>
          <p:cNvSpPr/>
          <p:nvPr/>
        </p:nvSpPr>
        <p:spPr>
          <a:xfrm>
            <a:off x="1024128" y="7360920"/>
            <a:ext cx="16230600" cy="2011680"/>
          </a:xfrm>
          <a:prstGeom prst="rect">
            <a:avLst/>
          </a:prstGeom>
          <a:solidFill>
            <a:srgbClr val="FFFFFF"/>
          </a:solidFill>
          <a:ln w="3175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ectangle 35"/>
          <p:cNvSpPr/>
          <p:nvPr/>
        </p:nvSpPr>
        <p:spPr>
          <a:xfrm>
            <a:off x="1024128" y="7360920"/>
            <a:ext cx="16230600" cy="502920"/>
          </a:xfrm>
          <a:prstGeom prst="rect">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1024128" y="7360920"/>
            <a:ext cx="16230600" cy="502920"/>
          </a:xfrm>
          <a:prstGeom prst="rect">
            <a:avLst/>
          </a:prstGeom>
          <a:noFill/>
        </p:spPr>
        <p:txBody>
          <a:bodyPr wrap="square" anchor="ctr" lIns="45720" rIns="45720">
            <a:spAutoFit/>
          </a:bodyPr>
          <a:lstStyle/>
          <a:p>
            <a:pPr algn="ctr">
              <a:spcAft>
                <a:spcPts val="600"/>
              </a:spcAft>
            </a:pPr>
            <a:r>
              <a:rPr sz="2800" b="1" i="0">
                <a:solidFill>
                  <a:srgbClr val="FFFFFF"/>
                </a:solidFill>
                <a:latin typeface="Arimo"/>
              </a:rPr>
              <a:t>Keluaran</a:t>
            </a:r>
          </a:p>
        </p:txBody>
      </p:sp>
      <p:sp>
        <p:nvSpPr>
          <p:cNvPr id="38" name="TextBox 37"/>
          <p:cNvSpPr txBox="1"/>
          <p:nvPr/>
        </p:nvSpPr>
        <p:spPr>
          <a:xfrm>
            <a:off x="1389888" y="7955279"/>
            <a:ext cx="15499080" cy="1325880"/>
          </a:xfrm>
          <a:prstGeom prst="rect">
            <a:avLst/>
          </a:prstGeom>
          <a:noFill/>
        </p:spPr>
        <p:txBody>
          <a:bodyPr wrap="square" anchor="ctr" lIns="45720" rIns="45720">
            <a:spAutoFit/>
          </a:bodyPr>
          <a:lstStyle/>
          <a:p>
            <a:pPr algn="ctr">
              <a:spcAft>
                <a:spcPts val="600"/>
              </a:spcAft>
            </a:pPr>
            <a:r>
              <a:rPr sz="2100" b="0" i="0">
                <a:solidFill>
                  <a:srgbClr val="000000"/>
                </a:solidFill>
                <a:latin typeface="Arimo"/>
              </a:rPr>
              <a:t>5 rencana terbaik yang saling berbeda (minimal 2 destinasi), diurutkan valid → jadwal harian muat → fitness, lengkap dengan peta rute, rincian biaya, dan jadwal per hari</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Aplikasi Web Wisata Genetik</a:t>
            </a:r>
          </a:p>
        </p:txBody>
      </p:sp>
      <p:pic>
        <p:nvPicPr>
          <p:cNvPr id="4" name="Picture 3" descr="rencana-ringkas.png"/>
          <p:cNvPicPr>
            <a:picLocks noChangeAspect="1"/>
          </p:cNvPicPr>
          <p:nvPr/>
        </p:nvPicPr>
        <p:blipFill>
          <a:blip r:embed="rId7"/>
          <a:stretch>
            <a:fillRect/>
          </a:stretch>
        </p:blipFill>
        <p:spPr>
          <a:xfrm>
            <a:off x="1024128" y="1828800"/>
            <a:ext cx="7246123" cy="5241876"/>
          </a:xfrm>
          <a:prstGeom prst="rect">
            <a:avLst/>
          </a:prstGeom>
          <a:ln w="31750">
            <a:solidFill>
              <a:srgbClr val="01416B"/>
            </a:solidFill>
          </a:ln>
        </p:spPr>
      </p:pic>
      <p:pic>
        <p:nvPicPr>
          <p:cNvPr id="5" name="Picture 4" descr="hasil-ringkas.png"/>
          <p:cNvPicPr>
            <a:picLocks noChangeAspect="1"/>
          </p:cNvPicPr>
          <p:nvPr/>
        </p:nvPicPr>
        <p:blipFill>
          <a:blip r:embed="rId8"/>
          <a:stretch>
            <a:fillRect/>
          </a:stretch>
        </p:blipFill>
        <p:spPr>
          <a:xfrm>
            <a:off x="8727450" y="1828800"/>
            <a:ext cx="8527277" cy="5241876"/>
          </a:xfrm>
          <a:prstGeom prst="rect">
            <a:avLst/>
          </a:prstGeom>
          <a:ln w="31750">
            <a:solidFill>
              <a:srgbClr val="01416B"/>
            </a:solidFill>
          </a:ln>
        </p:spPr>
      </p:pic>
      <p:sp>
        <p:nvSpPr>
          <p:cNvPr id="6" name="Rectangle 5"/>
          <p:cNvSpPr/>
          <p:nvPr/>
        </p:nvSpPr>
        <p:spPr>
          <a:xfrm>
            <a:off x="1024128" y="7390716"/>
            <a:ext cx="5166359" cy="1981883"/>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52728" y="7527876"/>
            <a:ext cx="4709159" cy="502920"/>
          </a:xfrm>
          <a:prstGeom prst="rect">
            <a:avLst/>
          </a:prstGeom>
          <a:noFill/>
        </p:spPr>
        <p:txBody>
          <a:bodyPr wrap="square" anchor="t" lIns="45720" rIns="45720">
            <a:spAutoFit/>
          </a:bodyPr>
          <a:lstStyle/>
          <a:p>
            <a:pPr algn="l">
              <a:spcAft>
                <a:spcPts val="600"/>
              </a:spcAft>
            </a:pPr>
            <a:r>
              <a:rPr sz="2400" b="1" i="0">
                <a:solidFill>
                  <a:srgbClr val="01416B"/>
                </a:solidFill>
                <a:latin typeface="Arimo"/>
              </a:rPr>
              <a:t>Input → Hasil</a:t>
            </a:r>
          </a:p>
        </p:txBody>
      </p:sp>
      <p:sp>
        <p:nvSpPr>
          <p:cNvPr id="8" name="TextBox 7"/>
          <p:cNvSpPr txBox="1"/>
          <p:nvPr/>
        </p:nvSpPr>
        <p:spPr>
          <a:xfrm>
            <a:off x="1252728" y="8076516"/>
            <a:ext cx="4709159" cy="1204643"/>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anggaran, hari, orang, dan minat menjadi 5 rencana dengan peta dan jadwal</a:t>
            </a:r>
          </a:p>
        </p:txBody>
      </p:sp>
      <p:sp>
        <p:nvSpPr>
          <p:cNvPr id="9" name="Rectangle 8"/>
          <p:cNvSpPr/>
          <p:nvPr/>
        </p:nvSpPr>
        <p:spPr>
          <a:xfrm>
            <a:off x="6556248" y="7390716"/>
            <a:ext cx="5166359" cy="1981883"/>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784848" y="7527876"/>
            <a:ext cx="4709159" cy="502920"/>
          </a:xfrm>
          <a:prstGeom prst="rect">
            <a:avLst/>
          </a:prstGeom>
          <a:noFill/>
        </p:spPr>
        <p:txBody>
          <a:bodyPr wrap="square" anchor="t" lIns="45720" rIns="45720">
            <a:spAutoFit/>
          </a:bodyPr>
          <a:lstStyle/>
          <a:p>
            <a:pPr algn="l">
              <a:spcAft>
                <a:spcPts val="600"/>
              </a:spcAft>
            </a:pPr>
            <a:r>
              <a:rPr sz="2400" b="1" i="0">
                <a:solidFill>
                  <a:srgbClr val="01416B"/>
                </a:solidFill>
                <a:latin typeface="Arimo"/>
              </a:rPr>
              <a:t>Web Worker</a:t>
            </a:r>
          </a:p>
        </p:txBody>
      </p:sp>
      <p:sp>
        <p:nvSpPr>
          <p:cNvPr id="11" name="TextBox 10"/>
          <p:cNvSpPr txBox="1"/>
          <p:nvPr/>
        </p:nvSpPr>
        <p:spPr>
          <a:xfrm>
            <a:off x="6784848" y="8076516"/>
            <a:ext cx="4709159" cy="1204643"/>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GA berjalan di latar belakang, layar tidak membeku, selesai &lt; 1 detik</a:t>
            </a:r>
          </a:p>
        </p:txBody>
      </p:sp>
      <p:sp>
        <p:nvSpPr>
          <p:cNvPr id="12" name="Rectangle 11"/>
          <p:cNvSpPr/>
          <p:nvPr/>
        </p:nvSpPr>
        <p:spPr>
          <a:xfrm>
            <a:off x="12088367" y="7390716"/>
            <a:ext cx="5166359" cy="1981883"/>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12316967" y="7527876"/>
            <a:ext cx="4709159" cy="502920"/>
          </a:xfrm>
          <a:prstGeom prst="rect">
            <a:avLst/>
          </a:prstGeom>
          <a:noFill/>
        </p:spPr>
        <p:txBody>
          <a:bodyPr wrap="square" anchor="t" lIns="45720" rIns="45720">
            <a:spAutoFit/>
          </a:bodyPr>
          <a:lstStyle/>
          <a:p>
            <a:pPr algn="l">
              <a:spcAft>
                <a:spcPts val="600"/>
              </a:spcAft>
            </a:pPr>
            <a:r>
              <a:rPr sz="2400" b="1" i="0">
                <a:solidFill>
                  <a:srgbClr val="01416B"/>
                </a:solidFill>
                <a:latin typeface="Arimo"/>
              </a:rPr>
              <a:t>Bisa Dibagikan &amp; Diganti</a:t>
            </a:r>
          </a:p>
        </p:txBody>
      </p:sp>
      <p:sp>
        <p:nvSpPr>
          <p:cNvPr id="14" name="TextBox 13"/>
          <p:cNvSpPr txBox="1"/>
          <p:nvPr/>
        </p:nvSpPr>
        <p:spPr>
          <a:xfrm>
            <a:off x="12316967" y="8076516"/>
            <a:ext cx="4709159" cy="1204643"/>
          </a:xfrm>
          <a:prstGeom prst="rect">
            <a:avLst/>
          </a:prstGeom>
          <a:noFill/>
        </p:spPr>
        <p:txBody>
          <a:bodyPr wrap="square" anchor="t" lIns="45720" rIns="45720">
            <a:spAutoFit/>
          </a:bodyPr>
          <a:lstStyle/>
          <a:p>
            <a:pPr algn="l">
              <a:spcAft>
                <a:spcPts val="600"/>
              </a:spcAft>
            </a:pPr>
            <a:r>
              <a:rPr sz="2000" b="0" i="0">
                <a:solidFill>
                  <a:srgbClr val="000000"/>
                </a:solidFill>
                <a:latin typeface="Arimo"/>
              </a:rPr>
              <a:t>parameter tersimpan di URL; dataset kota lain bisa diunggah</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GA 4–6× Lebih Baik dari Greedy dan Pencarian Acak</a:t>
            </a:r>
          </a:p>
        </p:txBody>
      </p:sp>
      <p:graphicFrame>
        <p:nvGraphicFramePr>
          <p:cNvPr id="4" name="Chart 3"/>
          <p:cNvGraphicFramePr>
            <a:graphicFrameLocks noGrp="1"/>
          </p:cNvGraphicFramePr>
          <p:nvPr/>
        </p:nvGraphicFramePr>
        <p:xfrm>
          <a:off x="1024128" y="1828800"/>
          <a:ext cx="10881360" cy="7543800"/>
        </p:xfrm>
        <a:graphic>
          <a:graphicData uri="http://schemas.openxmlformats.org/drawingml/2006/chart">
            <c:chart xmlns:c="http://schemas.openxmlformats.org/drawingml/2006/chart" r:id="rId7"/>
          </a:graphicData>
        </a:graphic>
      </p:graphicFrame>
      <p:sp>
        <p:nvSpPr>
          <p:cNvPr id="5" name="Rectangle 4"/>
          <p:cNvSpPr/>
          <p:nvPr/>
        </p:nvSpPr>
        <p:spPr>
          <a:xfrm>
            <a:off x="12298680" y="1828800"/>
            <a:ext cx="4956048" cy="7543800"/>
          </a:xfrm>
          <a:prstGeom prst="rect">
            <a:avLst/>
          </a:prstGeom>
          <a:solidFill>
            <a:srgbClr val="FFFFFF"/>
          </a:solidFill>
          <a:ln w="3175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2298680" y="1828800"/>
            <a:ext cx="4956048" cy="502920"/>
          </a:xfrm>
          <a:prstGeom prst="rect">
            <a:avLst/>
          </a:prstGeom>
          <a:solidFill>
            <a:srgbClr val="FDD4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298680" y="1828800"/>
            <a:ext cx="4956048" cy="502920"/>
          </a:xfrm>
          <a:prstGeom prst="rect">
            <a:avLst/>
          </a:prstGeom>
          <a:noFill/>
        </p:spPr>
        <p:txBody>
          <a:bodyPr wrap="square" anchor="ctr" lIns="45720" rIns="45720">
            <a:spAutoFit/>
          </a:bodyPr>
          <a:lstStyle/>
          <a:p>
            <a:pPr algn="ctr">
              <a:spcAft>
                <a:spcPts val="600"/>
              </a:spcAft>
            </a:pPr>
            <a:r>
              <a:rPr sz="2800" b="1" i="0">
                <a:solidFill>
                  <a:srgbClr val="01416B"/>
                </a:solidFill>
                <a:latin typeface="Arimo"/>
              </a:rPr>
              <a:t>GA vs Terbaik Lain</a:t>
            </a:r>
          </a:p>
        </p:txBody>
      </p:sp>
      <p:sp>
        <p:nvSpPr>
          <p:cNvPr id="8" name="TextBox 7"/>
          <p:cNvSpPr txBox="1"/>
          <p:nvPr/>
        </p:nvSpPr>
        <p:spPr>
          <a:xfrm>
            <a:off x="12618720" y="2560320"/>
            <a:ext cx="4389120" cy="960120"/>
          </a:xfrm>
          <a:prstGeom prst="rect">
            <a:avLst/>
          </a:prstGeom>
          <a:noFill/>
        </p:spPr>
        <p:txBody>
          <a:bodyPr wrap="square" anchor="t" lIns="45720" rIns="45720">
            <a:spAutoFit/>
          </a:bodyPr>
          <a:lstStyle/>
          <a:p>
            <a:pPr algn="l">
              <a:spcAft>
                <a:spcPts val="600"/>
              </a:spcAft>
            </a:pPr>
            <a:r>
              <a:rPr sz="5400" b="1" i="0">
                <a:solidFill>
                  <a:srgbClr val="01416B"/>
                </a:solidFill>
                <a:latin typeface="Arimo"/>
              </a:rPr>
              <a:t>5,9×</a:t>
            </a:r>
          </a:p>
        </p:txBody>
      </p:sp>
      <p:sp>
        <p:nvSpPr>
          <p:cNvPr id="9" name="TextBox 8"/>
          <p:cNvSpPr txBox="1"/>
          <p:nvPr/>
        </p:nvSpPr>
        <p:spPr>
          <a:xfrm>
            <a:off x="12618720" y="3474720"/>
            <a:ext cx="4389120" cy="457200"/>
          </a:xfrm>
          <a:prstGeom prst="rect">
            <a:avLst/>
          </a:prstGeom>
          <a:noFill/>
        </p:spPr>
        <p:txBody>
          <a:bodyPr wrap="square" anchor="t" lIns="45720" rIns="45720">
            <a:spAutoFit/>
          </a:bodyPr>
          <a:lstStyle/>
          <a:p>
            <a:pPr algn="l">
              <a:spcAft>
                <a:spcPts val="600"/>
              </a:spcAft>
            </a:pPr>
            <a:r>
              <a:rPr sz="1700" b="0" i="0">
                <a:solidFill>
                  <a:srgbClr val="7F7F7F"/>
                </a:solidFill>
                <a:latin typeface="Arimo"/>
              </a:rPr>
              <a:t>lebih tinggi dari pencarian acak · skenario 1</a:t>
            </a:r>
          </a:p>
        </p:txBody>
      </p:sp>
      <p:sp>
        <p:nvSpPr>
          <p:cNvPr id="10" name="TextBox 9"/>
          <p:cNvSpPr txBox="1"/>
          <p:nvPr/>
        </p:nvSpPr>
        <p:spPr>
          <a:xfrm>
            <a:off x="12618720" y="4343400"/>
            <a:ext cx="4389120" cy="960120"/>
          </a:xfrm>
          <a:prstGeom prst="rect">
            <a:avLst/>
          </a:prstGeom>
          <a:noFill/>
        </p:spPr>
        <p:txBody>
          <a:bodyPr wrap="square" anchor="t" lIns="45720" rIns="45720">
            <a:spAutoFit/>
          </a:bodyPr>
          <a:lstStyle/>
          <a:p>
            <a:pPr algn="l">
              <a:spcAft>
                <a:spcPts val="600"/>
              </a:spcAft>
            </a:pPr>
            <a:r>
              <a:rPr sz="5400" b="1" i="0">
                <a:solidFill>
                  <a:srgbClr val="01416B"/>
                </a:solidFill>
                <a:latin typeface="Arimo"/>
              </a:rPr>
              <a:t>3,8×</a:t>
            </a:r>
          </a:p>
        </p:txBody>
      </p:sp>
      <p:sp>
        <p:nvSpPr>
          <p:cNvPr id="11" name="TextBox 10"/>
          <p:cNvSpPr txBox="1"/>
          <p:nvPr/>
        </p:nvSpPr>
        <p:spPr>
          <a:xfrm>
            <a:off x="12618720" y="5257800"/>
            <a:ext cx="4389120" cy="457200"/>
          </a:xfrm>
          <a:prstGeom prst="rect">
            <a:avLst/>
          </a:prstGeom>
          <a:noFill/>
        </p:spPr>
        <p:txBody>
          <a:bodyPr wrap="square" anchor="t" lIns="45720" rIns="45720">
            <a:spAutoFit/>
          </a:bodyPr>
          <a:lstStyle/>
          <a:p>
            <a:pPr algn="l">
              <a:spcAft>
                <a:spcPts val="600"/>
              </a:spcAft>
            </a:pPr>
            <a:r>
              <a:rPr sz="1700" b="0" i="0">
                <a:solidFill>
                  <a:srgbClr val="7F7F7F"/>
                </a:solidFill>
                <a:latin typeface="Arimo"/>
              </a:rPr>
              <a:t>lebih tinggi dari pencarian acak · skenario 2</a:t>
            </a:r>
          </a:p>
        </p:txBody>
      </p:sp>
      <p:sp>
        <p:nvSpPr>
          <p:cNvPr id="12" name="TextBox 11"/>
          <p:cNvSpPr txBox="1"/>
          <p:nvPr/>
        </p:nvSpPr>
        <p:spPr>
          <a:xfrm>
            <a:off x="12618720" y="6126479"/>
            <a:ext cx="4389120" cy="960120"/>
          </a:xfrm>
          <a:prstGeom prst="rect">
            <a:avLst/>
          </a:prstGeom>
          <a:noFill/>
        </p:spPr>
        <p:txBody>
          <a:bodyPr wrap="square" anchor="t" lIns="45720" rIns="45720">
            <a:spAutoFit/>
          </a:bodyPr>
          <a:lstStyle/>
          <a:p>
            <a:pPr algn="l">
              <a:spcAft>
                <a:spcPts val="600"/>
              </a:spcAft>
            </a:pPr>
            <a:r>
              <a:rPr sz="5400" b="1" i="0">
                <a:solidFill>
                  <a:srgbClr val="01416B"/>
                </a:solidFill>
                <a:latin typeface="Arimo"/>
              </a:rPr>
              <a:t>4,5×</a:t>
            </a:r>
          </a:p>
        </p:txBody>
      </p:sp>
      <p:sp>
        <p:nvSpPr>
          <p:cNvPr id="13" name="TextBox 12"/>
          <p:cNvSpPr txBox="1"/>
          <p:nvPr/>
        </p:nvSpPr>
        <p:spPr>
          <a:xfrm>
            <a:off x="12618720" y="7040879"/>
            <a:ext cx="4389120" cy="457200"/>
          </a:xfrm>
          <a:prstGeom prst="rect">
            <a:avLst/>
          </a:prstGeom>
          <a:noFill/>
        </p:spPr>
        <p:txBody>
          <a:bodyPr wrap="square" anchor="t" lIns="45720" rIns="45720">
            <a:spAutoFit/>
          </a:bodyPr>
          <a:lstStyle/>
          <a:p>
            <a:pPr algn="l">
              <a:spcAft>
                <a:spcPts val="600"/>
              </a:spcAft>
            </a:pPr>
            <a:r>
              <a:rPr sz="1700" b="0" i="0">
                <a:solidFill>
                  <a:srgbClr val="7F7F7F"/>
                </a:solidFill>
                <a:latin typeface="Arimo"/>
              </a:rPr>
              <a:t>lebih tinggi dari pencarian acak · skenario 3</a:t>
            </a:r>
          </a:p>
        </p:txBody>
      </p:sp>
      <p:sp>
        <p:nvSpPr>
          <p:cNvPr id="14" name="TextBox 13"/>
          <p:cNvSpPr txBox="1"/>
          <p:nvPr/>
        </p:nvSpPr>
        <p:spPr>
          <a:xfrm>
            <a:off x="12618720" y="8001000"/>
            <a:ext cx="4389120" cy="1280160"/>
          </a:xfrm>
          <a:prstGeom prst="rect">
            <a:avLst/>
          </a:prstGeom>
          <a:noFill/>
        </p:spPr>
        <p:txBody>
          <a:bodyPr wrap="square" anchor="t" lIns="45720" rIns="45720">
            <a:spAutoFit/>
          </a:bodyPr>
          <a:lstStyle/>
          <a:p>
            <a:pPr algn="l">
              <a:spcAft>
                <a:spcPts val="600"/>
              </a:spcAft>
            </a:pPr>
            <a:r>
              <a:rPr sz="1600" b="0" i="1">
                <a:solidFill>
                  <a:srgbClr val="7F7F7F"/>
                </a:solidFill>
                <a:latin typeface="Arimo"/>
              </a:rPr>
              <a:t>Semua metode 100% valid. Pencarian acak memakai jumlah evaluasi yang sama dengan GA.</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Fitness Naik 4,3× dalam 200 Generasi</a:t>
            </a:r>
          </a:p>
        </p:txBody>
      </p:sp>
      <p:graphicFrame>
        <p:nvGraphicFramePr>
          <p:cNvPr id="4" name="Chart 3"/>
          <p:cNvGraphicFramePr>
            <a:graphicFrameLocks noGrp="1"/>
          </p:cNvGraphicFramePr>
          <p:nvPr/>
        </p:nvGraphicFramePr>
        <p:xfrm>
          <a:off x="1024128" y="1828800"/>
          <a:ext cx="11247120" cy="7543800"/>
        </p:xfrm>
        <a:graphic>
          <a:graphicData uri="http://schemas.openxmlformats.org/drawingml/2006/chart">
            <c:chart xmlns:c="http://schemas.openxmlformats.org/drawingml/2006/chart" r:id="rId7"/>
          </a:graphicData>
        </a:graphic>
      </p:graphicFrame>
      <p:sp>
        <p:nvSpPr>
          <p:cNvPr id="5" name="Rectangle 4"/>
          <p:cNvSpPr/>
          <p:nvPr/>
        </p:nvSpPr>
        <p:spPr>
          <a:xfrm>
            <a:off x="12664440" y="1828800"/>
            <a:ext cx="4590288" cy="7543800"/>
          </a:xfrm>
          <a:prstGeom prst="rect">
            <a:avLst/>
          </a:prstGeom>
          <a:solidFill>
            <a:srgbClr val="FFFFFF"/>
          </a:solidFill>
          <a:ln w="3175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Rectangle 5"/>
          <p:cNvSpPr/>
          <p:nvPr/>
        </p:nvSpPr>
        <p:spPr>
          <a:xfrm>
            <a:off x="12664440" y="1828800"/>
            <a:ext cx="4590288" cy="502920"/>
          </a:xfrm>
          <a:prstGeom prst="rect">
            <a:avLst/>
          </a:prstGeom>
          <a:solidFill>
            <a:srgbClr val="FDD40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664440" y="1828800"/>
            <a:ext cx="4590288" cy="502920"/>
          </a:xfrm>
          <a:prstGeom prst="rect">
            <a:avLst/>
          </a:prstGeom>
          <a:noFill/>
        </p:spPr>
        <p:txBody>
          <a:bodyPr wrap="square" anchor="ctr" lIns="45720" rIns="45720">
            <a:spAutoFit/>
          </a:bodyPr>
          <a:lstStyle/>
          <a:p>
            <a:pPr algn="ctr">
              <a:spcAft>
                <a:spcPts val="600"/>
              </a:spcAft>
            </a:pPr>
            <a:r>
              <a:rPr sz="2800" b="1" i="0">
                <a:solidFill>
                  <a:srgbClr val="01416B"/>
                </a:solidFill>
                <a:latin typeface="Arimo"/>
              </a:rPr>
              <a:t>Satu Run (seed 42)</a:t>
            </a:r>
          </a:p>
        </p:txBody>
      </p:sp>
      <p:sp>
        <p:nvSpPr>
          <p:cNvPr id="8" name="TextBox 7"/>
          <p:cNvSpPr txBox="1"/>
          <p:nvPr/>
        </p:nvSpPr>
        <p:spPr>
          <a:xfrm>
            <a:off x="12938760" y="2606040"/>
            <a:ext cx="4114800" cy="822960"/>
          </a:xfrm>
          <a:prstGeom prst="rect">
            <a:avLst/>
          </a:prstGeom>
          <a:noFill/>
        </p:spPr>
        <p:txBody>
          <a:bodyPr wrap="square" anchor="t" lIns="45720" rIns="45720">
            <a:spAutoFit/>
          </a:bodyPr>
          <a:lstStyle/>
          <a:p>
            <a:pPr algn="l">
              <a:spcAft>
                <a:spcPts val="600"/>
              </a:spcAft>
            </a:pPr>
            <a:r>
              <a:rPr sz="4000" b="1" i="0">
                <a:solidFill>
                  <a:srgbClr val="01416B"/>
                </a:solidFill>
                <a:latin typeface="Arimo"/>
              </a:rPr>
              <a:t>11,8 → 50,7</a:t>
            </a:r>
          </a:p>
        </p:txBody>
      </p:sp>
      <p:sp>
        <p:nvSpPr>
          <p:cNvPr id="9" name="TextBox 8"/>
          <p:cNvSpPr txBox="1"/>
          <p:nvPr/>
        </p:nvSpPr>
        <p:spPr>
          <a:xfrm>
            <a:off x="12938760" y="3383280"/>
            <a:ext cx="4114800" cy="457200"/>
          </a:xfrm>
          <a:prstGeom prst="rect">
            <a:avLst/>
          </a:prstGeom>
          <a:noFill/>
        </p:spPr>
        <p:txBody>
          <a:bodyPr wrap="square" anchor="t" lIns="45720" rIns="45720">
            <a:spAutoFit/>
          </a:bodyPr>
          <a:lstStyle/>
          <a:p>
            <a:pPr algn="l">
              <a:spcAft>
                <a:spcPts val="600"/>
              </a:spcAft>
            </a:pPr>
            <a:r>
              <a:rPr sz="1800" b="0" i="0">
                <a:solidFill>
                  <a:srgbClr val="7F7F7F"/>
                </a:solidFill>
                <a:latin typeface="Arimo"/>
              </a:rPr>
              <a:t>fitness terbaik</a:t>
            </a:r>
          </a:p>
        </p:txBody>
      </p:sp>
      <p:sp>
        <p:nvSpPr>
          <p:cNvPr id="10" name="TextBox 9"/>
          <p:cNvSpPr txBox="1"/>
          <p:nvPr/>
        </p:nvSpPr>
        <p:spPr>
          <a:xfrm>
            <a:off x="12938760" y="4206240"/>
            <a:ext cx="4114800" cy="822960"/>
          </a:xfrm>
          <a:prstGeom prst="rect">
            <a:avLst/>
          </a:prstGeom>
          <a:noFill/>
        </p:spPr>
        <p:txBody>
          <a:bodyPr wrap="square" anchor="t" lIns="45720" rIns="45720">
            <a:spAutoFit/>
          </a:bodyPr>
          <a:lstStyle/>
          <a:p>
            <a:pPr algn="l">
              <a:spcAft>
                <a:spcPts val="600"/>
              </a:spcAft>
            </a:pPr>
            <a:r>
              <a:rPr sz="4000" b="1" i="0">
                <a:solidFill>
                  <a:srgbClr val="01416B"/>
                </a:solidFill>
                <a:latin typeface="Arimo"/>
              </a:rPr>
              <a:t>44% → 58%</a:t>
            </a:r>
          </a:p>
        </p:txBody>
      </p:sp>
      <p:sp>
        <p:nvSpPr>
          <p:cNvPr id="11" name="TextBox 10"/>
          <p:cNvSpPr txBox="1"/>
          <p:nvPr/>
        </p:nvSpPr>
        <p:spPr>
          <a:xfrm>
            <a:off x="12938760" y="4983479"/>
            <a:ext cx="4114800" cy="457200"/>
          </a:xfrm>
          <a:prstGeom prst="rect">
            <a:avLst/>
          </a:prstGeom>
          <a:noFill/>
        </p:spPr>
        <p:txBody>
          <a:bodyPr wrap="square" anchor="t" lIns="45720" rIns="45720">
            <a:spAutoFit/>
          </a:bodyPr>
          <a:lstStyle/>
          <a:p>
            <a:pPr algn="l">
              <a:spcAft>
                <a:spcPts val="600"/>
              </a:spcAft>
            </a:pPr>
            <a:r>
              <a:rPr sz="1800" b="0" i="0">
                <a:solidFill>
                  <a:srgbClr val="7F7F7F"/>
                </a:solidFill>
                <a:latin typeface="Arimo"/>
              </a:rPr>
              <a:t>individu valid</a:t>
            </a:r>
          </a:p>
        </p:txBody>
      </p:sp>
      <p:sp>
        <p:nvSpPr>
          <p:cNvPr id="12" name="TextBox 11"/>
          <p:cNvSpPr txBox="1"/>
          <p:nvPr/>
        </p:nvSpPr>
        <p:spPr>
          <a:xfrm>
            <a:off x="12938760" y="5806440"/>
            <a:ext cx="4114800" cy="822960"/>
          </a:xfrm>
          <a:prstGeom prst="rect">
            <a:avLst/>
          </a:prstGeom>
          <a:noFill/>
        </p:spPr>
        <p:txBody>
          <a:bodyPr wrap="square" anchor="t" lIns="45720" rIns="45720">
            <a:spAutoFit/>
          </a:bodyPr>
          <a:lstStyle/>
          <a:p>
            <a:pPr algn="l">
              <a:spcAft>
                <a:spcPts val="600"/>
              </a:spcAft>
            </a:pPr>
            <a:r>
              <a:rPr sz="4000" b="1" i="0">
                <a:solidFill>
                  <a:srgbClr val="01416B"/>
                </a:solidFill>
                <a:latin typeface="Arimo"/>
              </a:rPr>
              <a:t>0,36 detik</a:t>
            </a:r>
          </a:p>
        </p:txBody>
      </p:sp>
      <p:sp>
        <p:nvSpPr>
          <p:cNvPr id="13" name="TextBox 12"/>
          <p:cNvSpPr txBox="1"/>
          <p:nvPr/>
        </p:nvSpPr>
        <p:spPr>
          <a:xfrm>
            <a:off x="12938760" y="6583679"/>
            <a:ext cx="4114800" cy="457200"/>
          </a:xfrm>
          <a:prstGeom prst="rect">
            <a:avLst/>
          </a:prstGeom>
          <a:noFill/>
        </p:spPr>
        <p:txBody>
          <a:bodyPr wrap="square" anchor="t" lIns="45720" rIns="45720">
            <a:spAutoFit/>
          </a:bodyPr>
          <a:lstStyle/>
          <a:p>
            <a:pPr algn="l">
              <a:spcAft>
                <a:spcPts val="600"/>
              </a:spcAft>
            </a:pPr>
            <a:r>
              <a:rPr sz="1800" b="0" i="0">
                <a:solidFill>
                  <a:srgbClr val="7F7F7F"/>
                </a:solidFill>
                <a:latin typeface="Arimo"/>
              </a:rPr>
              <a:t>19.700 evaluasi</a:t>
            </a:r>
          </a:p>
        </p:txBody>
      </p:sp>
      <p:sp>
        <p:nvSpPr>
          <p:cNvPr id="14" name="TextBox 13"/>
          <p:cNvSpPr txBox="1"/>
          <p:nvPr/>
        </p:nvSpPr>
        <p:spPr>
          <a:xfrm>
            <a:off x="12938760" y="7589520"/>
            <a:ext cx="4114800" cy="1645920"/>
          </a:xfrm>
          <a:prstGeom prst="rect">
            <a:avLst/>
          </a:prstGeom>
          <a:noFill/>
        </p:spPr>
        <p:txBody>
          <a:bodyPr wrap="square" anchor="t" lIns="45720" rIns="45720">
            <a:spAutoFit/>
          </a:bodyPr>
          <a:lstStyle/>
          <a:p>
            <a:pPr algn="l">
              <a:spcAft>
                <a:spcPts val="600"/>
              </a:spcAft>
            </a:pPr>
            <a:r>
              <a:rPr sz="1800" b="0" i="1">
                <a:solidFill>
                  <a:srgbClr val="7F7F7F"/>
                </a:solidFill>
                <a:latin typeface="Arimo"/>
              </a:rPr>
              <a:t>Kurva terbaik tidak pernah turun berkat elitisme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Sensitivitas Parameter</a:t>
            </a:r>
          </a:p>
        </p:txBody>
      </p:sp>
      <p:sp>
        <p:nvSpPr>
          <p:cNvPr id="4" name="Rectangle 3"/>
          <p:cNvSpPr/>
          <p:nvPr/>
        </p:nvSpPr>
        <p:spPr>
          <a:xfrm>
            <a:off x="1024128" y="1783080"/>
            <a:ext cx="5120640" cy="502920"/>
          </a:xfrm>
          <a:prstGeom prst="rect">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1024128" y="1783080"/>
            <a:ext cx="5120640" cy="502920"/>
          </a:xfrm>
          <a:prstGeom prst="rect">
            <a:avLst/>
          </a:prstGeom>
          <a:noFill/>
        </p:spPr>
        <p:txBody>
          <a:bodyPr wrap="square" anchor="ctr" lIns="45720" rIns="45720">
            <a:spAutoFit/>
          </a:bodyPr>
          <a:lstStyle/>
          <a:p>
            <a:pPr algn="ctr">
              <a:spcAft>
                <a:spcPts val="600"/>
              </a:spcAft>
            </a:pPr>
            <a:r>
              <a:rPr sz="2600" b="1" i="0">
                <a:solidFill>
                  <a:srgbClr val="FFFFFF"/>
                </a:solidFill>
                <a:latin typeface="Arimo"/>
              </a:rPr>
              <a:t>Ukuran Populasi</a:t>
            </a:r>
          </a:p>
        </p:txBody>
      </p:sp>
      <p:graphicFrame>
        <p:nvGraphicFramePr>
          <p:cNvPr id="6" name="Chart 5"/>
          <p:cNvGraphicFramePr>
            <a:graphicFrameLocks noGrp="1"/>
          </p:cNvGraphicFramePr>
          <p:nvPr/>
        </p:nvGraphicFramePr>
        <p:xfrm>
          <a:off x="1024128" y="2377440"/>
          <a:ext cx="5120640" cy="4434840"/>
        </p:xfrm>
        <a:graphic>
          <a:graphicData uri="http://schemas.openxmlformats.org/drawingml/2006/chart">
            <c:chart xmlns:c="http://schemas.openxmlformats.org/drawingml/2006/chart" r:id="rId7"/>
          </a:graphicData>
        </a:graphic>
      </p:graphicFrame>
      <p:sp>
        <p:nvSpPr>
          <p:cNvPr id="7" name="Rectangle 6"/>
          <p:cNvSpPr/>
          <p:nvPr/>
        </p:nvSpPr>
        <p:spPr>
          <a:xfrm>
            <a:off x="1024128" y="7040880"/>
            <a:ext cx="5120640" cy="2331720"/>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1252728" y="7178040"/>
            <a:ext cx="4663440" cy="2103120"/>
          </a:xfrm>
          <a:prstGeom prst="rect">
            <a:avLst/>
          </a:prstGeom>
          <a:noFill/>
        </p:spPr>
        <p:txBody>
          <a:bodyPr wrap="square" anchor="ctr" lIns="45720" rIns="45720">
            <a:spAutoFit/>
          </a:bodyPr>
          <a:lstStyle/>
          <a:p>
            <a:pPr algn="l">
              <a:spcAft>
                <a:spcPts val="600"/>
              </a:spcAft>
            </a:pPr>
            <a:r>
              <a:rPr sz="2000" b="0" i="0">
                <a:solidFill>
                  <a:srgbClr val="000000"/>
                </a:solidFill>
                <a:latin typeface="Arimo"/>
              </a:rPr>
              <a:t>Makin besar makin baik dan konsisten, tetapi waktu naik 7,7×</a:t>
            </a:r>
          </a:p>
        </p:txBody>
      </p:sp>
      <p:sp>
        <p:nvSpPr>
          <p:cNvPr id="9" name="Rectangle 8"/>
          <p:cNvSpPr/>
          <p:nvPr/>
        </p:nvSpPr>
        <p:spPr>
          <a:xfrm>
            <a:off x="6579108" y="1783080"/>
            <a:ext cx="5120640" cy="502920"/>
          </a:xfrm>
          <a:prstGeom prst="rect">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579108" y="1783080"/>
            <a:ext cx="5120640" cy="502920"/>
          </a:xfrm>
          <a:prstGeom prst="rect">
            <a:avLst/>
          </a:prstGeom>
          <a:noFill/>
        </p:spPr>
        <p:txBody>
          <a:bodyPr wrap="square" anchor="ctr" lIns="45720" rIns="45720">
            <a:spAutoFit/>
          </a:bodyPr>
          <a:lstStyle/>
          <a:p>
            <a:pPr algn="ctr">
              <a:spcAft>
                <a:spcPts val="600"/>
              </a:spcAft>
            </a:pPr>
            <a:r>
              <a:rPr sz="2600" b="1" i="0">
                <a:solidFill>
                  <a:srgbClr val="FFFFFF"/>
                </a:solidFill>
                <a:latin typeface="Arimo"/>
              </a:rPr>
              <a:t>Peluang Mutasi</a:t>
            </a:r>
          </a:p>
        </p:txBody>
      </p:sp>
      <p:graphicFrame>
        <p:nvGraphicFramePr>
          <p:cNvPr id="11" name="Chart 10"/>
          <p:cNvGraphicFramePr>
            <a:graphicFrameLocks noGrp="1"/>
          </p:cNvGraphicFramePr>
          <p:nvPr/>
        </p:nvGraphicFramePr>
        <p:xfrm>
          <a:off x="6579108" y="2377440"/>
          <a:ext cx="5120640" cy="4434840"/>
        </p:xfrm>
        <a:graphic>
          <a:graphicData uri="http://schemas.openxmlformats.org/drawingml/2006/chart">
            <c:chart xmlns:c="http://schemas.openxmlformats.org/drawingml/2006/chart" r:id="rId8"/>
          </a:graphicData>
        </a:graphic>
      </p:graphicFrame>
      <p:sp>
        <p:nvSpPr>
          <p:cNvPr id="12" name="Rectangle 11"/>
          <p:cNvSpPr/>
          <p:nvPr/>
        </p:nvSpPr>
        <p:spPr>
          <a:xfrm>
            <a:off x="6579108" y="7040880"/>
            <a:ext cx="5120640" cy="2331720"/>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807708" y="7178040"/>
            <a:ext cx="4663440" cy="2103120"/>
          </a:xfrm>
          <a:prstGeom prst="rect">
            <a:avLst/>
          </a:prstGeom>
          <a:noFill/>
        </p:spPr>
        <p:txBody>
          <a:bodyPr wrap="square" anchor="ctr" lIns="45720" rIns="45720">
            <a:spAutoFit/>
          </a:bodyPr>
          <a:lstStyle/>
          <a:p>
            <a:pPr algn="l">
              <a:spcAft>
                <a:spcPts val="600"/>
              </a:spcAft>
            </a:pPr>
            <a:r>
              <a:rPr sz="2000" b="0" i="0">
                <a:solidFill>
                  <a:srgbClr val="000000"/>
                </a:solidFill>
                <a:latin typeface="Arimo"/>
              </a:rPr>
              <a:t>0,2 terlalu merusak; 0,05 paling konsisten</a:t>
            </a:r>
          </a:p>
        </p:txBody>
      </p:sp>
      <p:sp>
        <p:nvSpPr>
          <p:cNvPr id="14" name="Rectangle 13"/>
          <p:cNvSpPr/>
          <p:nvPr/>
        </p:nvSpPr>
        <p:spPr>
          <a:xfrm>
            <a:off x="12134088" y="1783080"/>
            <a:ext cx="5120640" cy="502920"/>
          </a:xfrm>
          <a:prstGeom prst="rect">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2134088" y="1783080"/>
            <a:ext cx="5120640" cy="502920"/>
          </a:xfrm>
          <a:prstGeom prst="rect">
            <a:avLst/>
          </a:prstGeom>
          <a:noFill/>
        </p:spPr>
        <p:txBody>
          <a:bodyPr wrap="square" anchor="ctr" lIns="45720" rIns="45720">
            <a:spAutoFit/>
          </a:bodyPr>
          <a:lstStyle/>
          <a:p>
            <a:pPr algn="ctr">
              <a:spcAft>
                <a:spcPts val="600"/>
              </a:spcAft>
            </a:pPr>
            <a:r>
              <a:rPr sz="2600" b="1" i="0">
                <a:solidFill>
                  <a:srgbClr val="FFFFFF"/>
                </a:solidFill>
                <a:latin typeface="Arimo"/>
              </a:rPr>
              <a:t>Peluang Crossover</a:t>
            </a:r>
          </a:p>
        </p:txBody>
      </p:sp>
      <p:graphicFrame>
        <p:nvGraphicFramePr>
          <p:cNvPr id="16" name="Chart 15"/>
          <p:cNvGraphicFramePr>
            <a:graphicFrameLocks noGrp="1"/>
          </p:cNvGraphicFramePr>
          <p:nvPr/>
        </p:nvGraphicFramePr>
        <p:xfrm>
          <a:off x="12134088" y="2377440"/>
          <a:ext cx="5120640" cy="4434840"/>
        </p:xfrm>
        <a:graphic>
          <a:graphicData uri="http://schemas.openxmlformats.org/drawingml/2006/chart">
            <c:chart xmlns:c="http://schemas.openxmlformats.org/drawingml/2006/chart" r:id="rId9"/>
          </a:graphicData>
        </a:graphic>
      </p:graphicFrame>
      <p:sp>
        <p:nvSpPr>
          <p:cNvPr id="17" name="Rectangle 16"/>
          <p:cNvSpPr/>
          <p:nvPr/>
        </p:nvSpPr>
        <p:spPr>
          <a:xfrm>
            <a:off x="12134088" y="7040880"/>
            <a:ext cx="5120640" cy="2331720"/>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12362688" y="7178040"/>
            <a:ext cx="4663440" cy="2103120"/>
          </a:xfrm>
          <a:prstGeom prst="rect">
            <a:avLst/>
          </a:prstGeom>
          <a:noFill/>
        </p:spPr>
        <p:txBody>
          <a:bodyPr wrap="square" anchor="ctr" lIns="45720" rIns="45720">
            <a:spAutoFit/>
          </a:bodyPr>
          <a:lstStyle/>
          <a:p>
            <a:pPr algn="l">
              <a:spcAft>
                <a:spcPts val="600"/>
              </a:spcAft>
            </a:pPr>
            <a:r>
              <a:rPr sz="2000" b="0" i="0">
                <a:solidFill>
                  <a:srgbClr val="000000"/>
                </a:solidFill>
                <a:latin typeface="Arimo"/>
              </a:rPr>
              <a:t>Tidak berpengaruh nyata: selisih masih dalam satu simpangan baku</a:t>
            </a:r>
          </a:p>
        </p:txBody>
      </p:sp>
      <p:sp>
        <p:nvSpPr>
          <p:cNvPr id="19" name="TextBox 18"/>
          <p:cNvSpPr txBox="1"/>
          <p:nvPr/>
        </p:nvSpPr>
        <p:spPr>
          <a:xfrm>
            <a:off x="1024128" y="9390888"/>
            <a:ext cx="16230600" cy="320040"/>
          </a:xfrm>
          <a:prstGeom prst="rect">
            <a:avLst/>
          </a:prstGeom>
          <a:noFill/>
        </p:spPr>
        <p:txBody>
          <a:bodyPr wrap="square" anchor="t" lIns="45720" rIns="45720">
            <a:spAutoFit/>
          </a:bodyPr>
          <a:lstStyle/>
          <a:p>
            <a:pPr algn="l">
              <a:spcAft>
                <a:spcPts val="600"/>
              </a:spcAft>
            </a:pPr>
            <a:r>
              <a:rPr sz="1400" b="0" i="1">
                <a:solidFill>
                  <a:srgbClr val="7F7F7F"/>
                </a:solidFill>
                <a:latin typeface="Arimo"/>
              </a:rPr>
              <a:t>Fitness rata-rata 10 seed, skenario 1. Titik kuning = nilai default.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Kesimpulan</a:t>
            </a:r>
          </a:p>
        </p:txBody>
      </p:sp>
      <p:sp>
        <p:nvSpPr>
          <p:cNvPr id="4" name="Rectangle 3"/>
          <p:cNvSpPr/>
          <p:nvPr/>
        </p:nvSpPr>
        <p:spPr>
          <a:xfrm>
            <a:off x="1024128" y="1783080"/>
            <a:ext cx="7882127" cy="3246120"/>
          </a:xfrm>
          <a:prstGeom prst="rect">
            <a:avLst/>
          </a:prstGeom>
          <a:solidFill>
            <a:srgbClr val="FFFFFF"/>
          </a:solidFill>
          <a:ln w="381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1389888" y="2148840"/>
            <a:ext cx="822960" cy="82296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Arimo"/>
              </a:rPr>
              <a:t>1</a:t>
            </a:r>
          </a:p>
        </p:txBody>
      </p:sp>
      <p:sp>
        <p:nvSpPr>
          <p:cNvPr id="6" name="TextBox 5"/>
          <p:cNvSpPr txBox="1"/>
          <p:nvPr/>
        </p:nvSpPr>
        <p:spPr>
          <a:xfrm>
            <a:off x="2441448" y="2194560"/>
            <a:ext cx="6144767" cy="685800"/>
          </a:xfrm>
          <a:prstGeom prst="rect">
            <a:avLst/>
          </a:prstGeom>
          <a:noFill/>
        </p:spPr>
        <p:txBody>
          <a:bodyPr wrap="square" anchor="t" lIns="45720" rIns="45720">
            <a:spAutoFit/>
          </a:bodyPr>
          <a:lstStyle/>
          <a:p>
            <a:pPr algn="l">
              <a:spcAft>
                <a:spcPts val="600"/>
              </a:spcAft>
            </a:pPr>
            <a:r>
              <a:rPr sz="2800" b="1" i="0">
                <a:solidFill>
                  <a:srgbClr val="01416B"/>
                </a:solidFill>
                <a:latin typeface="Arimo"/>
              </a:rPr>
              <a:t>Model Tepat</a:t>
            </a:r>
          </a:p>
        </p:txBody>
      </p:sp>
      <p:sp>
        <p:nvSpPr>
          <p:cNvPr id="7" name="TextBox 6"/>
          <p:cNvSpPr txBox="1"/>
          <p:nvPr/>
        </p:nvSpPr>
        <p:spPr>
          <a:xfrm>
            <a:off x="2441448" y="2926080"/>
            <a:ext cx="6144767" cy="1920240"/>
          </a:xfrm>
          <a:prstGeom prst="rect">
            <a:avLst/>
          </a:prstGeom>
          <a:noFill/>
        </p:spPr>
        <p:txBody>
          <a:bodyPr wrap="square" anchor="t" lIns="45720" rIns="45720">
            <a:spAutoFit/>
          </a:bodyPr>
          <a:lstStyle/>
          <a:p>
            <a:pPr algn="l">
              <a:spcAft>
                <a:spcPts val="600"/>
              </a:spcAft>
            </a:pPr>
            <a:r>
              <a:rPr sz="2200" b="0" i="0">
                <a:solidFill>
                  <a:srgbClr val="000000"/>
                </a:solidFill>
                <a:latin typeface="Arimo"/>
              </a:rPr>
              <a:t>Kromosom mask + order selalu menghasilkan rute sah; fitness menyeimbangkan biaya dan waktu</a:t>
            </a:r>
          </a:p>
        </p:txBody>
      </p:sp>
      <p:sp>
        <p:nvSpPr>
          <p:cNvPr id="8" name="Rectangle 7"/>
          <p:cNvSpPr/>
          <p:nvPr/>
        </p:nvSpPr>
        <p:spPr>
          <a:xfrm>
            <a:off x="9372600" y="1783080"/>
            <a:ext cx="7882127" cy="3246120"/>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9738360" y="2148840"/>
            <a:ext cx="822960" cy="82296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Arimo"/>
              </a:rPr>
              <a:t>2</a:t>
            </a:r>
          </a:p>
        </p:txBody>
      </p:sp>
      <p:sp>
        <p:nvSpPr>
          <p:cNvPr id="10" name="TextBox 9"/>
          <p:cNvSpPr txBox="1"/>
          <p:nvPr/>
        </p:nvSpPr>
        <p:spPr>
          <a:xfrm>
            <a:off x="10789920" y="2194560"/>
            <a:ext cx="6144767" cy="685800"/>
          </a:xfrm>
          <a:prstGeom prst="rect">
            <a:avLst/>
          </a:prstGeom>
          <a:noFill/>
        </p:spPr>
        <p:txBody>
          <a:bodyPr wrap="square" anchor="t" lIns="45720" rIns="45720">
            <a:spAutoFit/>
          </a:bodyPr>
          <a:lstStyle/>
          <a:p>
            <a:pPr algn="l">
              <a:spcAft>
                <a:spcPts val="600"/>
              </a:spcAft>
            </a:pPr>
            <a:r>
              <a:rPr sz="2800" b="1" i="0">
                <a:solidFill>
                  <a:srgbClr val="01416B"/>
                </a:solidFill>
                <a:latin typeface="Arimo"/>
              </a:rPr>
              <a:t>Terbukti Efektif</a:t>
            </a:r>
          </a:p>
        </p:txBody>
      </p:sp>
      <p:sp>
        <p:nvSpPr>
          <p:cNvPr id="11" name="TextBox 10"/>
          <p:cNvSpPr txBox="1"/>
          <p:nvPr/>
        </p:nvSpPr>
        <p:spPr>
          <a:xfrm>
            <a:off x="10789920" y="2926080"/>
            <a:ext cx="6144767" cy="1920240"/>
          </a:xfrm>
          <a:prstGeom prst="rect">
            <a:avLst/>
          </a:prstGeom>
          <a:noFill/>
        </p:spPr>
        <p:txBody>
          <a:bodyPr wrap="square" anchor="t" lIns="45720" rIns="45720">
            <a:spAutoFit/>
          </a:bodyPr>
          <a:lstStyle/>
          <a:p>
            <a:pPr algn="l">
              <a:spcAft>
                <a:spcPts val="600"/>
              </a:spcAft>
            </a:pPr>
            <a:r>
              <a:rPr sz="2200" b="0" i="0">
                <a:solidFill>
                  <a:srgbClr val="000000"/>
                </a:solidFill>
                <a:latin typeface="Arimo"/>
              </a:rPr>
              <a:t>Fitness GA 3,8–5,9× pembanding terbaik, 100% valid, kurang dari 1 detik</a:t>
            </a:r>
          </a:p>
        </p:txBody>
      </p:sp>
      <p:sp>
        <p:nvSpPr>
          <p:cNvPr id="12" name="Rectangle 11"/>
          <p:cNvSpPr/>
          <p:nvPr/>
        </p:nvSpPr>
        <p:spPr>
          <a:xfrm>
            <a:off x="1024128" y="5303520"/>
            <a:ext cx="7882127" cy="3246120"/>
          </a:xfrm>
          <a:prstGeom prst="rect">
            <a:avLst/>
          </a:prstGeom>
          <a:solidFill>
            <a:srgbClr val="FFFFFF"/>
          </a:solidFill>
          <a:ln w="38100">
            <a:solidFill>
              <a:srgbClr val="FDD40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1389888" y="5669280"/>
            <a:ext cx="822960" cy="82296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Arimo"/>
              </a:rPr>
              <a:t>3</a:t>
            </a:r>
          </a:p>
        </p:txBody>
      </p:sp>
      <p:sp>
        <p:nvSpPr>
          <p:cNvPr id="14" name="TextBox 13"/>
          <p:cNvSpPr txBox="1"/>
          <p:nvPr/>
        </p:nvSpPr>
        <p:spPr>
          <a:xfrm>
            <a:off x="2441448" y="5715000"/>
            <a:ext cx="6144767" cy="685800"/>
          </a:xfrm>
          <a:prstGeom prst="rect">
            <a:avLst/>
          </a:prstGeom>
          <a:noFill/>
        </p:spPr>
        <p:txBody>
          <a:bodyPr wrap="square" anchor="t" lIns="45720" rIns="45720">
            <a:spAutoFit/>
          </a:bodyPr>
          <a:lstStyle/>
          <a:p>
            <a:pPr algn="l">
              <a:spcAft>
                <a:spcPts val="600"/>
              </a:spcAft>
            </a:pPr>
            <a:r>
              <a:rPr sz="2800" b="1" i="0">
                <a:solidFill>
                  <a:srgbClr val="01416B"/>
                </a:solidFill>
                <a:latin typeface="Arimo"/>
              </a:rPr>
              <a:t>Parameter</a:t>
            </a:r>
          </a:p>
        </p:txBody>
      </p:sp>
      <p:sp>
        <p:nvSpPr>
          <p:cNvPr id="15" name="TextBox 14"/>
          <p:cNvSpPr txBox="1"/>
          <p:nvPr/>
        </p:nvSpPr>
        <p:spPr>
          <a:xfrm>
            <a:off x="2441448" y="6446520"/>
            <a:ext cx="6144767" cy="1920240"/>
          </a:xfrm>
          <a:prstGeom prst="rect">
            <a:avLst/>
          </a:prstGeom>
          <a:noFill/>
        </p:spPr>
        <p:txBody>
          <a:bodyPr wrap="square" anchor="t" lIns="45720" rIns="45720">
            <a:spAutoFit/>
          </a:bodyPr>
          <a:lstStyle/>
          <a:p>
            <a:pPr algn="l">
              <a:spcAft>
                <a:spcPts val="600"/>
              </a:spcAft>
            </a:pPr>
            <a:r>
              <a:rPr sz="2200" b="0" i="0">
                <a:solidFill>
                  <a:srgbClr val="000000"/>
                </a:solidFill>
                <a:latin typeface="Arimo"/>
              </a:rPr>
              <a:t>Populasi besar lebih baik tapi lebih lambat; mutasi terlalu tinggi merusak</a:t>
            </a:r>
          </a:p>
        </p:txBody>
      </p:sp>
      <p:sp>
        <p:nvSpPr>
          <p:cNvPr id="16" name="Rectangle 15"/>
          <p:cNvSpPr/>
          <p:nvPr/>
        </p:nvSpPr>
        <p:spPr>
          <a:xfrm>
            <a:off x="9372600" y="5303520"/>
            <a:ext cx="7882127" cy="3246120"/>
          </a:xfrm>
          <a:prstGeom prst="rect">
            <a:avLst/>
          </a:prstGeom>
          <a:solidFill>
            <a:srgbClr val="FFFFFF"/>
          </a:solidFill>
          <a:ln w="38100">
            <a:solidFill>
              <a:srgbClr val="01416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9738360" y="5669280"/>
            <a:ext cx="822960" cy="822960"/>
          </a:xfrm>
          <a:prstGeom prst="ellipse">
            <a:avLst/>
          </a:prstGeom>
          <a:solidFill>
            <a:srgbClr val="01416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800" b="1" i="0">
                <a:solidFill>
                  <a:srgbClr val="FFFFFF"/>
                </a:solidFill>
                <a:latin typeface="Arimo"/>
              </a:rPr>
              <a:t>4</a:t>
            </a:r>
          </a:p>
        </p:txBody>
      </p:sp>
      <p:sp>
        <p:nvSpPr>
          <p:cNvPr id="18" name="TextBox 17"/>
          <p:cNvSpPr txBox="1"/>
          <p:nvPr/>
        </p:nvSpPr>
        <p:spPr>
          <a:xfrm>
            <a:off x="10789920" y="5715000"/>
            <a:ext cx="6144767" cy="685800"/>
          </a:xfrm>
          <a:prstGeom prst="rect">
            <a:avLst/>
          </a:prstGeom>
          <a:noFill/>
        </p:spPr>
        <p:txBody>
          <a:bodyPr wrap="square" anchor="t" lIns="45720" rIns="45720">
            <a:spAutoFit/>
          </a:bodyPr>
          <a:lstStyle/>
          <a:p>
            <a:pPr algn="l">
              <a:spcAft>
                <a:spcPts val="600"/>
              </a:spcAft>
            </a:pPr>
            <a:r>
              <a:rPr sz="2800" b="1" i="0">
                <a:solidFill>
                  <a:srgbClr val="01416B"/>
                </a:solidFill>
                <a:latin typeface="Arimo"/>
              </a:rPr>
              <a:t>Siap Dipakai</a:t>
            </a:r>
          </a:p>
        </p:txBody>
      </p:sp>
      <p:sp>
        <p:nvSpPr>
          <p:cNvPr id="19" name="TextBox 18"/>
          <p:cNvSpPr txBox="1"/>
          <p:nvPr/>
        </p:nvSpPr>
        <p:spPr>
          <a:xfrm>
            <a:off x="10789920" y="6446520"/>
            <a:ext cx="6144767" cy="1920240"/>
          </a:xfrm>
          <a:prstGeom prst="rect">
            <a:avLst/>
          </a:prstGeom>
          <a:noFill/>
        </p:spPr>
        <p:txBody>
          <a:bodyPr wrap="square" anchor="t" lIns="45720" rIns="45720">
            <a:spAutoFit/>
          </a:bodyPr>
          <a:lstStyle/>
          <a:p>
            <a:pPr algn="l">
              <a:spcAft>
                <a:spcPts val="600"/>
              </a:spcAft>
            </a:pPr>
            <a:r>
              <a:rPr sz="2200" b="0" i="0">
                <a:solidFill>
                  <a:srgbClr val="000000"/>
                </a:solidFill>
                <a:latin typeface="Arimo"/>
              </a:rPr>
              <a:t>Aplikasi web dengan peta, jadwal harian, grafik evolusi, dan unggah dataset sendiri</a:t>
            </a:r>
          </a:p>
        </p:txBody>
      </p:sp>
      <p:sp>
        <p:nvSpPr>
          <p:cNvPr id="20" name="TextBox 19"/>
          <p:cNvSpPr txBox="1"/>
          <p:nvPr/>
        </p:nvSpPr>
        <p:spPr>
          <a:xfrm>
            <a:off x="1024128" y="8915400"/>
            <a:ext cx="16230600" cy="502920"/>
          </a:xfrm>
          <a:prstGeom prst="rect">
            <a:avLst/>
          </a:prstGeom>
          <a:noFill/>
        </p:spPr>
        <p:txBody>
          <a:bodyPr wrap="square" anchor="t" lIns="45720" rIns="45720">
            <a:spAutoFit/>
          </a:bodyPr>
          <a:lstStyle/>
          <a:p>
            <a:pPr algn="l">
              <a:spcAft>
                <a:spcPts val="600"/>
              </a:spcAft>
            </a:pPr>
            <a:r>
              <a:rPr sz="1800" b="1" i="0">
                <a:solidFill>
                  <a:srgbClr val="7F7F7F"/>
                </a:solidFill>
                <a:latin typeface="Arimo"/>
              </a:rPr>
              <a:t>Pengembangan: </a:t>
            </a:r>
            <a:r>
              <a:rPr sz="1800" b="0" i="0">
                <a:solidFill>
                  <a:srgbClr val="7F7F7F"/>
                </a:solidFill>
                <a:latin typeface="Arimo"/>
              </a:rPr>
              <a:t>titik awal hotel dan jam buka · multi-objektif (NSGA-II) · lebih banyak seed untuk uji statistik</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TextBox 3" id="3"/>
          <p:cNvSpPr txBox="true"/>
          <p:nvPr/>
        </p:nvSpPr>
        <p:spPr>
          <a:xfrm rot="0">
            <a:off x="1028700" y="1028700"/>
            <a:ext cx="15218074" cy="600075"/>
          </a:xfrm>
          <a:prstGeom prst="rect">
            <a:avLst/>
          </a:prstGeom>
        </p:spPr>
        <p:txBody>
          <a:bodyPr anchor="t" rtlCol="false" tIns="0" lIns="0" bIns="0" rIns="0">
            <a:spAutoFit/>
          </a:bodyPr>
          <a:lstStyle/>
          <a:p>
            <a:pPr algn="l">
              <a:lnSpc>
                <a:spcPts val="4799"/>
              </a:lnSpc>
            </a:pPr>
            <a:r>
              <a:rPr lang="en-US" sz="3999" b="true">
                <a:solidFill>
                  <a:srgbClr val="01416B"/>
                </a:solidFill>
                <a:latin typeface="Proxima Nova Bold"/>
                <a:ea typeface="Proxima Nova Bold"/>
                <a:cs typeface="Proxima Nova Bold"/>
                <a:sym typeface="Proxima Nova Bold"/>
              </a:rPr>
              <a:t>Referensi</a:t>
            </a:r>
          </a:p>
        </p:txBody>
      </p:sp>
      <p:sp>
        <p:nvSpPr>
          <p:cNvPr name="TextBox 4" id="4"/>
          <p:cNvSpPr txBox="true"/>
          <p:nvPr/>
        </p:nvSpPr>
        <p:spPr>
          <a:xfrm rot="0">
            <a:off x="1028700" y="1790700"/>
            <a:ext cx="14839384" cy="4838700"/>
          </a:xfrm>
          <a:prstGeom prst="rect">
            <a:avLst/>
          </a:prstGeom>
        </p:spPr>
        <p:txBody>
          <a:bodyPr anchor="t" rtlCol="false" tIns="0" lIns="0" bIns="0" rIns="0">
            <a:spAutoFit/>
          </a:bodyPr>
          <a:lstStyle/>
          <a:p>
            <a:pPr algn="just">
              <a:lnSpc>
                <a:spcPts val="2999"/>
              </a:lnSpc>
            </a:pPr>
            <a:r>
              <a:rPr lang="en-US" sz="2499">
                <a:solidFill>
                  <a:srgbClr val="000000"/>
                </a:solidFill>
                <a:latin typeface="Arimo"/>
                <a:ea typeface="Arimo"/>
                <a:cs typeface="Arimo"/>
                <a:sym typeface="Arimo"/>
              </a:rPr>
              <a:t>Badan Pusat Statistik. (2024). Kunjungan wisatawan mancanegara (wisman) pada Agustus 2024 mencapai 1,34 juta kunjungan, naik 18,30 persen (y-on-y). </a:t>
            </a:r>
            <a:r>
              <a:rPr lang="en-US" sz="2499" u="sng">
                <a:solidFill>
                  <a:srgbClr val="000000"/>
                </a:solidFill>
                <a:latin typeface="Arimo"/>
                <a:ea typeface="Arimo"/>
                <a:cs typeface="Arimo"/>
                <a:sym typeface="Arimo"/>
                <a:hlinkClick r:id="rId3" tooltip="https://www.bps.go.id/en/pressrelease/2024/10/01/2355/"/>
              </a:rPr>
              <a:t>https://www.bps.go.id/en/pressrelease/2024/10/01/2355/</a:t>
            </a:r>
          </a:p>
          <a:p>
            <a:pPr algn="just">
              <a:lnSpc>
                <a:spcPts val="2999"/>
              </a:lnSpc>
            </a:pPr>
          </a:p>
          <a:p>
            <a:pPr algn="just">
              <a:lnSpc>
                <a:spcPts val="2999"/>
              </a:lnSpc>
            </a:pPr>
            <a:r>
              <a:rPr lang="en-US" sz="2499">
                <a:solidFill>
                  <a:srgbClr val="000000"/>
                </a:solidFill>
                <a:latin typeface="Arimo"/>
                <a:ea typeface="Arimo"/>
                <a:cs typeface="Arimo"/>
                <a:sym typeface="Arimo"/>
              </a:rPr>
              <a:t>Davis, L. (1985). Applying adaptive algorithms to epistatic domains. Proceedings of IJCAI-85, 162–164.</a:t>
            </a:r>
          </a:p>
          <a:p>
            <a:pPr algn="just">
              <a:lnSpc>
                <a:spcPts val="2999"/>
              </a:lnSpc>
            </a:pPr>
          </a:p>
          <a:p>
            <a:pPr algn="just">
              <a:lnSpc>
                <a:spcPts val="2999"/>
              </a:lnSpc>
            </a:pPr>
            <a:r>
              <a:rPr lang="en-US" sz="2499">
                <a:solidFill>
                  <a:srgbClr val="000000"/>
                </a:solidFill>
                <a:latin typeface="Arimo"/>
                <a:ea typeface="Arimo"/>
                <a:cs typeface="Arimo"/>
                <a:sym typeface="Arimo"/>
              </a:rPr>
              <a:t>Google, Temasek, &amp; Bain &amp; Company. (2020). e-Conomy SEA 2020: Resilient and racing ahead — Southeast Asia at full velocity. </a:t>
            </a:r>
            <a:r>
              <a:rPr lang="en-US" sz="2499" u="sng">
                <a:solidFill>
                  <a:srgbClr val="000000"/>
                </a:solidFill>
                <a:latin typeface="Arimo"/>
                <a:ea typeface="Arimo"/>
                <a:cs typeface="Arimo"/>
                <a:sym typeface="Arimo"/>
                <a:hlinkClick r:id="rId4" tooltip="https://www.bain.com/insights/e-conomy-sea-2020"/>
              </a:rPr>
              <a:t>https://www.bain.com/insights/e-conomy-sea-2020</a:t>
            </a:r>
          </a:p>
          <a:p>
            <a:pPr algn="just">
              <a:lnSpc>
                <a:spcPts val="2999"/>
              </a:lnSpc>
            </a:pPr>
          </a:p>
          <a:p>
            <a:pPr algn="just">
              <a:lnSpc>
                <a:spcPts val="2999"/>
              </a:lnSpc>
            </a:pPr>
            <a:r>
              <a:rPr lang="en-US" sz="2499">
                <a:solidFill>
                  <a:srgbClr val="000000"/>
                </a:solidFill>
                <a:latin typeface="Arimo"/>
                <a:ea typeface="Arimo"/>
                <a:cs typeface="Arimo"/>
                <a:sym typeface="Arimo"/>
              </a:rPr>
              <a:t>Google, Temasek, &amp; Bain &amp; Company. (2024). e-Conomy SEA 2024: Profits on the rise, harnessing SEA's advantage. </a:t>
            </a:r>
            <a:r>
              <a:rPr lang="en-US" sz="2499" u="sng">
                <a:solidFill>
                  <a:srgbClr val="000000"/>
                </a:solidFill>
                <a:latin typeface="Arimo"/>
                <a:ea typeface="Arimo"/>
                <a:cs typeface="Arimo"/>
                <a:sym typeface="Arimo"/>
                <a:hlinkClick r:id="rId5" tooltip="https://services.google.com/fh/files/misc/e_conomy_sea_2024_report.pdf"/>
              </a:rPr>
              <a:t>https://services.google.com/fh/files/misc/e_conomy_sea_2024_report.pdf</a:t>
            </a:r>
          </a:p>
          <a:p>
            <a:pPr algn="just">
              <a:lnSpc>
                <a:spcPts val="2999"/>
              </a:lnSpc>
            </a:pPr>
          </a:p>
          <a:p>
            <a:pPr algn="just">
              <a:lnSpc>
                <a:spcPts val="2999"/>
              </a:lnSpc>
            </a:pPr>
            <a:r>
              <a:rPr lang="en-US" sz="2499">
                <a:solidFill>
                  <a:srgbClr val="000000"/>
                </a:solidFill>
                <a:latin typeface="Arimo"/>
                <a:ea typeface="Arimo"/>
                <a:cs typeface="Arimo"/>
                <a:sym typeface="Arimo"/>
              </a:rPr>
              <a:t>Holland, J. H. (1975). Adaptation in Natural and Artificial Systems. University of Michigan Press.</a:t>
            </a:r>
          </a:p>
          <a:p>
            <a:pPr algn="just">
              <a:lnSpc>
                <a:spcPts val="2999"/>
              </a:lnSpc>
            </a:pPr>
          </a:p>
          <a:p>
            <a:pPr algn="just">
              <a:lnSpc>
                <a:spcPts val="2999"/>
              </a:lnSpc>
            </a:pPr>
            <a:r>
              <a:rPr lang="en-US" sz="2499">
                <a:solidFill>
                  <a:srgbClr val="000000"/>
                </a:solidFill>
                <a:latin typeface="Arimo"/>
                <a:ea typeface="Arimo"/>
                <a:cs typeface="Arimo"/>
                <a:sym typeface="Arimo"/>
              </a:rPr>
              <a:t>Qomariyah, N. N., &amp; Kazakov, D. (2021). A genetic-based pairwise trip planner recommender system. Journal of Big Data, 8, Article 77. </a:t>
            </a:r>
            <a:r>
              <a:rPr lang="en-US" sz="2499" u="sng">
                <a:solidFill>
                  <a:srgbClr val="000000"/>
                </a:solidFill>
                <a:latin typeface="Arimo"/>
                <a:ea typeface="Arimo"/>
                <a:cs typeface="Arimo"/>
                <a:sym typeface="Arimo"/>
                <a:hlinkClick r:id="rId6" tooltip="https://doi.org/10.1186/s40537-021-00470-6"/>
              </a:rPr>
              <a:t>https://doi.org/10.1186/s40537-021-00470-6</a:t>
            </a:r>
          </a:p>
          <a:p>
            <a:pPr algn="just">
              <a:lnSpc>
                <a:spcPts val="2999"/>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DAHWbLSnNzQ</dc:identifier>
  <dcterms:modified xsi:type="dcterms:W3CDTF">2011-08-01T06:04:30Z</dcterms:modified>
  <cp:revision>1</cp:revision>
  <dc:title>Presentasi GA</dc:title>
</cp:coreProperties>
</file>